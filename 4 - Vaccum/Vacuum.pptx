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8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custSel modSld">
      <pc:chgData name="Przemyslaw Starosta" userId="45f988447864b3e6" providerId="LiveId" clId="{F03EAEFD-908B-4458-9CFE-E641CAF539F5}" dt="2026-09-18T09:42:44.135" v="36" actId="1076"/>
      <pc:docMkLst>
        <pc:docMk/>
      </pc:docMkLst>
      <pc:sldChg chg="delSp modSp mod">
        <pc:chgData name="Przemyslaw Starosta" userId="45f988447864b3e6" providerId="LiveId" clId="{F03EAEFD-908B-4458-9CFE-E641CAF539F5}" dt="2026-09-18T08:56:38.417" v="3" actId="478"/>
        <pc:sldMkLst>
          <pc:docMk/>
          <pc:sldMk cId="492838491" sldId="256"/>
        </pc:sldMkLst>
        <pc:spChg chg="del">
          <ac:chgData name="Przemyslaw Starosta" userId="45f988447864b3e6" providerId="LiveId" clId="{F03EAEFD-908B-4458-9CFE-E641CAF539F5}" dt="2026-09-18T08:56:32.342" v="1" actId="478"/>
          <ac:spMkLst>
            <pc:docMk/>
            <pc:sldMk cId="492838491" sldId="256"/>
            <ac:spMk id="2" creationId="{FFDAB051-2E8E-40FD-99AF-428130B0BD8B}"/>
          </ac:spMkLst>
        </pc:spChg>
        <pc:spChg chg="mod">
          <ac:chgData name="Przemyslaw Starosta" userId="45f988447864b3e6" providerId="LiveId" clId="{F03EAEFD-908B-4458-9CFE-E641CAF539F5}" dt="2026-09-18T06:17:08.264" v="0" actId="6549"/>
          <ac:spMkLst>
            <pc:docMk/>
            <pc:sldMk cId="492838491" sldId="256"/>
            <ac:spMk id="3" creationId="{67F29D82-C9CF-4A37-81FD-B9819146C957}"/>
          </ac:spMkLst>
        </pc:spChg>
        <pc:spChg chg="del">
          <ac:chgData name="Przemyslaw Starosta" userId="45f988447864b3e6" providerId="LiveId" clId="{F03EAEFD-908B-4458-9CFE-E641CAF539F5}" dt="2026-09-18T08:56:36.604" v="2" actId="478"/>
          <ac:spMkLst>
            <pc:docMk/>
            <pc:sldMk cId="492838491" sldId="256"/>
            <ac:spMk id="10" creationId="{7E5335E2-9B1A-42E6-800D-460C47D7FE73}"/>
          </ac:spMkLst>
        </pc:spChg>
        <pc:spChg chg="del">
          <ac:chgData name="Przemyslaw Starosta" userId="45f988447864b3e6" providerId="LiveId" clId="{F03EAEFD-908B-4458-9CFE-E641CAF539F5}" dt="2026-09-18T08:56:38.417" v="3" actId="478"/>
          <ac:spMkLst>
            <pc:docMk/>
            <pc:sldMk cId="492838491" sldId="256"/>
            <ac:spMk id="11" creationId="{D3E2662E-358F-4B32-A793-5ABA5E87E940}"/>
          </ac:spMkLst>
        </pc:spChg>
      </pc:sldChg>
      <pc:sldChg chg="delSp mod">
        <pc:chgData name="Przemyslaw Starosta" userId="45f988447864b3e6" providerId="LiveId" clId="{F03EAEFD-908B-4458-9CFE-E641CAF539F5}" dt="2026-09-18T08:56:41.371" v="4" actId="478"/>
        <pc:sldMkLst>
          <pc:docMk/>
          <pc:sldMk cId="625344915" sldId="257"/>
        </pc:sldMkLst>
        <pc:spChg chg="del">
          <ac:chgData name="Przemyslaw Starosta" userId="45f988447864b3e6" providerId="LiveId" clId="{F03EAEFD-908B-4458-9CFE-E641CAF539F5}" dt="2026-09-18T08:56:41.371" v="4" actId="478"/>
          <ac:spMkLst>
            <pc:docMk/>
            <pc:sldMk cId="625344915" sldId="257"/>
            <ac:spMk id="17" creationId="{D56D546F-7E2F-4240-B87A-6DBF461B33D3}"/>
          </ac:spMkLst>
        </pc:spChg>
      </pc:sldChg>
      <pc:sldChg chg="delSp modSp mod">
        <pc:chgData name="Przemyslaw Starosta" userId="45f988447864b3e6" providerId="LiveId" clId="{F03EAEFD-908B-4458-9CFE-E641CAF539F5}" dt="2026-09-18T08:56:44.058" v="6" actId="478"/>
        <pc:sldMkLst>
          <pc:docMk/>
          <pc:sldMk cId="345734233" sldId="258"/>
        </pc:sldMkLst>
        <pc:spChg chg="del mod">
          <ac:chgData name="Przemyslaw Starosta" userId="45f988447864b3e6" providerId="LiveId" clId="{F03EAEFD-908B-4458-9CFE-E641CAF539F5}" dt="2026-09-18T08:56:44.058" v="6" actId="478"/>
          <ac:spMkLst>
            <pc:docMk/>
            <pc:sldMk cId="345734233" sldId="258"/>
            <ac:spMk id="27" creationId="{1C1F32F2-1D7C-4BB5-B451-9DB87AAB674C}"/>
          </ac:spMkLst>
        </pc:spChg>
      </pc:sldChg>
      <pc:sldChg chg="delSp mod">
        <pc:chgData name="Przemyslaw Starosta" userId="45f988447864b3e6" providerId="LiveId" clId="{F03EAEFD-908B-4458-9CFE-E641CAF539F5}" dt="2026-09-18T08:57:19.569" v="24" actId="478"/>
        <pc:sldMkLst>
          <pc:docMk/>
          <pc:sldMk cId="677111858" sldId="259"/>
        </pc:sldMkLst>
        <pc:spChg chg="del">
          <ac:chgData name="Przemyslaw Starosta" userId="45f988447864b3e6" providerId="LiveId" clId="{F03EAEFD-908B-4458-9CFE-E641CAF539F5}" dt="2026-09-18T08:57:19.569" v="24" actId="478"/>
          <ac:spMkLst>
            <pc:docMk/>
            <pc:sldMk cId="677111858" sldId="259"/>
            <ac:spMk id="26" creationId="{8496466F-A617-40A8-A3C0-FB62FB5D2DCD}"/>
          </ac:spMkLst>
        </pc:spChg>
      </pc:sldChg>
      <pc:sldChg chg="delSp modSp mod">
        <pc:chgData name="Przemyslaw Starosta" userId="45f988447864b3e6" providerId="LiveId" clId="{F03EAEFD-908B-4458-9CFE-E641CAF539F5}" dt="2026-09-18T09:16:43.904" v="33" actId="20577"/>
        <pc:sldMkLst>
          <pc:docMk/>
          <pc:sldMk cId="2007516565" sldId="260"/>
        </pc:sldMkLst>
        <pc:spChg chg="mod">
          <ac:chgData name="Przemyslaw Starosta" userId="45f988447864b3e6" providerId="LiveId" clId="{F03EAEFD-908B-4458-9CFE-E641CAF539F5}" dt="2026-09-18T09:16:43.904" v="33" actId="20577"/>
          <ac:spMkLst>
            <pc:docMk/>
            <pc:sldMk cId="2007516565" sldId="260"/>
            <ac:spMk id="25" creationId="{B1094939-C1FD-4004-BAE3-D4AF981C2CC9}"/>
          </ac:spMkLst>
        </pc:spChg>
        <pc:spChg chg="del">
          <ac:chgData name="Przemyslaw Starosta" userId="45f988447864b3e6" providerId="LiveId" clId="{F03EAEFD-908B-4458-9CFE-E641CAF539F5}" dt="2026-09-18T08:57:16.761" v="23" actId="478"/>
          <ac:spMkLst>
            <pc:docMk/>
            <pc:sldMk cId="2007516565" sldId="260"/>
            <ac:spMk id="31" creationId="{5B1FDC37-13AE-4BB3-94C8-E405C6F33D7B}"/>
          </ac:spMkLst>
        </pc:spChg>
      </pc:sldChg>
      <pc:sldChg chg="delSp modSp mod">
        <pc:chgData name="Przemyslaw Starosta" userId="45f988447864b3e6" providerId="LiveId" clId="{F03EAEFD-908B-4458-9CFE-E641CAF539F5}" dt="2026-09-18T09:24:39.598" v="34" actId="14100"/>
        <pc:sldMkLst>
          <pc:docMk/>
          <pc:sldMk cId="1523890185" sldId="261"/>
        </pc:sldMkLst>
        <pc:spChg chg="mod">
          <ac:chgData name="Przemyslaw Starosta" userId="45f988447864b3e6" providerId="LiveId" clId="{F03EAEFD-908B-4458-9CFE-E641CAF539F5}" dt="2026-09-18T09:24:39.598" v="34" actId="14100"/>
          <ac:spMkLst>
            <pc:docMk/>
            <pc:sldMk cId="1523890185" sldId="261"/>
            <ac:spMk id="24" creationId="{51956141-51EA-4419-9AFC-D5344098663C}"/>
          </ac:spMkLst>
        </pc:spChg>
        <pc:spChg chg="del">
          <ac:chgData name="Przemyslaw Starosta" userId="45f988447864b3e6" providerId="LiveId" clId="{F03EAEFD-908B-4458-9CFE-E641CAF539F5}" dt="2026-09-18T08:57:15.177" v="22" actId="478"/>
          <ac:spMkLst>
            <pc:docMk/>
            <pc:sldMk cId="1523890185" sldId="261"/>
            <ac:spMk id="27" creationId="{D4F1711D-A78D-4A86-B39B-FAF7733F920B}"/>
          </ac:spMkLst>
        </pc:spChg>
      </pc:sldChg>
      <pc:sldChg chg="delSp modSp mod">
        <pc:chgData name="Przemyslaw Starosta" userId="45f988447864b3e6" providerId="LiveId" clId="{F03EAEFD-908B-4458-9CFE-E641CAF539F5}" dt="2026-09-18T09:25:23.367" v="35" actId="14100"/>
        <pc:sldMkLst>
          <pc:docMk/>
          <pc:sldMk cId="1387947262" sldId="262"/>
        </pc:sldMkLst>
        <pc:spChg chg="mod">
          <ac:chgData name="Przemyslaw Starosta" userId="45f988447864b3e6" providerId="LiveId" clId="{F03EAEFD-908B-4458-9CFE-E641CAF539F5}" dt="2026-09-18T09:25:23.367" v="35" actId="14100"/>
          <ac:spMkLst>
            <pc:docMk/>
            <pc:sldMk cId="1387947262" sldId="262"/>
            <ac:spMk id="12" creationId="{5F80AE7F-251E-44EF-8F5C-F6494C3B309E}"/>
          </ac:spMkLst>
        </pc:spChg>
        <pc:spChg chg="del">
          <ac:chgData name="Przemyslaw Starosta" userId="45f988447864b3e6" providerId="LiveId" clId="{F03EAEFD-908B-4458-9CFE-E641CAF539F5}" dt="2026-09-18T08:57:11.380" v="20" actId="478"/>
          <ac:spMkLst>
            <pc:docMk/>
            <pc:sldMk cId="1387947262" sldId="262"/>
            <ac:spMk id="18" creationId="{A9230150-5149-413F-A77E-EF883E486810}"/>
          </ac:spMkLst>
        </pc:spChg>
      </pc:sldChg>
      <pc:sldChg chg="delSp mod">
        <pc:chgData name="Przemyslaw Starosta" userId="45f988447864b3e6" providerId="LiveId" clId="{F03EAEFD-908B-4458-9CFE-E641CAF539F5}" dt="2026-09-18T08:57:12.841" v="21" actId="478"/>
        <pc:sldMkLst>
          <pc:docMk/>
          <pc:sldMk cId="747648073" sldId="263"/>
        </pc:sldMkLst>
        <pc:spChg chg="del">
          <ac:chgData name="Przemyslaw Starosta" userId="45f988447864b3e6" providerId="LiveId" clId="{F03EAEFD-908B-4458-9CFE-E641CAF539F5}" dt="2026-09-18T08:57:12.841" v="21" actId="478"/>
          <ac:spMkLst>
            <pc:docMk/>
            <pc:sldMk cId="747648073" sldId="263"/>
            <ac:spMk id="15" creationId="{800768C9-032C-414F-84D7-4473CB37DBE6}"/>
          </ac:spMkLst>
        </pc:spChg>
      </pc:sldChg>
      <pc:sldChg chg="delSp mod">
        <pc:chgData name="Przemyslaw Starosta" userId="45f988447864b3e6" providerId="LiveId" clId="{F03EAEFD-908B-4458-9CFE-E641CAF539F5}" dt="2026-09-18T08:57:09.651" v="19" actId="478"/>
        <pc:sldMkLst>
          <pc:docMk/>
          <pc:sldMk cId="1223737453" sldId="264"/>
        </pc:sldMkLst>
        <pc:spChg chg="del">
          <ac:chgData name="Przemyslaw Starosta" userId="45f988447864b3e6" providerId="LiveId" clId="{F03EAEFD-908B-4458-9CFE-E641CAF539F5}" dt="2026-09-18T08:57:09.651" v="19" actId="478"/>
          <ac:spMkLst>
            <pc:docMk/>
            <pc:sldMk cId="1223737453" sldId="264"/>
            <ac:spMk id="16" creationId="{9FE174F8-9B5D-416E-8092-97654F4377AB}"/>
          </ac:spMkLst>
        </pc:spChg>
      </pc:sldChg>
      <pc:sldChg chg="delSp mod">
        <pc:chgData name="Przemyslaw Starosta" userId="45f988447864b3e6" providerId="LiveId" clId="{F03EAEFD-908B-4458-9CFE-E641CAF539F5}" dt="2026-09-18T08:57:07.985" v="18" actId="478"/>
        <pc:sldMkLst>
          <pc:docMk/>
          <pc:sldMk cId="240385236" sldId="265"/>
        </pc:sldMkLst>
        <pc:spChg chg="del">
          <ac:chgData name="Przemyslaw Starosta" userId="45f988447864b3e6" providerId="LiveId" clId="{F03EAEFD-908B-4458-9CFE-E641CAF539F5}" dt="2026-09-18T08:57:07.985" v="18" actId="478"/>
          <ac:spMkLst>
            <pc:docMk/>
            <pc:sldMk cId="240385236" sldId="265"/>
            <ac:spMk id="20" creationId="{46DBDE9E-2688-4C48-BDA5-B3B9DE089414}"/>
          </ac:spMkLst>
        </pc:spChg>
      </pc:sldChg>
      <pc:sldChg chg="delSp mod">
        <pc:chgData name="Przemyslaw Starosta" userId="45f988447864b3e6" providerId="LiveId" clId="{F03EAEFD-908B-4458-9CFE-E641CAF539F5}" dt="2026-09-18T08:57:06.283" v="17" actId="478"/>
        <pc:sldMkLst>
          <pc:docMk/>
          <pc:sldMk cId="215396244" sldId="266"/>
        </pc:sldMkLst>
        <pc:spChg chg="del">
          <ac:chgData name="Przemyslaw Starosta" userId="45f988447864b3e6" providerId="LiveId" clId="{F03EAEFD-908B-4458-9CFE-E641CAF539F5}" dt="2026-09-18T08:57:06.283" v="17" actId="478"/>
          <ac:spMkLst>
            <pc:docMk/>
            <pc:sldMk cId="215396244" sldId="266"/>
            <ac:spMk id="22" creationId="{E53B6AFC-E84A-4830-A02C-9EC58DB76A83}"/>
          </ac:spMkLst>
        </pc:spChg>
      </pc:sldChg>
      <pc:sldChg chg="delSp mod">
        <pc:chgData name="Przemyslaw Starosta" userId="45f988447864b3e6" providerId="LiveId" clId="{F03EAEFD-908B-4458-9CFE-E641CAF539F5}" dt="2026-09-18T08:57:04.522" v="16" actId="478"/>
        <pc:sldMkLst>
          <pc:docMk/>
          <pc:sldMk cId="266186010" sldId="267"/>
        </pc:sldMkLst>
        <pc:spChg chg="del">
          <ac:chgData name="Przemyslaw Starosta" userId="45f988447864b3e6" providerId="LiveId" clId="{F03EAEFD-908B-4458-9CFE-E641CAF539F5}" dt="2026-09-18T08:57:04.522" v="16" actId="478"/>
          <ac:spMkLst>
            <pc:docMk/>
            <pc:sldMk cId="266186010" sldId="267"/>
            <ac:spMk id="15" creationId="{979FD495-BC97-4AB6-9081-F64DC817B721}"/>
          </ac:spMkLst>
        </pc:spChg>
      </pc:sldChg>
      <pc:sldChg chg="delSp mod">
        <pc:chgData name="Przemyslaw Starosta" userId="45f988447864b3e6" providerId="LiveId" clId="{F03EAEFD-908B-4458-9CFE-E641CAF539F5}" dt="2026-09-18T08:57:02.642" v="15" actId="478"/>
        <pc:sldMkLst>
          <pc:docMk/>
          <pc:sldMk cId="1635359684" sldId="268"/>
        </pc:sldMkLst>
        <pc:spChg chg="del">
          <ac:chgData name="Przemyslaw Starosta" userId="45f988447864b3e6" providerId="LiveId" clId="{F03EAEFD-908B-4458-9CFE-E641CAF539F5}" dt="2026-09-18T08:57:02.642" v="15" actId="478"/>
          <ac:spMkLst>
            <pc:docMk/>
            <pc:sldMk cId="1635359684" sldId="268"/>
            <ac:spMk id="26" creationId="{B02A4C4C-AF98-437F-AC4A-014D93C83C1D}"/>
          </ac:spMkLst>
        </pc:spChg>
      </pc:sldChg>
      <pc:sldChg chg="delSp modSp mod">
        <pc:chgData name="Przemyslaw Starosta" userId="45f988447864b3e6" providerId="LiveId" clId="{F03EAEFD-908B-4458-9CFE-E641CAF539F5}" dt="2026-09-18T09:42:44.135" v="36" actId="1076"/>
        <pc:sldMkLst>
          <pc:docMk/>
          <pc:sldMk cId="1914146872" sldId="269"/>
        </pc:sldMkLst>
        <pc:spChg chg="mod">
          <ac:chgData name="Przemyslaw Starosta" userId="45f988447864b3e6" providerId="LiveId" clId="{F03EAEFD-908B-4458-9CFE-E641CAF539F5}" dt="2026-09-18T09:42:44.135" v="36" actId="1076"/>
          <ac:spMkLst>
            <pc:docMk/>
            <pc:sldMk cId="1914146872" sldId="269"/>
            <ac:spMk id="4" creationId="{49BDEF15-91A5-4E90-9E72-AE3CB22EA1F8}"/>
          </ac:spMkLst>
        </pc:spChg>
        <pc:spChg chg="del">
          <ac:chgData name="Przemyslaw Starosta" userId="45f988447864b3e6" providerId="LiveId" clId="{F03EAEFD-908B-4458-9CFE-E641CAF539F5}" dt="2026-09-18T08:56:59.769" v="14" actId="478"/>
          <ac:spMkLst>
            <pc:docMk/>
            <pc:sldMk cId="1914146872" sldId="269"/>
            <ac:spMk id="23" creationId="{6313AAAA-0AC4-4388-B57D-7BA5FBF579E2}"/>
          </ac:spMkLst>
        </pc:spChg>
      </pc:sldChg>
      <pc:sldChg chg="delSp mod">
        <pc:chgData name="Przemyslaw Starosta" userId="45f988447864b3e6" providerId="LiveId" clId="{F03EAEFD-908B-4458-9CFE-E641CAF539F5}" dt="2026-09-18T08:56:57.817" v="13" actId="478"/>
        <pc:sldMkLst>
          <pc:docMk/>
          <pc:sldMk cId="1274195120" sldId="270"/>
        </pc:sldMkLst>
        <pc:spChg chg="del">
          <ac:chgData name="Przemyslaw Starosta" userId="45f988447864b3e6" providerId="LiveId" clId="{F03EAEFD-908B-4458-9CFE-E641CAF539F5}" dt="2026-09-18T08:56:57.817" v="13" actId="478"/>
          <ac:spMkLst>
            <pc:docMk/>
            <pc:sldMk cId="1274195120" sldId="270"/>
            <ac:spMk id="20" creationId="{D33D845B-66EF-4FAA-AF64-5F87FAE9A06C}"/>
          </ac:spMkLst>
        </pc:spChg>
      </pc:sldChg>
      <pc:sldChg chg="delSp mod">
        <pc:chgData name="Przemyslaw Starosta" userId="45f988447864b3e6" providerId="LiveId" clId="{F03EAEFD-908B-4458-9CFE-E641CAF539F5}" dt="2026-09-18T08:56:55.833" v="12" actId="478"/>
        <pc:sldMkLst>
          <pc:docMk/>
          <pc:sldMk cId="799563988" sldId="271"/>
        </pc:sldMkLst>
        <pc:spChg chg="del">
          <ac:chgData name="Przemyslaw Starosta" userId="45f988447864b3e6" providerId="LiveId" clId="{F03EAEFD-908B-4458-9CFE-E641CAF539F5}" dt="2026-09-18T08:56:55.833" v="12" actId="478"/>
          <ac:spMkLst>
            <pc:docMk/>
            <pc:sldMk cId="799563988" sldId="271"/>
            <ac:spMk id="27" creationId="{15214DE9-9FD1-40CF-AE0A-6B664056FC40}"/>
          </ac:spMkLst>
        </pc:spChg>
      </pc:sldChg>
      <pc:sldChg chg="delSp modSp mod">
        <pc:chgData name="Przemyslaw Starosta" userId="45f988447864b3e6" providerId="LiveId" clId="{F03EAEFD-908B-4458-9CFE-E641CAF539F5}" dt="2026-09-18T08:56:54.156" v="11" actId="478"/>
        <pc:sldMkLst>
          <pc:docMk/>
          <pc:sldMk cId="1589634055" sldId="272"/>
        </pc:sldMkLst>
        <pc:spChg chg="del mod">
          <ac:chgData name="Przemyslaw Starosta" userId="45f988447864b3e6" providerId="LiveId" clId="{F03EAEFD-908B-4458-9CFE-E641CAF539F5}" dt="2026-09-18T08:56:54.156" v="11" actId="478"/>
          <ac:spMkLst>
            <pc:docMk/>
            <pc:sldMk cId="1589634055" sldId="272"/>
            <ac:spMk id="18" creationId="{D3FA2C50-E652-4522-895E-87873BC6B01E}"/>
          </ac:spMkLst>
        </pc:spChg>
      </pc:sldChg>
      <pc:sldChg chg="delSp mod">
        <pc:chgData name="Przemyslaw Starosta" userId="45f988447864b3e6" providerId="LiveId" clId="{F03EAEFD-908B-4458-9CFE-E641CAF539F5}" dt="2026-09-18T08:56:52.290" v="9" actId="478"/>
        <pc:sldMkLst>
          <pc:docMk/>
          <pc:sldMk cId="865626244" sldId="273"/>
        </pc:sldMkLst>
        <pc:spChg chg="del">
          <ac:chgData name="Przemyslaw Starosta" userId="45f988447864b3e6" providerId="LiveId" clId="{F03EAEFD-908B-4458-9CFE-E641CAF539F5}" dt="2026-09-18T08:56:52.290" v="9" actId="478"/>
          <ac:spMkLst>
            <pc:docMk/>
            <pc:sldMk cId="865626244" sldId="273"/>
            <ac:spMk id="19" creationId="{B37FE225-184C-41D7-B071-90C036248B19}"/>
          </ac:spMkLst>
        </pc:spChg>
      </pc:sldChg>
      <pc:sldChg chg="delSp mod">
        <pc:chgData name="Przemyslaw Starosta" userId="45f988447864b3e6" providerId="LiveId" clId="{F03EAEFD-908B-4458-9CFE-E641CAF539F5}" dt="2026-09-18T08:56:50.449" v="8" actId="478"/>
        <pc:sldMkLst>
          <pc:docMk/>
          <pc:sldMk cId="33072857" sldId="274"/>
        </pc:sldMkLst>
        <pc:spChg chg="del">
          <ac:chgData name="Przemyslaw Starosta" userId="45f988447864b3e6" providerId="LiveId" clId="{F03EAEFD-908B-4458-9CFE-E641CAF539F5}" dt="2026-09-18T08:56:50.449" v="8" actId="478"/>
          <ac:spMkLst>
            <pc:docMk/>
            <pc:sldMk cId="33072857" sldId="274"/>
            <ac:spMk id="21" creationId="{CB7A0376-9241-49E6-8783-9D7834414EAD}"/>
          </ac:spMkLst>
        </pc:spChg>
        <pc:spChg chg="del">
          <ac:chgData name="Przemyslaw Starosta" userId="45f988447864b3e6" providerId="LiveId" clId="{F03EAEFD-908B-4458-9CFE-E641CAF539F5}" dt="2026-09-18T08:56:48.011" v="7" actId="478"/>
          <ac:spMkLst>
            <pc:docMk/>
            <pc:sldMk cId="33072857" sldId="274"/>
            <ac:spMk id="22" creationId="{FB94739E-050B-49A3-AA11-7988F01E10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35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425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 12">
            <a:extLst>
              <a:ext uri="{FF2B5EF4-FFF2-40B4-BE49-F238E27FC236}">
                <a16:creationId xmlns:a16="http://schemas.microsoft.com/office/drawing/2014/main" id="{29EAB855-60A7-489F-9039-A94EFA2D45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7F29D82-C9CF-4A37-81FD-B9819146C957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8096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9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 i="0" dirty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VACUUM</a:t>
            </a:r>
          </a:p>
          <a:p>
            <a:pPr algn="l">
              <a:defRPr sz="49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 i="0" dirty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w PostgreSQL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48A7573-B332-4CA4-9874-32E9B37AF885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723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Od MVCC i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martwych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krotek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do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monitoringu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strojenia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i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bezpiecznej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eksploatacji</a:t>
            </a:r>
            <a:r>
              <a:rPr sz="18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Owal 4">
            <a:extLst>
              <a:ext uri="{FF2B5EF4-FFF2-40B4-BE49-F238E27FC236}">
                <a16:creationId xmlns:a16="http://schemas.microsoft.com/office/drawing/2014/main" id="{B7589196-7528-4E5D-BB47-B63D6731AEDB}"/>
              </a:ext>
            </a:extLst>
          </p:cNvPr>
          <p:cNvSpPr>
            <a:spLocks noGrp="1"/>
          </p:cNvSpPr>
          <p:nvPr/>
        </p:nvSpPr>
        <p:spPr>
          <a:xfrm>
            <a:off x="8953500" y="1238250"/>
            <a:ext cx="1809750" cy="1809750"/>
          </a:xfrm>
          <a:prstGeom prst="ellipse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B359CCDF-6A53-4825-BF5A-7DC00188EA6B}"/>
              </a:ext>
            </a:extLst>
          </p:cNvPr>
          <p:cNvSpPr>
            <a:spLocks noGrp="1"/>
          </p:cNvSpPr>
          <p:nvPr/>
        </p:nvSpPr>
        <p:spPr>
          <a:xfrm>
            <a:off x="9163050" y="1714500"/>
            <a:ext cx="13811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dead</a:t>
            </a:r>
          </a:p>
          <a:p>
            <a:pPr algn="ctr">
              <a:defRPr sz="22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tuple</a:t>
            </a:r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E3BF7BD9-F1E1-42C0-94B0-09B6491B360C}"/>
              </a:ext>
            </a:extLst>
          </p:cNvPr>
          <p:cNvSpPr>
            <a:spLocks noGrp="1"/>
          </p:cNvSpPr>
          <p:nvPr/>
        </p:nvSpPr>
        <p:spPr>
          <a:xfrm>
            <a:off x="9620250" y="3429000"/>
            <a:ext cx="876300" cy="876300"/>
          </a:xfrm>
          <a:prstGeom prst="ellipse">
            <a:avLst/>
          </a:prstGeom>
          <a:solidFill>
            <a:srgbClr val="E5F1E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3C8544C-40B2-4885-A9B6-54620D4BAE94}"/>
              </a:ext>
            </a:extLst>
          </p:cNvPr>
          <p:cNvSpPr>
            <a:spLocks noGrp="1"/>
          </p:cNvSpPr>
          <p:nvPr/>
        </p:nvSpPr>
        <p:spPr>
          <a:xfrm>
            <a:off x="9744075" y="37147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rPr>
              <a:t>XID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7D2F7733-87EA-4970-8931-A2C8ED26E464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100012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551F432E-D01E-4096-87F2-39D90A5D7BE0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283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stokąt 18">
            <a:extLst>
              <a:ext uri="{FF2B5EF4-FFF2-40B4-BE49-F238E27FC236}">
                <a16:creationId xmlns:a16="http://schemas.microsoft.com/office/drawing/2014/main" id="{FCEA03CF-A86B-4655-B74C-FA1BA2A677D6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POSTGRESQL 18 · VACUUM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37A1EAEF-FB95-459D-85B5-DD37438CCFB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VACUUM chroni wydajność, miejsce i ciągłość działania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7EA398CE-3F85-40A9-963F-613B5B2EEB60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3B994542-6E83-4459-87C5-A1912D4B6E79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14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36FC3C1-1AC6-4105-8808-83B05E731F9A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pytania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na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które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odpowie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szkolenie</a:t>
            </a:r>
            <a:endParaRPr sz="1500" b="0" i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1366848C-C80D-4C4E-96B0-DBDB56060474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9EA0E0B2-EB96-4E10-AF8B-69D7789E2B0A}"/>
              </a:ext>
            </a:extLst>
          </p:cNvPr>
          <p:cNvSpPr>
            <a:spLocks noGrp="1"/>
          </p:cNvSpPr>
          <p:nvPr/>
        </p:nvSpPr>
        <p:spPr>
          <a:xfrm>
            <a:off x="5095875" y="18478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Skąd biorą się martwe wersje wierszy?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9CCD155F-C650-4185-AA2C-65C622990888}"/>
              </a:ext>
            </a:extLst>
          </p:cNvPr>
          <p:cNvSpPr>
            <a:spLocks noGrp="1"/>
          </p:cNvSpPr>
          <p:nvPr/>
        </p:nvSpPr>
        <p:spPr>
          <a:xfrm>
            <a:off x="5095875" y="22288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MVCC zachowuje stare obrazy danych, dopóki mogą być potrzebne aktywnym transakcjom.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ECD98999-C19F-4CE8-B4D9-46A5025C369D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6762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07E5BA36-8898-43AA-AACE-C71A9F3A54E7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AD245919-9206-4129-9B9F-91C69D8493F9}"/>
              </a:ext>
            </a:extLst>
          </p:cNvPr>
          <p:cNvSpPr>
            <a:spLocks noGrp="1"/>
          </p:cNvSpPr>
          <p:nvPr/>
        </p:nvSpPr>
        <p:spPr>
          <a:xfrm>
            <a:off x="5095875" y="30861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Kiedy sprzątać automatycznie, a kiedy ręcznie?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7C5FE2FC-2063-4192-B1AD-FE2321A14C19}"/>
              </a:ext>
            </a:extLst>
          </p:cNvPr>
          <p:cNvSpPr>
            <a:spLocks noGrp="1"/>
          </p:cNvSpPr>
          <p:nvPr/>
        </p:nvSpPr>
        <p:spPr>
          <a:xfrm>
            <a:off x="5095875" y="34671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Autovacuum jest mechanizmem podstawowym; ręczne polecenia rozwiązują konkretne sytuacje.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0C3E44FC-AA0D-42B1-A059-7DCA1B2E6B61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6762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2DDF7E88-54BD-41F0-BEC0-1236429067BB}"/>
              </a:ext>
            </a:extLst>
          </p:cNvPr>
          <p:cNvSpPr>
            <a:spLocks noGrp="1"/>
          </p:cNvSpPr>
          <p:nvPr/>
        </p:nvSpPr>
        <p:spPr>
          <a:xfrm>
            <a:off x="4476750" y="4343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85824981-A5D3-42DD-A08A-896BE3FBCDA6}"/>
              </a:ext>
            </a:extLst>
          </p:cNvPr>
          <p:cNvSpPr>
            <a:spLocks noGrp="1"/>
          </p:cNvSpPr>
          <p:nvPr/>
        </p:nvSpPr>
        <p:spPr>
          <a:xfrm>
            <a:off x="5095875" y="43243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 czym poznać, że VACUUM nie nadąża?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1D8857B-B656-4475-8F5C-756E253D7280}"/>
              </a:ext>
            </a:extLst>
          </p:cNvPr>
          <p:cNvSpPr>
            <a:spLocks noGrp="1"/>
          </p:cNvSpPr>
          <p:nvPr/>
        </p:nvSpPr>
        <p:spPr>
          <a:xfrm>
            <a:off x="5095875" y="47053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Obserwujemy dead tuples, wiek XID, postęp, logi, blokady i długie transakcje.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26FA39D3-E45E-457F-BCAF-34B436B8B44A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34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rostokąt 28">
            <a:extLst>
              <a:ext uri="{FF2B5EF4-FFF2-40B4-BE49-F238E27FC236}">
                <a16:creationId xmlns:a16="http://schemas.microsoft.com/office/drawing/2014/main" id="{5EDE0052-5D0B-476D-A7C5-F0AC2CF7CA7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01 · MVCC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31DA096E-F791-4A70-8AAC-1EE5D9ADACED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UPDATE tworzy nową wersję, a stara czeka na VACUUM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F5A7037E-BC41-412D-8BF2-C96E32A1C15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2A13819-FB82-491F-AC8B-136C9CFC28B3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333750" cy="1181100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A200174B-AE28-4C9B-BEEF-331AA0033EBF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95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UPDATE orders</a:t>
            </a:r>
          </a:p>
          <a:p>
            <a:pPr algn="l"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SET status = 'closed'</a:t>
            </a:r>
          </a:p>
          <a:p>
            <a:pPr algn="l"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WHERE order_id = 100;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A0B29A91-D612-4307-A4A7-1C1DA8FB0349}"/>
              </a:ext>
            </a:extLst>
          </p:cNvPr>
          <p:cNvSpPr>
            <a:spLocks noGrp="1"/>
          </p:cNvSpPr>
          <p:nvPr/>
        </p:nvSpPr>
        <p:spPr>
          <a:xfrm>
            <a:off x="4629150" y="17145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T0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13187CFA-A1A4-44CD-BE31-302B389B4543}"/>
              </a:ext>
            </a:extLst>
          </p:cNvPr>
          <p:cNvSpPr>
            <a:spLocks noGrp="1"/>
          </p:cNvSpPr>
          <p:nvPr/>
        </p:nvSpPr>
        <p:spPr>
          <a:xfrm>
            <a:off x="4629150" y="2057400"/>
            <a:ext cx="1809750" cy="1123950"/>
          </a:xfrm>
          <a:prstGeom prst="rect">
            <a:avLst/>
          </a:prstGeom>
          <a:solidFill>
            <a:srgbClr val="E7EEF3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9A7B228-BAFB-4631-893B-3A66A18D76AE}"/>
              </a:ext>
            </a:extLst>
          </p:cNvPr>
          <p:cNvSpPr>
            <a:spLocks noGrp="1"/>
          </p:cNvSpPr>
          <p:nvPr/>
        </p:nvSpPr>
        <p:spPr>
          <a:xfrm>
            <a:off x="4781550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order_id  100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DC01B75-DAE4-4DB0-9A85-4A9F174B7A4D}"/>
              </a:ext>
            </a:extLst>
          </p:cNvPr>
          <p:cNvSpPr>
            <a:spLocks noGrp="1"/>
          </p:cNvSpPr>
          <p:nvPr/>
        </p:nvSpPr>
        <p:spPr>
          <a:xfrm>
            <a:off x="4781550" y="26003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status    open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7C40DD52-554D-439F-86D1-932F39CB286E}"/>
              </a:ext>
            </a:extLst>
          </p:cNvPr>
          <p:cNvSpPr>
            <a:spLocks noGrp="1"/>
          </p:cNvSpPr>
          <p:nvPr/>
        </p:nvSpPr>
        <p:spPr>
          <a:xfrm>
            <a:off x="4629150" y="3305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widoczna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F18C911-7C23-4D5B-A170-CE8AB690C133}"/>
              </a:ext>
            </a:extLst>
          </p:cNvPr>
          <p:cNvSpPr>
            <a:spLocks noGrp="1"/>
          </p:cNvSpPr>
          <p:nvPr/>
        </p:nvSpPr>
        <p:spPr>
          <a:xfrm>
            <a:off x="6905625" y="17145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E59B3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59B34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B9692131-8A17-41BD-A5C0-1C4761FC276E}"/>
              </a:ext>
            </a:extLst>
          </p:cNvPr>
          <p:cNvSpPr>
            <a:spLocks noGrp="1"/>
          </p:cNvSpPr>
          <p:nvPr/>
        </p:nvSpPr>
        <p:spPr>
          <a:xfrm>
            <a:off x="6905625" y="2057400"/>
            <a:ext cx="1809750" cy="1123950"/>
          </a:xfrm>
          <a:prstGeom prst="rect">
            <a:avLst/>
          </a:prstGeom>
          <a:solidFill>
            <a:srgbClr val="F7ECD9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705CDBE-1024-4481-8D35-A45624F39DE2}"/>
              </a:ext>
            </a:extLst>
          </p:cNvPr>
          <p:cNvSpPr>
            <a:spLocks noGrp="1"/>
          </p:cNvSpPr>
          <p:nvPr/>
        </p:nvSpPr>
        <p:spPr>
          <a:xfrm>
            <a:off x="7058025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order_id  100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EB45EACE-1BD4-4305-B781-7C01A4EF73E2}"/>
              </a:ext>
            </a:extLst>
          </p:cNvPr>
          <p:cNvSpPr>
            <a:spLocks noGrp="1"/>
          </p:cNvSpPr>
          <p:nvPr/>
        </p:nvSpPr>
        <p:spPr>
          <a:xfrm>
            <a:off x="7058025" y="26003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C9574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C9574F"/>
                </a:solidFill>
                <a:latin typeface="Courier New"/>
                <a:ea typeface="Courier New"/>
                <a:cs typeface="Courier New"/>
              </a:rPr>
              <a:t>status    open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0B99F84A-670C-4760-8CD3-A5321208F2FE}"/>
              </a:ext>
            </a:extLst>
          </p:cNvPr>
          <p:cNvSpPr>
            <a:spLocks noGrp="1"/>
          </p:cNvSpPr>
          <p:nvPr/>
        </p:nvSpPr>
        <p:spPr>
          <a:xfrm>
            <a:off x="6905625" y="3305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stara wersja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04F9C10-8293-4EB6-9F23-243DA03D63E2}"/>
              </a:ext>
            </a:extLst>
          </p:cNvPr>
          <p:cNvSpPr>
            <a:spLocks noGrp="1"/>
          </p:cNvSpPr>
          <p:nvPr/>
        </p:nvSpPr>
        <p:spPr>
          <a:xfrm>
            <a:off x="9182100" y="17145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T2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0271D9A-BEA5-469A-9BBC-B649087E6C49}"/>
              </a:ext>
            </a:extLst>
          </p:cNvPr>
          <p:cNvSpPr>
            <a:spLocks noGrp="1"/>
          </p:cNvSpPr>
          <p:nvPr/>
        </p:nvSpPr>
        <p:spPr>
          <a:xfrm>
            <a:off x="9182100" y="2057400"/>
            <a:ext cx="1809750" cy="1123950"/>
          </a:xfrm>
          <a:prstGeom prst="rect">
            <a:avLst/>
          </a:prstGeom>
          <a:solidFill>
            <a:srgbClr val="E5F1E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6D96118D-0E6E-442A-A6A1-7917D3DB5B17}"/>
              </a:ext>
            </a:extLst>
          </p:cNvPr>
          <p:cNvSpPr>
            <a:spLocks noGrp="1"/>
          </p:cNvSpPr>
          <p:nvPr/>
        </p:nvSpPr>
        <p:spPr>
          <a:xfrm>
            <a:off x="9334500" y="2247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order_id  100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4161B7A4-2E93-49E8-A9F8-78C005B24438}"/>
              </a:ext>
            </a:extLst>
          </p:cNvPr>
          <p:cNvSpPr>
            <a:spLocks noGrp="1"/>
          </p:cNvSpPr>
          <p:nvPr/>
        </p:nvSpPr>
        <p:spPr>
          <a:xfrm>
            <a:off x="9334500" y="26003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status    closed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2459CAE5-01D9-4707-A690-EBD7F57FC8A7}"/>
              </a:ext>
            </a:extLst>
          </p:cNvPr>
          <p:cNvSpPr>
            <a:spLocks noGrp="1"/>
          </p:cNvSpPr>
          <p:nvPr/>
        </p:nvSpPr>
        <p:spPr>
          <a:xfrm>
            <a:off x="9182100" y="3305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widoczna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20941F67-B1F5-449E-A643-D3847F124D37}"/>
              </a:ext>
            </a:extLst>
          </p:cNvPr>
          <p:cNvSpPr>
            <a:spLocks noGrp="1"/>
          </p:cNvSpPr>
          <p:nvPr/>
        </p:nvSpPr>
        <p:spPr>
          <a:xfrm>
            <a:off x="6343650" y="236220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B8FF7978-50C8-4CB7-A534-4A0DDBFDD73C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238AD46B-1694-413E-B533-1B8F540C5FD2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56DF1006-4268-4DF5-98A6-F0773C7E764D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Martwa krotka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53E60ED6-54DF-4906-942E-9A85E2DDA797}"/>
              </a:ext>
            </a:extLst>
          </p:cNvPr>
          <p:cNvSpPr>
            <a:spLocks noGrp="1"/>
          </p:cNvSpPr>
          <p:nvPr/>
        </p:nvSpPr>
        <p:spPr>
          <a:xfrm>
            <a:off x="3314700" y="4276725"/>
            <a:ext cx="762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to wersja wiersza, której nie potrzebuje już żadna aktywna transakcja. Dopiero wtedy VACUUM może odzyskać zajmowane przez nią miejsce.</a:t>
            </a:r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4BB7490F-284B-4685-B5D3-1DB9CC750468}"/>
              </a:ext>
            </a:extLst>
          </p:cNvPr>
          <p:cNvSpPr>
            <a:spLocks noGrp="1"/>
          </p:cNvSpPr>
          <p:nvPr/>
        </p:nvSpPr>
        <p:spPr>
          <a:xfrm>
            <a:off x="723900" y="5372100"/>
            <a:ext cx="1019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Bez regularnego VACUUM rośnie liczba odczytów, rozmiar tabel i indeksów oraz ryzyko wraparound.</a:t>
            </a:r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D8F4A7C8-D2F6-4868-AF36-2A7DEA90941F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573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ostokąt 27">
            <a:extLst>
              <a:ext uri="{FF2B5EF4-FFF2-40B4-BE49-F238E27FC236}">
                <a16:creationId xmlns:a16="http://schemas.microsoft.com/office/drawing/2014/main" id="{9C4C5B33-0DD2-420F-A29C-C062712023DD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02 · CO ROBI VACUUM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7E7F514A-73A3-4BDA-A1D9-7E6D5A0A46F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VACUUM odzyskuje przestrzeń wewnątrz tabeli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33B0F0B3-214D-4130-96D7-693A26181272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4A2C4EA-46CE-4E27-A6B1-0BAD466BA74C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rPr>
              <a:t>VACUUM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59BC1D7-D86D-4CED-938F-7F2D66804708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3286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nie usuwa po prostu pliku. Oznacza przestrzeń jako gotową do ponownego użycia.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EC59034A-0A10-4F03-A7C9-4563CA08789A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114300" cy="552450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6907AEC3-40FC-45C7-8821-919D9AC2E123}"/>
              </a:ext>
            </a:extLst>
          </p:cNvPr>
          <p:cNvSpPr>
            <a:spLocks noGrp="1"/>
          </p:cNvSpPr>
          <p:nvPr/>
        </p:nvSpPr>
        <p:spPr>
          <a:xfrm>
            <a:off x="4933950" y="17049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HEAP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1C2EDE6A-4A38-42C4-97A6-7B0DB9F94A23}"/>
              </a:ext>
            </a:extLst>
          </p:cNvPr>
          <p:cNvSpPr>
            <a:spLocks noGrp="1"/>
          </p:cNvSpPr>
          <p:nvPr/>
        </p:nvSpPr>
        <p:spPr>
          <a:xfrm>
            <a:off x="6619875" y="170497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martwe wersje → wolne miejsce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1D9D59D0-277B-41F0-83C5-198BFFEF694E}"/>
              </a:ext>
            </a:extLst>
          </p:cNvPr>
          <p:cNvSpPr>
            <a:spLocks noGrp="1"/>
          </p:cNvSpPr>
          <p:nvPr/>
        </p:nvSpPr>
        <p:spPr>
          <a:xfrm>
            <a:off x="4933950" y="2314575"/>
            <a:ext cx="6000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39EE359-6BBE-4610-8EE8-111D1F3682E3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114300" cy="552450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53C5FC93-7EA0-40A2-93B3-1C6232C35805}"/>
              </a:ext>
            </a:extLst>
          </p:cNvPr>
          <p:cNvSpPr>
            <a:spLocks noGrp="1"/>
          </p:cNvSpPr>
          <p:nvPr/>
        </p:nvSpPr>
        <p:spPr>
          <a:xfrm>
            <a:off x="4933950" y="24860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INDEKSY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1CA7F01F-933F-4E9F-B6AB-572A51862CD2}"/>
              </a:ext>
            </a:extLst>
          </p:cNvPr>
          <p:cNvSpPr>
            <a:spLocks noGrp="1"/>
          </p:cNvSpPr>
          <p:nvPr/>
        </p:nvSpPr>
        <p:spPr>
          <a:xfrm>
            <a:off x="6619875" y="24860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usunięcie martwych wpisów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72B2A958-C05C-4BE6-9373-A041B950FC4A}"/>
              </a:ext>
            </a:extLst>
          </p:cNvPr>
          <p:cNvSpPr>
            <a:spLocks noGrp="1"/>
          </p:cNvSpPr>
          <p:nvPr/>
        </p:nvSpPr>
        <p:spPr>
          <a:xfrm>
            <a:off x="4933950" y="3095625"/>
            <a:ext cx="6000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88489F38-4C7C-4C97-B1A9-D185AB877D38}"/>
              </a:ext>
            </a:extLst>
          </p:cNvPr>
          <p:cNvSpPr>
            <a:spLocks noGrp="1"/>
          </p:cNvSpPr>
          <p:nvPr/>
        </p:nvSpPr>
        <p:spPr>
          <a:xfrm>
            <a:off x="4572000" y="3276600"/>
            <a:ext cx="114300" cy="552450"/>
          </a:xfrm>
          <a:prstGeom prst="rect">
            <a:avLst/>
          </a:prstGeom>
          <a:solidFill>
            <a:srgbClr val="E59B34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844FB476-7AA9-4428-A71A-3D6B298C671E}"/>
              </a:ext>
            </a:extLst>
          </p:cNvPr>
          <p:cNvSpPr>
            <a:spLocks noGrp="1"/>
          </p:cNvSpPr>
          <p:nvPr/>
        </p:nvSpPr>
        <p:spPr>
          <a:xfrm>
            <a:off x="4933950" y="32670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E59B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59B34"/>
                </a:solidFill>
                <a:latin typeface="Aptos"/>
                <a:ea typeface="Aptos"/>
                <a:cs typeface="Aptos"/>
              </a:rPr>
              <a:t>FSM + VM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976969A-B9EC-46ED-9CAF-2393B98524C1}"/>
              </a:ext>
            </a:extLst>
          </p:cNvPr>
          <p:cNvSpPr>
            <a:spLocks noGrp="1"/>
          </p:cNvSpPr>
          <p:nvPr/>
        </p:nvSpPr>
        <p:spPr>
          <a:xfrm>
            <a:off x="6619875" y="326707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reuse miejsca + index-only scan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7EF1BD86-34F3-48FB-99BF-A6DF05CD47D8}"/>
              </a:ext>
            </a:extLst>
          </p:cNvPr>
          <p:cNvSpPr>
            <a:spLocks noGrp="1"/>
          </p:cNvSpPr>
          <p:nvPr/>
        </p:nvSpPr>
        <p:spPr>
          <a:xfrm>
            <a:off x="4933950" y="3876675"/>
            <a:ext cx="6000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D53DBC03-65DD-47EA-8E5E-0D4B8EE4AE92}"/>
              </a:ext>
            </a:extLst>
          </p:cNvPr>
          <p:cNvSpPr>
            <a:spLocks noGrp="1"/>
          </p:cNvSpPr>
          <p:nvPr/>
        </p:nvSpPr>
        <p:spPr>
          <a:xfrm>
            <a:off x="4572000" y="4057650"/>
            <a:ext cx="114300" cy="552450"/>
          </a:xfrm>
          <a:prstGeom prst="rect">
            <a:avLst/>
          </a:prstGeom>
          <a:solidFill>
            <a:srgbClr val="C9574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FB612E73-C9C2-4A7C-BD67-E590236BDCFB}"/>
              </a:ext>
            </a:extLst>
          </p:cNvPr>
          <p:cNvSpPr>
            <a:spLocks noGrp="1"/>
          </p:cNvSpPr>
          <p:nvPr/>
        </p:nvSpPr>
        <p:spPr>
          <a:xfrm>
            <a:off x="4933950" y="40481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FREEZING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E1ACA7C9-D6A8-4A20-A6A7-7D0180706171}"/>
              </a:ext>
            </a:extLst>
          </p:cNvPr>
          <p:cNvSpPr>
            <a:spLocks noGrp="1"/>
          </p:cNvSpPr>
          <p:nvPr/>
        </p:nvSpPr>
        <p:spPr>
          <a:xfrm>
            <a:off x="6619875" y="4048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ochrona widoczności po wraparound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F3D049B3-9F29-46F5-99A9-8E6D640A1B6B}"/>
              </a:ext>
            </a:extLst>
          </p:cNvPr>
          <p:cNvSpPr>
            <a:spLocks noGrp="1"/>
          </p:cNvSpPr>
          <p:nvPr/>
        </p:nvSpPr>
        <p:spPr>
          <a:xfrm>
            <a:off x="4933950" y="4657725"/>
            <a:ext cx="6000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2CEFED0F-C716-4FB7-81E0-F51EAEC82EB4}"/>
              </a:ext>
            </a:extLst>
          </p:cNvPr>
          <p:cNvSpPr>
            <a:spLocks noGrp="1"/>
          </p:cNvSpPr>
          <p:nvPr/>
        </p:nvSpPr>
        <p:spPr>
          <a:xfrm>
            <a:off x="4572000" y="4838700"/>
            <a:ext cx="114300" cy="552450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2B2530EE-0500-45AD-A4EC-B4B88B05D4C9}"/>
              </a:ext>
            </a:extLst>
          </p:cNvPr>
          <p:cNvSpPr>
            <a:spLocks noGrp="1"/>
          </p:cNvSpPr>
          <p:nvPr/>
        </p:nvSpPr>
        <p:spPr>
          <a:xfrm>
            <a:off x="4933950" y="48291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ANALYZE*</a:t>
            </a:r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3319882E-937D-45A3-8176-6B88B0BC9074}"/>
              </a:ext>
            </a:extLst>
          </p:cNvPr>
          <p:cNvSpPr>
            <a:spLocks noGrp="1"/>
          </p:cNvSpPr>
          <p:nvPr/>
        </p:nvSpPr>
        <p:spPr>
          <a:xfrm>
            <a:off x="6619875" y="482917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świeże statystyki dla planera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24A88D05-4FAA-4362-A5A2-B3EC20ED90BC}"/>
              </a:ext>
            </a:extLst>
          </p:cNvPr>
          <p:cNvSpPr>
            <a:spLocks noGrp="1"/>
          </p:cNvSpPr>
          <p:nvPr/>
        </p:nvSpPr>
        <p:spPr>
          <a:xfrm>
            <a:off x="742950" y="5876925"/>
            <a:ext cx="1017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* ANALYZE wykonuje wariant VACUUM (ANALYZE); aktualizuje selektywność, estymacje liczby wierszy i kolejność złączeń.</a:t>
            </a:r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D84EA409-B291-4102-863A-8CABC557169D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711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rostokąt 32">
            <a:extLst>
              <a:ext uri="{FF2B5EF4-FFF2-40B4-BE49-F238E27FC236}">
                <a16:creationId xmlns:a16="http://schemas.microsoft.com/office/drawing/2014/main" id="{9697AE14-1E14-4D81-BDEF-A92B9537B294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03 · WARIANTY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5C1B8A8-A64A-4719-8862-42ACDC3DCD9A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Dobierz polecenie do celu, nie do przyzwyczajenia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767F4F6B-11E4-47A9-B100-12D6280D8EE3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38EBC80-62EE-48C4-BC19-9F0C4747E93A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POLECENIE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3A7A7FD3-BB9F-4B7C-BF49-63A22D8EE89C}"/>
              </a:ext>
            </a:extLst>
          </p:cNvPr>
          <p:cNvSpPr>
            <a:spLocks noGrp="1"/>
          </p:cNvSpPr>
          <p:nvPr/>
        </p:nvSpPr>
        <p:spPr>
          <a:xfrm>
            <a:off x="3143250" y="17145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CO ZYSKUJESZ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983B565-DD80-4AF3-B9EF-2523B9292636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DOSTĘPNOŚĆ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641C4916-8D63-4677-9052-AAD0D997C305}"/>
              </a:ext>
            </a:extLst>
          </p:cNvPr>
          <p:cNvSpPr>
            <a:spLocks noGrp="1"/>
          </p:cNvSpPr>
          <p:nvPr/>
        </p:nvSpPr>
        <p:spPr>
          <a:xfrm>
            <a:off x="9667875" y="17145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UŻYJ, GDY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B9DE0C9-472F-4E53-84F9-A33E44F51686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0191750" cy="28575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C679E7B7-F765-44D7-91B2-3DDE98CC4A0D}"/>
              </a:ext>
            </a:extLst>
          </p:cNvPr>
          <p:cNvSpPr>
            <a:spLocks noGrp="1"/>
          </p:cNvSpPr>
          <p:nvPr/>
        </p:nvSpPr>
        <p:spPr>
          <a:xfrm>
            <a:off x="723900" y="22193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5D5164B4-48F7-4A56-9C2D-FB976E4BF373}"/>
              </a:ext>
            </a:extLst>
          </p:cNvPr>
          <p:cNvSpPr>
            <a:spLocks noGrp="1"/>
          </p:cNvSpPr>
          <p:nvPr/>
        </p:nvSpPr>
        <p:spPr>
          <a:xfrm>
            <a:off x="3143250" y="2219325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reuse miejsca, VM, indeksy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64D2281-1ABB-45E8-8222-E600591B986B}"/>
              </a:ext>
            </a:extLst>
          </p:cNvPr>
          <p:cNvSpPr>
            <a:spLocks noGrp="1"/>
          </p:cNvSpPr>
          <p:nvPr/>
        </p:nvSpPr>
        <p:spPr>
          <a:xfrm>
            <a:off x="6762750" y="221932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normalny ruch trwa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1E12D46F-9CD5-4DCF-B93F-205C6B12058B}"/>
              </a:ext>
            </a:extLst>
          </p:cNvPr>
          <p:cNvSpPr>
            <a:spLocks noGrp="1"/>
          </p:cNvSpPr>
          <p:nvPr/>
        </p:nvSpPr>
        <p:spPr>
          <a:xfrm>
            <a:off x="9667875" y="2219325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dead tuples rosną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7A4FB36F-CE39-48CE-984C-1B0B8AB3FEEC}"/>
              </a:ext>
            </a:extLst>
          </p:cNvPr>
          <p:cNvSpPr>
            <a:spLocks noGrp="1"/>
          </p:cNvSpPr>
          <p:nvPr/>
        </p:nvSpPr>
        <p:spPr>
          <a:xfrm>
            <a:off x="723900" y="2847975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B9D27ABD-2C00-4D83-85A9-D6A809327B2E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 ANALYZE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31346A7A-CC98-4045-829D-5D60B4077F3C}"/>
              </a:ext>
            </a:extLst>
          </p:cNvPr>
          <p:cNvSpPr>
            <a:spLocks noGrp="1"/>
          </p:cNvSpPr>
          <p:nvPr/>
        </p:nvSpPr>
        <p:spPr>
          <a:xfrm>
            <a:off x="3143250" y="30861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 + statystyki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EF3B6CE-266C-4B42-9E05-649229AD69FE}"/>
              </a:ext>
            </a:extLst>
          </p:cNvPr>
          <p:cNvSpPr>
            <a:spLocks noGrp="1"/>
          </p:cNvSpPr>
          <p:nvPr/>
        </p:nvSpPr>
        <p:spPr>
          <a:xfrm>
            <a:off x="6762750" y="30861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normalny ruch trwa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A4B37293-70F2-4881-800D-4C008361C73B}"/>
              </a:ext>
            </a:extLst>
          </p:cNvPr>
          <p:cNvSpPr>
            <a:spLocks noGrp="1"/>
          </p:cNvSpPr>
          <p:nvPr/>
        </p:nvSpPr>
        <p:spPr>
          <a:xfrm>
            <a:off x="9667875" y="30861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 imporcie / dużej zmianie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A5614905-BF5D-43EA-AF49-58C4BCF07F31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467EF99D-2FDD-421D-A90E-705E958BE471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C8D19392-D6FF-4FF8-A71F-4B0BA8C5E7C3}"/>
              </a:ext>
            </a:extLst>
          </p:cNvPr>
          <p:cNvSpPr>
            <a:spLocks noGrp="1"/>
          </p:cNvSpPr>
          <p:nvPr/>
        </p:nvSpPr>
        <p:spPr>
          <a:xfrm>
            <a:off x="3143250" y="3952875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tylko statystyki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61F1669D-0F57-4275-8253-B1FD34991C48}"/>
              </a:ext>
            </a:extLst>
          </p:cNvPr>
          <p:cNvSpPr>
            <a:spLocks noGrp="1"/>
          </p:cNvSpPr>
          <p:nvPr/>
        </p:nvSpPr>
        <p:spPr>
          <a:xfrm>
            <a:off x="6762750" y="395287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lekka operacja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C69BB3D2-A432-48CF-9444-C599A850772F}"/>
              </a:ext>
            </a:extLst>
          </p:cNvPr>
          <p:cNvSpPr>
            <a:spLocks noGrp="1"/>
          </p:cNvSpPr>
          <p:nvPr/>
        </p:nvSpPr>
        <p:spPr>
          <a:xfrm>
            <a:off x="9667875" y="3952875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zmienił się rozkład danych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45D8F0D6-348D-4967-9D27-445CB4574D3E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6AA94035-DA83-4D4A-AC09-A7B8830B7321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 FULL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B1094939-C1FD-4004-BAE3-D4AF981C2CC9}"/>
              </a:ext>
            </a:extLst>
          </p:cNvPr>
          <p:cNvSpPr>
            <a:spLocks noGrp="1"/>
          </p:cNvSpPr>
          <p:nvPr/>
        </p:nvSpPr>
        <p:spPr>
          <a:xfrm>
            <a:off x="3143250" y="48196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fizyczn</a:t>
            </a:r>
            <a:r>
              <a:rPr lang="pl-PL" sz="1275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y</a:t>
            </a:r>
            <a:r>
              <a:rPr sz="1275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lang="pl-PL" sz="1275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kompakt</a:t>
            </a:r>
            <a:endParaRPr sz="1275" b="0" i="0" dirty="0">
              <a:solidFill>
                <a:srgbClr val="15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9B1B2244-0638-48A7-838A-20FF970D60B8}"/>
              </a:ext>
            </a:extLst>
          </p:cNvPr>
          <p:cNvSpPr>
            <a:spLocks noGrp="1"/>
          </p:cNvSpPr>
          <p:nvPr/>
        </p:nvSpPr>
        <p:spPr>
          <a:xfrm>
            <a:off x="6762750" y="48196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C9574F"/>
                </a:solidFill>
                <a:latin typeface="Aptos"/>
                <a:ea typeface="Aptos"/>
                <a:cs typeface="Aptos"/>
              </a:rPr>
              <a:t>ACCESS EXCLUSIVE</a:t>
            </a:r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5EB81052-58DB-4EF1-9081-202CF52BBC85}"/>
              </a:ext>
            </a:extLst>
          </p:cNvPr>
          <p:cNvSpPr>
            <a:spLocks noGrp="1"/>
          </p:cNvSpPr>
          <p:nvPr/>
        </p:nvSpPr>
        <p:spPr>
          <a:xfrm>
            <a:off x="9667875" y="48196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275" b="0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potwierdzony</a:t>
            </a:r>
            <a:r>
              <a:rPr sz="1275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bloat + </a:t>
            </a:r>
            <a:r>
              <a:rPr sz="1275" b="0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okno</a:t>
            </a:r>
            <a:endParaRPr sz="1275" b="0" i="0" dirty="0">
              <a:solidFill>
                <a:srgbClr val="15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A3034E5B-E702-407D-A44E-8C12DCE8BF48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F8943A9D-94E6-48D2-951A-9E88E7F5A23F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0191750" cy="19050"/>
          </a:xfrm>
          <a:prstGeom prst="rect">
            <a:avLst/>
          </a:prstGeom>
          <a:solidFill>
            <a:srgbClr val="E59B34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Prostokąt 29">
            <a:extLst>
              <a:ext uri="{FF2B5EF4-FFF2-40B4-BE49-F238E27FC236}">
                <a16:creationId xmlns:a16="http://schemas.microsoft.com/office/drawing/2014/main" id="{63AB534B-9041-45F9-ADE9-F670E83826A0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1019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Jeśli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usuwasz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całą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zawartość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tabeli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rozważ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TRUNCATE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zamiast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DELETE + VACUUM —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jeśli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pozwalają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na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to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transakcje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i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klucze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obce</a:t>
            </a:r>
            <a:r>
              <a:rPr sz="13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36422954-942A-41BB-B715-FFC249DB0B9A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7516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rostokąt 28">
            <a:extLst>
              <a:ext uri="{FF2B5EF4-FFF2-40B4-BE49-F238E27FC236}">
                <a16:creationId xmlns:a16="http://schemas.microsoft.com/office/drawing/2014/main" id="{FF932CC5-7C26-41C9-B6E0-AD03B21F40DA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04 · SKŁADNIA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D59A0BDB-8DEB-4DB0-9EB0-0B56CD7A474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Opcje VACUUM sterują zakresem, blokadami i tempem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6835D0D-2E22-41D1-908E-96DB4BA3D4D3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FBA74C7-D91D-4CDC-917C-10445BD81ACD}"/>
              </a:ext>
            </a:extLst>
          </p:cNvPr>
          <p:cNvSpPr>
            <a:spLocks noGrp="1"/>
          </p:cNvSpPr>
          <p:nvPr/>
        </p:nvSpPr>
        <p:spPr>
          <a:xfrm>
            <a:off x="723900" y="1685925"/>
            <a:ext cx="10668000" cy="1104900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3A2CB02E-AF1C-44C8-BA07-99FEB5115F82}"/>
              </a:ext>
            </a:extLst>
          </p:cNvPr>
          <p:cNvSpPr>
            <a:spLocks noGrp="1"/>
          </p:cNvSpPr>
          <p:nvPr/>
        </p:nvSpPr>
        <p:spPr>
          <a:xfrm>
            <a:off x="914400" y="1819275"/>
            <a:ext cx="1028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VACUUM (ANALYZE, VERBOSE, SKIP_LOCKED,</a:t>
            </a:r>
          </a:p>
          <a:p>
            <a:pPr algn="l"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INDEX_CLEANUP AUTO, TRUNCATE true,</a:t>
            </a:r>
          </a:p>
          <a:p>
            <a:pPr algn="l"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PARALLEL 2, BUFFER_USAGE_LIMIT ...) orders;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F10B07C3-7874-47F7-87DD-55182457EA97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ZAKRES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3650D055-7AC0-4409-B576-2A01367F5843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WSPÓŁBIEŻNOŚĆ I ZASOBY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A8C8560-1A06-47CE-ABA5-DA98D1078CD1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F9C0D3CE-EA2B-4DF7-B2E3-947A50280418}"/>
              </a:ext>
            </a:extLst>
          </p:cNvPr>
          <p:cNvSpPr>
            <a:spLocks noGrp="1"/>
          </p:cNvSpPr>
          <p:nvPr/>
        </p:nvSpPr>
        <p:spPr>
          <a:xfrm>
            <a:off x="2000250" y="342900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przepisuje tabelę; silna blokada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299903B8-EB85-4D6A-8078-DD1CF92A3F11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38448810-B373-4486-9402-07EA6C4FBC3B}"/>
              </a:ext>
            </a:extLst>
          </p:cNvPr>
          <p:cNvSpPr>
            <a:spLocks noGrp="1"/>
          </p:cNvSpPr>
          <p:nvPr/>
        </p:nvSpPr>
        <p:spPr>
          <a:xfrm>
            <a:off x="2000250" y="398145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agresywne zamrażanie XID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C67F2E0-35E2-4498-AD6E-85FD73328291}"/>
              </a:ext>
            </a:extLst>
          </p:cNvPr>
          <p:cNvSpPr>
            <a:spLocks noGrp="1"/>
          </p:cNvSpPr>
          <p:nvPr/>
        </p:nvSpPr>
        <p:spPr>
          <a:xfrm>
            <a:off x="723900" y="45339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VERBOSE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5A831753-D938-4829-8718-D8DC1014179B}"/>
              </a:ext>
            </a:extLst>
          </p:cNvPr>
          <p:cNvSpPr>
            <a:spLocks noGrp="1"/>
          </p:cNvSpPr>
          <p:nvPr/>
        </p:nvSpPr>
        <p:spPr>
          <a:xfrm>
            <a:off x="2000250" y="453390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szczegółowy</a:t>
            </a:r>
            <a:r>
              <a:rPr sz="12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raport</a:t>
            </a:r>
            <a:r>
              <a:rPr sz="127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diagnostyczny</a:t>
            </a:r>
            <a:endParaRPr sz="1275" b="0" i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864956B7-F009-4211-8CB4-8C79D15C14E8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25523893-9FF6-41C7-8E33-44C01EE4C52D}"/>
              </a:ext>
            </a:extLst>
          </p:cNvPr>
          <p:cNvSpPr>
            <a:spLocks noGrp="1"/>
          </p:cNvSpPr>
          <p:nvPr/>
        </p:nvSpPr>
        <p:spPr>
          <a:xfrm>
            <a:off x="2000250" y="508635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aktualizuje statystyki planera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52314A1D-EC6C-498C-A780-82942CBAB65E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SKIP_LOCKED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00E372B5-83D0-424C-A831-356243F6119E}"/>
              </a:ext>
            </a:extLst>
          </p:cNvPr>
          <p:cNvSpPr>
            <a:spLocks noGrp="1"/>
          </p:cNvSpPr>
          <p:nvPr/>
        </p:nvSpPr>
        <p:spPr>
          <a:xfrm>
            <a:off x="7981950" y="34290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pomija relacje z konfliktem blokad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3FBE31AA-B7C1-4B3E-AEA8-F1102F3F2934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INDEX_CLEANUP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67129FF1-4A84-4DED-95A4-0AF08D833A6A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AUTO / ON / OFF dla indeksów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E7DA2919-DBFD-4BA0-82A3-3DFEECF34EB4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TRUNCATE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56EC0C05-555D-400E-B10E-C9DE7471A483}"/>
              </a:ext>
            </a:extLst>
          </p:cNvPr>
          <p:cNvSpPr>
            <a:spLocks noGrp="1"/>
          </p:cNvSpPr>
          <p:nvPr/>
        </p:nvSpPr>
        <p:spPr>
          <a:xfrm>
            <a:off x="7981950" y="4381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odcina puste strony z końca tabeli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7A788A6E-1C38-45E3-B291-1B7C963DF6A7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PARALLEL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2F261744-09F2-4049-9818-8029C7CE858D}"/>
              </a:ext>
            </a:extLst>
          </p:cNvPr>
          <p:cNvSpPr>
            <a:spLocks noGrp="1"/>
          </p:cNvSpPr>
          <p:nvPr/>
        </p:nvSpPr>
        <p:spPr>
          <a:xfrm>
            <a:off x="7981950" y="4857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równoległe prace indeksowe; nie FULL</a:t>
            </a:r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51956141-51EA-4419-9AFC-D5344098663C}"/>
              </a:ext>
            </a:extLst>
          </p:cNvPr>
          <p:cNvSpPr>
            <a:spLocks noGrp="1"/>
          </p:cNvSpPr>
          <p:nvPr/>
        </p:nvSpPr>
        <p:spPr>
          <a:xfrm>
            <a:off x="6191250" y="53340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00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BUFFER_USAGE_LIMIT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D2DD8004-CCFD-4F82-9A73-66A22C39D3F9}"/>
              </a:ext>
            </a:extLst>
          </p:cNvPr>
          <p:cNvSpPr>
            <a:spLocks noGrp="1"/>
          </p:cNvSpPr>
          <p:nvPr/>
        </p:nvSpPr>
        <p:spPr>
          <a:xfrm>
            <a:off x="7981950" y="53340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limit buforów VACUUM</a:t>
            </a:r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722D5F59-9E67-4488-A89B-2C79589F1A83}"/>
              </a:ext>
            </a:extLst>
          </p:cNvPr>
          <p:cNvSpPr>
            <a:spLocks noGrp="1"/>
          </p:cNvSpPr>
          <p:nvPr/>
        </p:nvSpPr>
        <p:spPr>
          <a:xfrm>
            <a:off x="723900" y="6105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E59B3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59B34"/>
                </a:solidFill>
                <a:latin typeface="Aptos"/>
                <a:ea typeface="Aptos"/>
                <a:cs typeface="Aptos"/>
              </a:rPr>
              <a:t>Dostępność opcji i wartości domyślne sprawdź dla wersji serwera wdrożonej w organizacji.</a:t>
            </a:r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82161D78-E941-418D-B18F-30E9447CBBE2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89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stokąt 19">
            <a:extLst>
              <a:ext uri="{FF2B5EF4-FFF2-40B4-BE49-F238E27FC236}">
                <a16:creationId xmlns:a16="http://schemas.microsoft.com/office/drawing/2014/main" id="{3147FD2A-1DFD-4D85-A225-708A6677E14E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05 · AUTOVACUUM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53A5BBEE-47FC-41D2-882A-899C40C32C04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Autovacuum reaguje na aktywność tabeli, nie na zegar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6FD34ED-6CBE-438C-84FC-3036B7A05B1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BA9C2CC-CC9E-4BA3-9AFC-BC9D46EB7E4E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MECHANIZM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A38CA0A-247A-4786-A8D3-BE49D0B8C224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launcher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E8982DB-7366-492C-8F1A-7F2577DF27ED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sprawdza bazy co najmniej co naptime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A8D7B3C-1FB9-44C7-BE29-C9BFE196549C}"/>
              </a:ext>
            </a:extLst>
          </p:cNvPr>
          <p:cNvSpPr>
            <a:spLocks noGrp="1"/>
          </p:cNvSpPr>
          <p:nvPr/>
        </p:nvSpPr>
        <p:spPr>
          <a:xfrm>
            <a:off x="3648075" y="2324100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CAF73D0-1D1E-4F4A-A1F0-FA847337FD03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rPr>
              <a:t>workery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14FEF468-5C11-4DCA-88F9-1F1D07BAD356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wykonują VACUUM / ANALYZE dla tabel po progu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1E079757-ED6D-44F0-AA76-D65BC1902A62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07B983D-F22D-46D3-A274-68C7BB59DF45}"/>
              </a:ext>
            </a:extLst>
          </p:cNvPr>
          <p:cNvSpPr>
            <a:spLocks noGrp="1"/>
          </p:cNvSpPr>
          <p:nvPr/>
        </p:nvSpPr>
        <p:spPr>
          <a:xfrm>
            <a:off x="742950" y="37242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PRÓG VACUUM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5F80AE7F-251E-44EF-8F5C-F6494C3B309E}"/>
              </a:ext>
            </a:extLst>
          </p:cNvPr>
          <p:cNvSpPr>
            <a:spLocks noGrp="1"/>
          </p:cNvSpPr>
          <p:nvPr/>
        </p:nvSpPr>
        <p:spPr>
          <a:xfrm>
            <a:off x="742949" y="4171950"/>
            <a:ext cx="218659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 i="0" dirty="0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threshold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2D85606-6D56-4317-898E-90DBD2D904EC}"/>
              </a:ext>
            </a:extLst>
          </p:cNvPr>
          <p:cNvSpPr>
            <a:spLocks noGrp="1"/>
          </p:cNvSpPr>
          <p:nvPr/>
        </p:nvSpPr>
        <p:spPr>
          <a:xfrm>
            <a:off x="2752725" y="4171950"/>
            <a:ext cx="457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D57B6CC2-C159-42FE-9987-52CBF8B95DC2}"/>
              </a:ext>
            </a:extLst>
          </p:cNvPr>
          <p:cNvSpPr>
            <a:spLocks noGrp="1"/>
          </p:cNvSpPr>
          <p:nvPr/>
        </p:nvSpPr>
        <p:spPr>
          <a:xfrm>
            <a:off x="3333750" y="4171950"/>
            <a:ext cx="24574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scale factor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18C5304D-0D89-4EE6-A981-5B179734AF35}"/>
              </a:ext>
            </a:extLst>
          </p:cNvPr>
          <p:cNvSpPr>
            <a:spLocks noGrp="1"/>
          </p:cNvSpPr>
          <p:nvPr/>
        </p:nvSpPr>
        <p:spPr>
          <a:xfrm>
            <a:off x="5819775" y="4171950"/>
            <a:ext cx="457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0724B1CB-012C-4E38-9ADC-04F93A462E8C}"/>
              </a:ext>
            </a:extLst>
          </p:cNvPr>
          <p:cNvSpPr>
            <a:spLocks noGrp="1"/>
          </p:cNvSpPr>
          <p:nvPr/>
        </p:nvSpPr>
        <p:spPr>
          <a:xfrm>
            <a:off x="6400800" y="4171950"/>
            <a:ext cx="352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 i="0" dirty="0" err="1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liczba</a:t>
            </a:r>
            <a:r>
              <a:rPr sz="2850" b="1" i="0" dirty="0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850" b="1" i="0" dirty="0" err="1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wierszy</a:t>
            </a:r>
            <a:endParaRPr sz="2850" b="1" i="0" dirty="0">
              <a:solidFill>
                <a:srgbClr val="33679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AA1519E7-F3C1-42C2-AB2F-A405D52279AA}"/>
              </a:ext>
            </a:extLst>
          </p:cNvPr>
          <p:cNvSpPr>
            <a:spLocks noGrp="1"/>
          </p:cNvSpPr>
          <p:nvPr/>
        </p:nvSpPr>
        <p:spPr>
          <a:xfrm>
            <a:off x="742950" y="5305425"/>
            <a:ext cx="1019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Autovacuum jest podstawowym mechanizmem. Ręczny VACUUM uzupełnia go po konkretnych zdarzeniach — nie zastępuje strojenia.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A55EFB0E-8BC4-4E83-B59E-90E52D6BF64E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794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rostokąt 16">
            <a:extLst>
              <a:ext uri="{FF2B5EF4-FFF2-40B4-BE49-F238E27FC236}">
                <a16:creationId xmlns:a16="http://schemas.microsoft.com/office/drawing/2014/main" id="{DBD0ED27-6AC4-4B26-A2B1-A38CD08FD3C4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06 · PRÓG W PRAKTYCE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288A3BB3-4E66-48D6-B85B-119AD016E929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Domyślne 20% jest często za późne dla dużych tabel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EF1A59F-941B-4F4D-B1C9-D5A08E866173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C6E3769F-CD82-409D-9450-98F98CB54833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1 000 000 WIERSZY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61BEA6FC-60FB-4EF8-B1B0-6C7BB8243FB6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 dirty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200 050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6CEE8CE2-11EA-4165-B211-D605628D2B2A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42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zmian</a:t>
            </a:r>
            <a:r>
              <a:rPr sz="142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przy</a:t>
            </a:r>
            <a:r>
              <a:rPr sz="142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scale factor 0,20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20AFF2D9-1034-417E-96AC-E25D3906852B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 dirty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20 050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ADF3EFE-446B-4392-9ABE-3F8DE66E2E28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42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zmian</a:t>
            </a:r>
            <a:r>
              <a:rPr sz="142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przy</a:t>
            </a:r>
            <a:r>
              <a:rPr sz="1425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scale factor 0,02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9E8BE74C-37AF-4D5D-89D9-87F6E9FBA68D}"/>
              </a:ext>
            </a:extLst>
          </p:cNvPr>
          <p:cNvSpPr>
            <a:spLocks noGrp="1"/>
          </p:cNvSpPr>
          <p:nvPr/>
        </p:nvSpPr>
        <p:spPr>
          <a:xfrm>
            <a:off x="4905375" y="1752600"/>
            <a:ext cx="28575" cy="3381375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688CAE6-5364-4DA2-8173-F6F4ACAAD023}"/>
              </a:ext>
            </a:extLst>
          </p:cNvPr>
          <p:cNvSpPr>
            <a:spLocks noGrp="1"/>
          </p:cNvSpPr>
          <p:nvPr/>
        </p:nvSpPr>
        <p:spPr>
          <a:xfrm>
            <a:off x="5391150" y="17335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10 000 000 WIERSZY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A34C098-0354-4E2A-8807-F72E277B27E2}"/>
              </a:ext>
            </a:extLst>
          </p:cNvPr>
          <p:cNvSpPr>
            <a:spLocks noGrp="1"/>
          </p:cNvSpPr>
          <p:nvPr/>
        </p:nvSpPr>
        <p:spPr>
          <a:xfrm>
            <a:off x="5391150" y="22764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2 000 050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9458FFF6-632B-47F3-9BF2-1FE0061E41F1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martwych krotek przed uruchomieniem przy 0,20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AA3A67B9-1182-4E74-873D-C1B3C45FE4FC}"/>
              </a:ext>
            </a:extLst>
          </p:cNvPr>
          <p:cNvSpPr>
            <a:spLocks noGrp="1"/>
          </p:cNvSpPr>
          <p:nvPr/>
        </p:nvSpPr>
        <p:spPr>
          <a:xfrm>
            <a:off x="5391150" y="4105275"/>
            <a:ext cx="514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2175" b="1" i="0" dirty="0" err="1">
                <a:solidFill>
                  <a:srgbClr val="336791"/>
                </a:solidFill>
                <a:latin typeface="Aptos"/>
                <a:ea typeface="Aptos"/>
                <a:cs typeface="Aptos"/>
              </a:rPr>
              <a:t>Dla</a:t>
            </a:r>
            <a:r>
              <a:rPr sz="2175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 </a:t>
            </a:r>
            <a:r>
              <a:rPr sz="2175" b="1" i="0" dirty="0" err="1">
                <a:solidFill>
                  <a:srgbClr val="336791"/>
                </a:solidFill>
                <a:latin typeface="Aptos"/>
                <a:ea typeface="Aptos"/>
                <a:cs typeface="Aptos"/>
              </a:rPr>
              <a:t>wielkich</a:t>
            </a:r>
            <a:r>
              <a:rPr sz="2175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 </a:t>
            </a:r>
            <a:r>
              <a:rPr sz="2175" b="1" i="0" dirty="0" err="1">
                <a:solidFill>
                  <a:srgbClr val="336791"/>
                </a:solidFill>
                <a:latin typeface="Aptos"/>
                <a:ea typeface="Aptos"/>
                <a:cs typeface="Aptos"/>
              </a:rPr>
              <a:t>tabel</a:t>
            </a:r>
            <a:r>
              <a:rPr sz="2175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 </a:t>
            </a:r>
            <a:r>
              <a:rPr sz="2175" b="1" i="0" dirty="0" err="1">
                <a:solidFill>
                  <a:srgbClr val="336791"/>
                </a:solidFill>
                <a:latin typeface="Aptos"/>
                <a:ea typeface="Aptos"/>
                <a:cs typeface="Aptos"/>
              </a:rPr>
              <a:t>dostrajaj</a:t>
            </a:r>
            <a:r>
              <a:rPr sz="2175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 </a:t>
            </a:r>
            <a:r>
              <a:rPr sz="2175" b="1" i="0" dirty="0" err="1">
                <a:solidFill>
                  <a:srgbClr val="336791"/>
                </a:solidFill>
                <a:latin typeface="Aptos"/>
                <a:ea typeface="Aptos"/>
                <a:cs typeface="Aptos"/>
              </a:rPr>
              <a:t>próg</a:t>
            </a:r>
            <a:r>
              <a:rPr sz="2175" b="1" i="0" dirty="0">
                <a:solidFill>
                  <a:srgbClr val="336791"/>
                </a:solidFill>
                <a:latin typeface="Aptos"/>
                <a:ea typeface="Aptos"/>
                <a:cs typeface="Aptos"/>
              </a:rPr>
              <a:t> per-table.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85ABC548-C25F-46F6-90F6-19E54FED3FC8}"/>
              </a:ext>
            </a:extLst>
          </p:cNvPr>
          <p:cNvSpPr>
            <a:spLocks noGrp="1"/>
          </p:cNvSpPr>
          <p:nvPr/>
        </p:nvSpPr>
        <p:spPr>
          <a:xfrm>
            <a:off x="5391150" y="4857750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Mniejsze scale factor przyspiesza reakcję, ale zwiększa częstotliwość i zużycie zasobów.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52DE4751-2B53-4E9E-9445-68D77A6BFB37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764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rostokąt 17">
            <a:extLst>
              <a:ext uri="{FF2B5EF4-FFF2-40B4-BE49-F238E27FC236}">
                <a16:creationId xmlns:a16="http://schemas.microsoft.com/office/drawing/2014/main" id="{F4EC5A83-7D45-4D28-A367-CC0FFDA839CE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07 · PARAMETRY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D356CB9-782E-4AF2-950A-7A12D280205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Dostrajaj kilka gorących tabel zamiast całego klastra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D299D2D-2842-4201-ADF6-E7142968545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4B4807DD-410A-4A9C-9F9E-2FD4CB24FBBB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KIEDY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FC53A090-8B3E-4316-96C5-561ACD67E34F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4619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vacuum_threshold</a:t>
            </a:r>
            <a:r>
              <a:rPr sz="1275" b="0" i="0" dirty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 · </a:t>
            </a: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vacuum_scale_factor</a:t>
            </a:r>
            <a:endParaRPr sz="1275" b="0" i="0" dirty="0">
              <a:solidFill>
                <a:srgbClr val="15212B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analyze_threshold</a:t>
            </a:r>
            <a:r>
              <a:rPr sz="1275" b="0" i="0" dirty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 · </a:t>
            </a: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analyze_scale_factor</a:t>
            </a:r>
            <a:endParaRPr sz="1275" b="0" i="0" dirty="0">
              <a:solidFill>
                <a:srgbClr val="15212B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insert_threshold</a:t>
            </a:r>
            <a:r>
              <a:rPr sz="1275" b="0" i="0" dirty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 · </a:t>
            </a:r>
            <a:r>
              <a:rPr sz="1275" b="0" i="0" dirty="0" err="1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insert_scale_factor</a:t>
            </a:r>
            <a:endParaRPr sz="1275" b="0" i="0" dirty="0">
              <a:solidFill>
                <a:srgbClr val="15212B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DC161273-09AC-48CE-A153-71454A42C8C8}"/>
              </a:ext>
            </a:extLst>
          </p:cNvPr>
          <p:cNvSpPr>
            <a:spLocks noGrp="1"/>
          </p:cNvSpPr>
          <p:nvPr/>
        </p:nvSpPr>
        <p:spPr>
          <a:xfrm>
            <a:off x="5915025" y="17335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ILE RÓWNOLEGLE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C844174C-2C38-444C-AB73-559D83B0EE16}"/>
              </a:ext>
            </a:extLst>
          </p:cNvPr>
          <p:cNvSpPr>
            <a:spLocks noGrp="1"/>
          </p:cNvSpPr>
          <p:nvPr/>
        </p:nvSpPr>
        <p:spPr>
          <a:xfrm>
            <a:off x="5915025" y="2057400"/>
            <a:ext cx="4619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autovacuum_max_workers</a:t>
            </a:r>
          </a:p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autovacuum_naptime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A8ACD2E-08E7-4B58-8E18-7FF1CC950CE1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BEZPIECZEŃSTWO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7B887B08-1427-4FAB-A848-2AD4F532087D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4619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autovacuum_freeze_max_age</a:t>
            </a:r>
          </a:p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autovacuum_multixact_freeze_max_age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3710ED4-9354-45D8-B5AD-4F0BA0A57119}"/>
              </a:ext>
            </a:extLst>
          </p:cNvPr>
          <p:cNvSpPr>
            <a:spLocks noGrp="1"/>
          </p:cNvSpPr>
          <p:nvPr/>
        </p:nvSpPr>
        <p:spPr>
          <a:xfrm>
            <a:off x="5915025" y="31813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TEMPO I/O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A4BF1A8-D738-4118-A6FF-7D185FE5BD49}"/>
              </a:ext>
            </a:extLst>
          </p:cNvPr>
          <p:cNvSpPr>
            <a:spLocks noGrp="1"/>
          </p:cNvSpPr>
          <p:nvPr/>
        </p:nvSpPr>
        <p:spPr>
          <a:xfrm>
            <a:off x="5915025" y="3505200"/>
            <a:ext cx="4619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autovacuum_vacuum_cost_delay</a:t>
            </a:r>
          </a:p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autovacuum_vacuum_cost_limit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6A9282AE-B6EE-4C88-89D0-8D6A424A90F1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5143500" cy="1304925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468BCFF-B6B4-41BF-BCE6-1810C096086F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47625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ALTER TABLE </a:t>
            </a:r>
            <a:r>
              <a:rPr sz="1125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public.orders</a:t>
            </a: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SET (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25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autovacuum_vacuum_threshold</a:t>
            </a: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1000,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25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autovacuum_vacuum_scale_factor</a:t>
            </a: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0.02,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25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autovacuum_analyze_scale_factor</a:t>
            </a: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0.01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A7A2071F-63FE-4257-8DFD-FEB002EEF695}"/>
              </a:ext>
            </a:extLst>
          </p:cNvPr>
          <p:cNvSpPr>
            <a:spLocks noGrp="1"/>
          </p:cNvSpPr>
          <p:nvPr/>
        </p:nvSpPr>
        <p:spPr>
          <a:xfrm>
            <a:off x="6096000" y="4743450"/>
            <a:ext cx="5143500" cy="1304925"/>
          </a:xfrm>
          <a:prstGeom prst="rect">
            <a:avLst/>
          </a:prstGeom>
          <a:solidFill>
            <a:srgbClr val="20323D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5FA76EE1-F234-48C4-A3C9-6E40DA8CB9D6}"/>
              </a:ext>
            </a:extLst>
          </p:cNvPr>
          <p:cNvSpPr>
            <a:spLocks noGrp="1"/>
          </p:cNvSpPr>
          <p:nvPr/>
        </p:nvSpPr>
        <p:spPr>
          <a:xfrm>
            <a:off x="6286500" y="4876800"/>
            <a:ext cx="47625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ALTER TABLE public.events SET (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autovacuum_vacuum_insert_threshold = 10000,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autovacuum_vacuum_insert_scale_factor = 0.02</a:t>
            </a:r>
          </a:p>
          <a:p>
            <a:pPr algn="l">
              <a:def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2804D91-0327-4EFB-8827-05959B0ADEB0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373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>
            <a:extLst>
              <a:ext uri="{FF2B5EF4-FFF2-40B4-BE49-F238E27FC236}">
                <a16:creationId xmlns:a16="http://schemas.microsoft.com/office/drawing/2014/main" id="{D66E76C6-D440-48CA-9721-99BC563CD5E0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08 · ZASOBY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29793CB6-3849-4B4F-B786-A3F5C27FE6ED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Koszt VACUUM równoważy tempo sprzątania i konkurencję o I/O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82226E2-464D-4FC8-99A0-5A36ECE2B3F3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C609784-FE79-4CC8-90EF-E87BB335BC3F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ZA WOLNO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EACE5B3F-8EEB-489F-B0B6-93F542865D56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NIE NADĄŻA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5EC592E6-6E16-46F9-8DFA-4572A736C6E3}"/>
              </a:ext>
            </a:extLst>
          </p:cNvPr>
          <p:cNvSpPr>
            <a:spLocks noGrp="1"/>
          </p:cNvSpPr>
          <p:nvPr/>
        </p:nvSpPr>
        <p:spPr>
          <a:xfrm>
            <a:off x="8991600" y="1857375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00" b="1" i="0">
                <a:solidFill>
                  <a:srgbClr val="E59B3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59B34"/>
                </a:solidFill>
                <a:latin typeface="Aptos"/>
                <a:ea typeface="Aptos"/>
                <a:cs typeface="Aptos"/>
              </a:rPr>
              <a:t>ZA SZYBKO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FC22E3E5-361A-4755-A956-06C49CEA2984}"/>
              </a:ext>
            </a:extLst>
          </p:cNvPr>
          <p:cNvSpPr>
            <a:spLocks noGrp="1"/>
          </p:cNvSpPr>
          <p:nvPr/>
        </p:nvSpPr>
        <p:spPr>
          <a:xfrm>
            <a:off x="7924800" y="2257425"/>
            <a:ext cx="3257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3375" b="1" i="0">
                <a:solidFill>
                  <a:srgbClr val="E59B34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 i="0">
                <a:solidFill>
                  <a:srgbClr val="E59B34"/>
                </a:solidFill>
                <a:latin typeface="Aptos Display"/>
                <a:ea typeface="Aptos Display"/>
                <a:cs typeface="Aptos Display"/>
              </a:rPr>
              <a:t>KONKURUJE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4AA77ADC-DA34-4BF0-83B3-DF786198FEA8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325100" cy="11430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A281641-247B-4D85-9666-DC3CD99900F0}"/>
              </a:ext>
            </a:extLst>
          </p:cNvPr>
          <p:cNvSpPr>
            <a:spLocks noGrp="1"/>
          </p:cNvSpPr>
          <p:nvPr/>
        </p:nvSpPr>
        <p:spPr>
          <a:xfrm>
            <a:off x="4495800" y="3171825"/>
            <a:ext cx="3143250" cy="266700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62A59939-39D1-43DB-93B7-D5B5E4FACFA5}"/>
              </a:ext>
            </a:extLst>
          </p:cNvPr>
          <p:cNvSpPr>
            <a:spLocks noGrp="1"/>
          </p:cNvSpPr>
          <p:nvPr/>
        </p:nvSpPr>
        <p:spPr>
          <a:xfrm>
            <a:off x="5029200" y="35718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PUNKT PRACY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263A7FBE-2C1D-4171-BBFD-E03A06563F69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BUDŻET I PRZERWY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5FBA0CB1-C6E5-4E9F-ACBE-314BFD84B166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vacuum_cost_page_hit / miss / dirty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23347A31-0771-4D32-B130-1CF02F960CF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vacuum_cost_limit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31D7023A-E2EE-47D4-9512-D2C121495288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vacuum_cost_delay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148048DD-8C16-4726-94AB-D1A7905A19E8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PAMIĘĆ I RÓWNOLEGŁOŚĆ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384D38B7-6EA2-4F72-B005-A79CD9F7EDF2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maintenance_work_mem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FA50CC41-021A-443F-A402-78E8D1495F76}"/>
              </a:ext>
            </a:extLst>
          </p:cNvPr>
          <p:cNvSpPr>
            <a:spLocks noGrp="1"/>
          </p:cNvSpPr>
          <p:nvPr/>
        </p:nvSpPr>
        <p:spPr>
          <a:xfrm>
            <a:off x="6191250" y="49911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autovacuum_work_mem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42D2604E-ADCA-446B-839B-2262B4FECB47}"/>
              </a:ext>
            </a:extLst>
          </p:cNvPr>
          <p:cNvSpPr>
            <a:spLocks noGrp="1"/>
          </p:cNvSpPr>
          <p:nvPr/>
        </p:nvSpPr>
        <p:spPr>
          <a:xfrm>
            <a:off x="6191250" y="5314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5212B"/>
                </a:solidFill>
                <a:latin typeface="Courier New"/>
                <a:ea typeface="Courier New"/>
                <a:cs typeface="Courier New"/>
              </a:rPr>
              <a:t>autovacuum_max_workers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FF2A8387-F2F7-4B37-AB30-D6144AF6E2B6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19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68B88"/>
                </a:solidFill>
                <a:latin typeface="Courier New"/>
                <a:ea typeface="Courier New"/>
                <a:cs typeface="Courier New"/>
              </a:rPr>
              <a:t>Przykład ręczny: SET vacuum_cost_delay = '1ms'; SET vacuum_cost_limit = 1000;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C20DB285-3727-4466-B614-16500FCBD4C7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038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ostokąt 23">
            <a:extLst>
              <a:ext uri="{FF2B5EF4-FFF2-40B4-BE49-F238E27FC236}">
                <a16:creationId xmlns:a16="http://schemas.microsoft.com/office/drawing/2014/main" id="{3C4D58CC-6544-4101-BF2F-49B9ABA78FC1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09 · BEZPIECZEŃSTWO XID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08D01FF-630F-4CF6-BC32-85E6C02550AA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Freezing musi wyprzedzić transaction ID wraparound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EAAB9F2-6230-422C-AB56-BC46DEEE88AF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90A4A72-BF47-4872-9E22-CEDF4FF280E0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WIEK XID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A407E9EB-9B99-4399-A2ED-8EE80D065318}"/>
              </a:ext>
            </a:extLst>
          </p:cNvPr>
          <p:cNvSpPr>
            <a:spLocks noGrp="1"/>
          </p:cNvSpPr>
          <p:nvPr/>
        </p:nvSpPr>
        <p:spPr>
          <a:xfrm>
            <a:off x="895350" y="2638425"/>
            <a:ext cx="9810750" cy="7620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0B0F674-F5A7-41E4-B7E7-797E94D2A3E8}"/>
              </a:ext>
            </a:extLst>
          </p:cNvPr>
          <p:cNvSpPr>
            <a:spLocks noGrp="1"/>
          </p:cNvSpPr>
          <p:nvPr/>
        </p:nvSpPr>
        <p:spPr>
          <a:xfrm>
            <a:off x="1714500" y="2466975"/>
            <a:ext cx="95250" cy="419100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2E44EFF4-A528-4D59-B172-2901D4514262}"/>
              </a:ext>
            </a:extLst>
          </p:cNvPr>
          <p:cNvSpPr>
            <a:spLocks noGrp="1"/>
          </p:cNvSpPr>
          <p:nvPr/>
        </p:nvSpPr>
        <p:spPr>
          <a:xfrm>
            <a:off x="1190625" y="20193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50 mln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B3E2CC10-14CF-48FC-8A04-0AD363D4F66F}"/>
              </a:ext>
            </a:extLst>
          </p:cNvPr>
          <p:cNvSpPr>
            <a:spLocks noGrp="1"/>
          </p:cNvSpPr>
          <p:nvPr/>
        </p:nvSpPr>
        <p:spPr>
          <a:xfrm>
            <a:off x="809625" y="30099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336791"/>
                </a:solidFill>
                <a:latin typeface="Courier New"/>
                <a:ea typeface="Courier New"/>
                <a:cs typeface="Courier New"/>
              </a:rPr>
              <a:t>freeze_min_age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FDAA0799-17C3-4430-9FCE-D4D624D2B1C2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95250" cy="419100"/>
          </a:xfrm>
          <a:prstGeom prst="rect">
            <a:avLst/>
          </a:prstGeom>
          <a:solidFill>
            <a:srgbClr val="E59B34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D845F46E-44BD-409A-A68A-84748F08EEC8}"/>
              </a:ext>
            </a:extLst>
          </p:cNvPr>
          <p:cNvSpPr>
            <a:spLocks noGrp="1"/>
          </p:cNvSpPr>
          <p:nvPr/>
        </p:nvSpPr>
        <p:spPr>
          <a:xfrm>
            <a:off x="4619625" y="20193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E59B3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59B34"/>
                </a:solidFill>
                <a:latin typeface="Aptos"/>
                <a:ea typeface="Aptos"/>
                <a:cs typeface="Aptos"/>
              </a:rPr>
              <a:t>150 mln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F07373E2-11FD-4B90-B438-84366629AB42}"/>
              </a:ext>
            </a:extLst>
          </p:cNvPr>
          <p:cNvSpPr>
            <a:spLocks noGrp="1"/>
          </p:cNvSpPr>
          <p:nvPr/>
        </p:nvSpPr>
        <p:spPr>
          <a:xfrm>
            <a:off x="4238625" y="30099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E59B3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E59B34"/>
                </a:solidFill>
                <a:latin typeface="Courier New"/>
                <a:ea typeface="Courier New"/>
                <a:cs typeface="Courier New"/>
              </a:rPr>
              <a:t>freeze_table_age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B525A128-AE3E-4E8A-9CF3-3C4E048C8F31}"/>
              </a:ext>
            </a:extLst>
          </p:cNvPr>
          <p:cNvSpPr>
            <a:spLocks noGrp="1"/>
          </p:cNvSpPr>
          <p:nvPr/>
        </p:nvSpPr>
        <p:spPr>
          <a:xfrm>
            <a:off x="8477250" y="2466975"/>
            <a:ext cx="95250" cy="419100"/>
          </a:xfrm>
          <a:prstGeom prst="rect">
            <a:avLst/>
          </a:prstGeom>
          <a:solidFill>
            <a:srgbClr val="C9574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0A961BEC-6CC2-4B9F-85D1-EE8C56E94224}"/>
              </a:ext>
            </a:extLst>
          </p:cNvPr>
          <p:cNvSpPr>
            <a:spLocks noGrp="1"/>
          </p:cNvSpPr>
          <p:nvPr/>
        </p:nvSpPr>
        <p:spPr>
          <a:xfrm>
            <a:off x="7953375" y="20193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200 mln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F3573ECE-385C-44B6-B90B-58D6771A03D6}"/>
              </a:ext>
            </a:extLst>
          </p:cNvPr>
          <p:cNvSpPr>
            <a:spLocks noGrp="1"/>
          </p:cNvSpPr>
          <p:nvPr/>
        </p:nvSpPr>
        <p:spPr>
          <a:xfrm>
            <a:off x="7572375" y="30099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C9574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C9574F"/>
                </a:solidFill>
                <a:latin typeface="Courier New"/>
                <a:ea typeface="Courier New"/>
                <a:cs typeface="Courier New"/>
              </a:rPr>
              <a:t>freeze_max_age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25D908D2-379D-47BA-A64F-212B66EC2344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kwalifikuje krotki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31F3254E-9077-440E-ACF2-DA74566853CB}"/>
              </a:ext>
            </a:extLst>
          </p:cNvPr>
          <p:cNvSpPr>
            <a:spLocks noGrp="1"/>
          </p:cNvSpPr>
          <p:nvPr/>
        </p:nvSpPr>
        <p:spPr>
          <a:xfrm>
            <a:off x="4305300" y="34766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agresywniejszy skan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EC183451-EBCB-4251-9B7D-D98CF691DD77}"/>
              </a:ext>
            </a:extLst>
          </p:cNvPr>
          <p:cNvSpPr>
            <a:spLocks noGrp="1"/>
          </p:cNvSpPr>
          <p:nvPr/>
        </p:nvSpPr>
        <p:spPr>
          <a:xfrm>
            <a:off x="7696200" y="3476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wymuszony anti-wraparound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2F69788E-0421-4F1D-8C3A-87CFD0F8AD54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567E8058-2ADD-44F6-88F7-F1FAF122A0EB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C9574F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C9574F"/>
                </a:solidFill>
                <a:latin typeface="Courier New"/>
                <a:ea typeface="Courier New"/>
                <a:cs typeface="Courier New"/>
              </a:rPr>
              <a:t>vacuum_failsafe_age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3A0BD229-CA61-47C3-AB96-4EE6D1B6D7CB}"/>
              </a:ext>
            </a:extLst>
          </p:cNvPr>
          <p:cNvSpPr>
            <a:spLocks noGrp="1"/>
          </p:cNvSpPr>
          <p:nvPr/>
        </p:nvSpPr>
        <p:spPr>
          <a:xfrm>
            <a:off x="4238625" y="4419600"/>
            <a:ext cx="657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awaryjnie ogranicza opóźnienia i prace niekonieczne, aby ochronić bazę.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CAD2A026-1B81-4530-A796-FD76E3280349}"/>
              </a:ext>
            </a:extLst>
          </p:cNvPr>
          <p:cNvSpPr>
            <a:spLocks noGrp="1"/>
          </p:cNvSpPr>
          <p:nvPr/>
        </p:nvSpPr>
        <p:spPr>
          <a:xfrm>
            <a:off x="723900" y="535305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Sprawdź także multixact, długie transakcje, repliki i sloty replikacji — mogą utrzymywać stare wersje.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E40C9CC1-040D-4CEE-9D6E-60655C9D4AEB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5396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rostokąt 16">
            <a:extLst>
              <a:ext uri="{FF2B5EF4-FFF2-40B4-BE49-F238E27FC236}">
                <a16:creationId xmlns:a16="http://schemas.microsoft.com/office/drawing/2014/main" id="{718B329B-DF63-40E7-9797-876E1015DF5D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10 · OBSERWOWALNOŚĆ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E87BCD89-7695-4E4A-806B-2A59EC566ED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Monitoring zaczyna się od dead tuples, wieku XID i postępu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2BB6C5F-77BB-4F66-BE8D-C425621F1FB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C789A9B6-C35C-4BDE-AE89-F74142B8AD4E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TABELE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5A78A22D-CB4D-4984-BD0A-5C478953C369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3143250" cy="2266950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2E75E8B-08FF-4874-B497-3F4FC64EECDB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27622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relname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n_live_tup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n_dead_tup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last_autovacuum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n_mod_since_analyze</a:t>
            </a:r>
            <a:endParaRPr sz="1050" b="0" i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pg_stat_user_tables</a:t>
            </a:r>
            <a:endParaRPr sz="1050" b="0" i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ORDER BY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n_dead_tup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DESC;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E119F61B-F7BF-4219-BAE3-63B22F9A033E}"/>
              </a:ext>
            </a:extLst>
          </p:cNvPr>
          <p:cNvSpPr>
            <a:spLocks noGrp="1"/>
          </p:cNvSpPr>
          <p:nvPr/>
        </p:nvSpPr>
        <p:spPr>
          <a:xfrm>
            <a:off x="4324350" y="17335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WIEK XID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27B48A5D-E525-4B24-8517-3E905B5D634C}"/>
              </a:ext>
            </a:extLst>
          </p:cNvPr>
          <p:cNvSpPr>
            <a:spLocks noGrp="1"/>
          </p:cNvSpPr>
          <p:nvPr/>
        </p:nvSpPr>
        <p:spPr>
          <a:xfrm>
            <a:off x="4324350" y="2047875"/>
            <a:ext cx="3143250" cy="2266950"/>
          </a:xfrm>
          <a:prstGeom prst="rect">
            <a:avLst/>
          </a:prstGeom>
          <a:solidFill>
            <a:srgbClr val="20323D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1B476D6B-3D58-4A45-868B-03C89F60E974}"/>
              </a:ext>
            </a:extLst>
          </p:cNvPr>
          <p:cNvSpPr>
            <a:spLocks noGrp="1"/>
          </p:cNvSpPr>
          <p:nvPr/>
        </p:nvSpPr>
        <p:spPr>
          <a:xfrm>
            <a:off x="4514850" y="2181225"/>
            <a:ext cx="27622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datname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age(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datfrozenxid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xid_age</a:t>
            </a:r>
            <a:endParaRPr sz="1050" b="0" i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pg_database</a:t>
            </a:r>
            <a:endParaRPr sz="1050" b="0" i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ORDER BY </a:t>
            </a:r>
            <a:r>
              <a:rPr sz="1050" b="0" i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xid_age</a:t>
            </a:r>
            <a:r>
              <a:rPr sz="1050" b="0" i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DESC;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F8FABA3A-41F1-40F9-A032-CDF81D64A632}"/>
              </a:ext>
            </a:extLst>
          </p:cNvPr>
          <p:cNvSpPr>
            <a:spLocks noGrp="1"/>
          </p:cNvSpPr>
          <p:nvPr/>
        </p:nvSpPr>
        <p:spPr>
          <a:xfrm>
            <a:off x="7924800" y="17335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POSTĘP VACUUM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7CAD1079-C4AB-4866-93CB-AF0FAAD954FB}"/>
              </a:ext>
            </a:extLst>
          </p:cNvPr>
          <p:cNvSpPr>
            <a:spLocks noGrp="1"/>
          </p:cNvSpPr>
          <p:nvPr/>
        </p:nvSpPr>
        <p:spPr>
          <a:xfrm>
            <a:off x="7924800" y="2047875"/>
            <a:ext cx="3143250" cy="2266950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40027418-5970-4C03-90CB-DC14C748BCF3}"/>
              </a:ext>
            </a:extLst>
          </p:cNvPr>
          <p:cNvSpPr>
            <a:spLocks noGrp="1"/>
          </p:cNvSpPr>
          <p:nvPr/>
        </p:nvSpPr>
        <p:spPr>
          <a:xfrm>
            <a:off x="8115300" y="2181225"/>
            <a:ext cx="27622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pid, relid::regclass,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phase, heap_blks_total,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heap_blks_scanned,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heap_blks_vacuumed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pg_stat_progress_vacuum;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41803301-DDF0-4285-BE27-DF4B7669F873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n_dead_tup i n_live_tup są estymacjami — interpretuj trend, nie pojedynczy odczyt.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3F9A8EF0-E015-442B-88DF-6140E5F9DC63}"/>
              </a:ext>
            </a:extLst>
          </p:cNvPr>
          <p:cNvSpPr>
            <a:spLocks noGrp="1"/>
          </p:cNvSpPr>
          <p:nvPr/>
        </p:nvSpPr>
        <p:spPr>
          <a:xfrm>
            <a:off x="723900" y="5343525"/>
            <a:ext cx="1028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Logowanie: log_autovacuum_min_duration = '1s' — próg dobierz tak, aby uzyskać sygnał bez zalewania logów.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DBE7C5B4-26E6-49B4-A116-D3EB1A4518A8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618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ostokąt 27">
            <a:extLst>
              <a:ext uri="{FF2B5EF4-FFF2-40B4-BE49-F238E27FC236}">
                <a16:creationId xmlns:a16="http://schemas.microsoft.com/office/drawing/2014/main" id="{8ACFB5F7-5F1D-4C1C-B9F7-0A68548E5E22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11 · BLOKERY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CAEDA5CE-5D62-4942-9014-48C000F609D3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Długa transakcja może zatrzymać sprzątanie mimo częstszego VACUUM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1A6861E-117E-4F6D-A4CA-0E5BAD8966C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8F142D3C-0BB1-4CE0-AACF-14B4C7599D69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8B9637CC-28AF-4346-88AD-FA0B6BE03D05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2238375" cy="3810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126CB2C6-80BF-407A-A0F8-722DAEC08C04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otwarty snapshot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6AA0416-36FB-4C0C-A380-240CB8490BD0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stara wersja nadal może być potrzebna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B43DB22-3F79-42A8-8D33-5BEB849A4A2B}"/>
              </a:ext>
            </a:extLst>
          </p:cNvPr>
          <p:cNvSpPr>
            <a:spLocks noGrp="1"/>
          </p:cNvSpPr>
          <p:nvPr/>
        </p:nvSpPr>
        <p:spPr>
          <a:xfrm>
            <a:off x="2962275" y="25908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69A33D99-6491-4DA5-83A5-16C40392BED5}"/>
              </a:ext>
            </a:extLst>
          </p:cNvPr>
          <p:cNvSpPr>
            <a:spLocks noGrp="1"/>
          </p:cNvSpPr>
          <p:nvPr/>
        </p:nvSpPr>
        <p:spPr>
          <a:xfrm>
            <a:off x="3362325" y="1857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A9A2B8F6-216D-4970-904F-31110E95A1AA}"/>
              </a:ext>
            </a:extLst>
          </p:cNvPr>
          <p:cNvSpPr>
            <a:spLocks noGrp="1"/>
          </p:cNvSpPr>
          <p:nvPr/>
        </p:nvSpPr>
        <p:spPr>
          <a:xfrm>
            <a:off x="3362325" y="2457450"/>
            <a:ext cx="2238375" cy="3810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657F23A2-1006-47C6-8CF7-DCD380107A5B}"/>
              </a:ext>
            </a:extLst>
          </p:cNvPr>
          <p:cNvSpPr>
            <a:spLocks noGrp="1"/>
          </p:cNvSpPr>
          <p:nvPr/>
        </p:nvSpPr>
        <p:spPr>
          <a:xfrm>
            <a:off x="3362325" y="26860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UPDATE / DELETE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3F0D645B-D192-4A1E-83D5-5889864DDEDB}"/>
              </a:ext>
            </a:extLst>
          </p:cNvPr>
          <p:cNvSpPr>
            <a:spLocks noGrp="1"/>
          </p:cNvSpPr>
          <p:nvPr/>
        </p:nvSpPr>
        <p:spPr>
          <a:xfrm>
            <a:off x="3362325" y="310515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powstają martwe wersje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7E6853E6-BF81-4842-9349-5BBEE3FA2694}"/>
              </a:ext>
            </a:extLst>
          </p:cNvPr>
          <p:cNvSpPr>
            <a:spLocks noGrp="1"/>
          </p:cNvSpPr>
          <p:nvPr/>
        </p:nvSpPr>
        <p:spPr>
          <a:xfrm>
            <a:off x="5600700" y="25908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ED30A768-3660-46D2-AA11-B5B0E44625FC}"/>
              </a:ext>
            </a:extLst>
          </p:cNvPr>
          <p:cNvSpPr>
            <a:spLocks noGrp="1"/>
          </p:cNvSpPr>
          <p:nvPr/>
        </p:nvSpPr>
        <p:spPr>
          <a:xfrm>
            <a:off x="6000750" y="1857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81B524B1-7D1B-4CFD-9E5A-DC14EB085393}"/>
              </a:ext>
            </a:extLst>
          </p:cNvPr>
          <p:cNvSpPr>
            <a:spLocks noGrp="1"/>
          </p:cNvSpPr>
          <p:nvPr/>
        </p:nvSpPr>
        <p:spPr>
          <a:xfrm>
            <a:off x="6000750" y="2457450"/>
            <a:ext cx="2238375" cy="38100"/>
          </a:xfrm>
          <a:prstGeom prst="rect">
            <a:avLst/>
          </a:prstGeom>
          <a:solidFill>
            <a:srgbClr val="C9574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EBA135E-2F5C-448F-8683-3BDF7D6A6CAA}"/>
              </a:ext>
            </a:extLst>
          </p:cNvPr>
          <p:cNvSpPr>
            <a:spLocks noGrp="1"/>
          </p:cNvSpPr>
          <p:nvPr/>
        </p:nvSpPr>
        <p:spPr>
          <a:xfrm>
            <a:off x="6000750" y="26860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CA3BCA96-CDC2-4FED-8AB4-096B45E306B6}"/>
              </a:ext>
            </a:extLst>
          </p:cNvPr>
          <p:cNvSpPr>
            <a:spLocks noGrp="1"/>
          </p:cNvSpPr>
          <p:nvPr/>
        </p:nvSpPr>
        <p:spPr>
          <a:xfrm>
            <a:off x="6000750" y="310515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nie może ich jeszcze usunąć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48DB772B-7832-444C-9B41-12500C674BCF}"/>
              </a:ext>
            </a:extLst>
          </p:cNvPr>
          <p:cNvSpPr>
            <a:spLocks noGrp="1"/>
          </p:cNvSpPr>
          <p:nvPr/>
        </p:nvSpPr>
        <p:spPr>
          <a:xfrm>
            <a:off x="8239125" y="25908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6396429E-5D69-4E1E-A7F1-2BF238118D03}"/>
              </a:ext>
            </a:extLst>
          </p:cNvPr>
          <p:cNvSpPr>
            <a:spLocks noGrp="1"/>
          </p:cNvSpPr>
          <p:nvPr/>
        </p:nvSpPr>
        <p:spPr>
          <a:xfrm>
            <a:off x="8639175" y="1857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67C34E19-90CC-43CD-B2B5-37ED7C094E89}"/>
              </a:ext>
            </a:extLst>
          </p:cNvPr>
          <p:cNvSpPr>
            <a:spLocks noGrp="1"/>
          </p:cNvSpPr>
          <p:nvPr/>
        </p:nvSpPr>
        <p:spPr>
          <a:xfrm>
            <a:off x="8639175" y="2457450"/>
            <a:ext cx="2238375" cy="3810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294C8F49-3FDE-452E-90B2-FDA35796B92D}"/>
              </a:ext>
            </a:extLst>
          </p:cNvPr>
          <p:cNvSpPr>
            <a:spLocks noGrp="1"/>
          </p:cNvSpPr>
          <p:nvPr/>
        </p:nvSpPr>
        <p:spPr>
          <a:xfrm>
            <a:off x="8639175" y="26860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COMMIT / ROLLBACK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8177011B-90A0-4F2C-B6B4-8894F6FECBA8}"/>
              </a:ext>
            </a:extLst>
          </p:cNvPr>
          <p:cNvSpPr>
            <a:spLocks noGrp="1"/>
          </p:cNvSpPr>
          <p:nvPr/>
        </p:nvSpPr>
        <p:spPr>
          <a:xfrm>
            <a:off x="8639175" y="310515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snapshot znika — cleanup możliwy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44A646A7-8888-4DBE-AAC7-24A8F98E7BD8}"/>
              </a:ext>
            </a:extLst>
          </p:cNvPr>
          <p:cNvSpPr>
            <a:spLocks noGrp="1"/>
          </p:cNvSpPr>
          <p:nvPr/>
        </p:nvSpPr>
        <p:spPr>
          <a:xfrm>
            <a:off x="723900" y="4352925"/>
            <a:ext cx="10287000" cy="1371600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E4CCC967-96EA-4DD8-B150-EDA687826D2E}"/>
              </a:ext>
            </a:extLst>
          </p:cNvPr>
          <p:cNvSpPr>
            <a:spLocks noGrp="1"/>
          </p:cNvSpPr>
          <p:nvPr/>
        </p:nvSpPr>
        <p:spPr>
          <a:xfrm>
            <a:off x="914400" y="4486275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pid, usename, xact_start, query_start,</a:t>
            </a:r>
          </a:p>
          <a:p>
            <a:pPr algn="l">
              <a:def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age(backend_xid), age(backend_xmin), query</a:t>
            </a:r>
          </a:p>
          <a:p>
            <a:pPr algn="l">
              <a:def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pg_stat_activity</a:t>
            </a:r>
          </a:p>
          <a:p>
            <a:pPr algn="l">
              <a:def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WHERE backend_xmin IS NOT NULL OR backend_xid IS NOT NULL;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ABBE5CF3-69F7-4789-ACFF-57E1154F9E2F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Samo zwiększenie częstotliwości VACUUM nie usuwa blokera — najpierw zakończ lub napraw przyczynę starego snapshotu.</a:t>
            </a:r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5F62F41E-A263-41BB-89E2-3E644846DD8D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5359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rostokąt 24">
            <a:extLst>
              <a:ext uri="{FF2B5EF4-FFF2-40B4-BE49-F238E27FC236}">
                <a16:creationId xmlns:a16="http://schemas.microsoft.com/office/drawing/2014/main" id="{871A0E12-933E-43AE-B06E-905CB8B50FE1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12 · TROUBLESHOOTING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3E92CDA1-1E7C-4E55-8BE9-37B52C0CA75D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Rosnące n_dead_tup to objaw, nie diagnoza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8D09A16E-7629-474D-8231-1ED46B4B7EC7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49BDEF15-91A5-4E90-9E72-AE3CB22EA1F8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 i="0">
                <a:solidFill>
                  <a:srgbClr val="C9574F"/>
                </a:solidFill>
                <a:latin typeface="Courier New"/>
                <a:ea typeface="Courier New"/>
                <a:cs typeface="Courier New"/>
              </a:defRPr>
            </a:pPr>
            <a:r>
              <a:rPr sz="4200" b="1" i="0" dirty="0" err="1">
                <a:solidFill>
                  <a:srgbClr val="C9574F"/>
                </a:solidFill>
                <a:latin typeface="Courier New"/>
                <a:ea typeface="Courier New"/>
                <a:cs typeface="Courier New"/>
              </a:rPr>
              <a:t>n_dead_tup</a:t>
            </a:r>
            <a:r>
              <a:rPr sz="4200" b="1" i="0" dirty="0">
                <a:solidFill>
                  <a:srgbClr val="C9574F"/>
                </a:solidFill>
                <a:latin typeface="Courier New"/>
                <a:ea typeface="Courier New"/>
                <a:cs typeface="Courier New"/>
              </a:rPr>
              <a:t> ↑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DB8494C-727D-4200-A0C7-B76ECFC652AC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Zadaj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pytania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w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tej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kolejności</a:t>
            </a:r>
            <a:r>
              <a:rPr sz="15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4E4DD9A9-C80B-4BB3-8A05-F50A04514760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B9800739-13E8-4410-AF52-038BA62DF87D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Czy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próg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jest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zbyt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wysoki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D1CB601-C2A6-4561-9DBC-E56948783ED3}"/>
              </a:ext>
            </a:extLst>
          </p:cNvPr>
          <p:cNvSpPr>
            <a:spLocks noGrp="1"/>
          </p:cNvSpPr>
          <p:nvPr/>
        </p:nvSpPr>
        <p:spPr>
          <a:xfrm>
            <a:off x="5095875" y="2047875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obniż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scale_factor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per-table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D60F1654-106C-422B-BFFE-1C1F5AADC684}"/>
              </a:ext>
            </a:extLst>
          </p:cNvPr>
          <p:cNvSpPr>
            <a:spLocks noGrp="1"/>
          </p:cNvSpPr>
          <p:nvPr/>
        </p:nvSpPr>
        <p:spPr>
          <a:xfrm>
            <a:off x="4572000" y="29146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125" b="1" i="0" dirty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883DDC1-B479-431D-90CB-491E2F1A4106}"/>
              </a:ext>
            </a:extLst>
          </p:cNvPr>
          <p:cNvSpPr>
            <a:spLocks noGrp="1"/>
          </p:cNvSpPr>
          <p:nvPr/>
        </p:nvSpPr>
        <p:spPr>
          <a:xfrm>
            <a:off x="5095875" y="289560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Czy workery są zajęte?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DBC675A-CCA9-4F0B-BAAE-EB321D7E955D}"/>
              </a:ext>
            </a:extLst>
          </p:cNvPr>
          <p:cNvSpPr>
            <a:spLocks noGrp="1"/>
          </p:cNvSpPr>
          <p:nvPr/>
        </p:nvSpPr>
        <p:spPr>
          <a:xfrm>
            <a:off x="5095875" y="3248025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sprawdź max_workers i kolejkę tabel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EB066AF3-CCA7-43B1-85C1-F7905BFDBB10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9E8B3AE-BAFD-473B-BF89-2239C7204B36}"/>
              </a:ext>
            </a:extLst>
          </p:cNvPr>
          <p:cNvSpPr>
            <a:spLocks noGrp="1"/>
          </p:cNvSpPr>
          <p:nvPr/>
        </p:nvSpPr>
        <p:spPr>
          <a:xfrm>
            <a:off x="5095875" y="409575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Czy istnieje stary snapshot?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E0E2B531-A6A0-4C1B-9675-E28357EDBB67}"/>
              </a:ext>
            </a:extLst>
          </p:cNvPr>
          <p:cNvSpPr>
            <a:spLocks noGrp="1"/>
          </p:cNvSpPr>
          <p:nvPr/>
        </p:nvSpPr>
        <p:spPr>
          <a:xfrm>
            <a:off x="5095875" y="4448175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długie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transakcje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repliki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sloty</a:t>
            </a:r>
            <a:endParaRPr sz="1200" b="0" i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E0D21821-A170-410A-9C88-E412E09D8F39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70C11796-2EF5-4D63-9B5E-633CA130EC3A}"/>
              </a:ext>
            </a:extLst>
          </p:cNvPr>
          <p:cNvSpPr>
            <a:spLocks noGrp="1"/>
          </p:cNvSpPr>
          <p:nvPr/>
        </p:nvSpPr>
        <p:spPr>
          <a:xfrm>
            <a:off x="8477250" y="169545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Czy VACUUM jest dławiony?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EC5C558A-4A1F-41C8-9F07-8B24C2B6A2DD}"/>
              </a:ext>
            </a:extLst>
          </p:cNvPr>
          <p:cNvSpPr>
            <a:spLocks noGrp="1"/>
          </p:cNvSpPr>
          <p:nvPr/>
        </p:nvSpPr>
        <p:spPr>
          <a:xfrm>
            <a:off x="8477250" y="2047875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cost delay / limit oraz obciążenie I/O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F5987545-F666-44C8-8AD7-B0FE8CF1ACE3}"/>
              </a:ext>
            </a:extLst>
          </p:cNvPr>
          <p:cNvSpPr>
            <a:spLocks noGrp="1"/>
          </p:cNvSpPr>
          <p:nvPr/>
        </p:nvSpPr>
        <p:spPr>
          <a:xfrm>
            <a:off x="7953375" y="29146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1CCAE261-BE7B-4C3B-AAC2-8321F3A98BDF}"/>
              </a:ext>
            </a:extLst>
          </p:cNvPr>
          <p:cNvSpPr>
            <a:spLocks noGrp="1"/>
          </p:cNvSpPr>
          <p:nvPr/>
        </p:nvSpPr>
        <p:spPr>
          <a:xfrm>
            <a:off x="8477250" y="289560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Czy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problemem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są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indeksy</a:t>
            </a:r>
            <a:r>
              <a:rPr sz="150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ABD980A1-888B-42EC-B871-1FB6C0C49328}"/>
              </a:ext>
            </a:extLst>
          </p:cNvPr>
          <p:cNvSpPr>
            <a:spLocks noGrp="1"/>
          </p:cNvSpPr>
          <p:nvPr/>
        </p:nvSpPr>
        <p:spPr>
          <a:xfrm>
            <a:off x="8477250" y="3248025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oceń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bloat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tabeli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i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indeksów</a:t>
            </a:r>
            <a:endParaRPr sz="1200" b="0" i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474A5F7D-89AC-4258-8868-106EA26471FD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2870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5E045957-47D9-4720-BBA8-3EF64D6D88B3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Jeśli tabela pozostaje duża po zwykłym VACUUM, to zwykle zachowanie prawidłowe: miejsce jest gotowe do reuse wewnątrz pliku.</a:t>
            </a:r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4998854B-2C30-4110-AFC1-417F826C3A2F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4146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>
            <a:extLst>
              <a:ext uri="{FF2B5EF4-FFF2-40B4-BE49-F238E27FC236}">
                <a16:creationId xmlns:a16="http://schemas.microsoft.com/office/drawing/2014/main" id="{2A3C7C90-9469-4F75-8434-3F229A2746C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13 · BLOAT I MIEJSCE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66F67477-7687-4264-A03A-B5BBA1914650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VACUUM FULL to operacja serwisowa, nie codzienna rutyna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E8B190F-F371-46B6-8DA9-B297CFB57A68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A2BE0427-5F19-419F-BBCD-DAC778D3572D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ZWYKŁY VACUUM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F7389197-653B-4807-9CD2-FFB65CB36978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4095750" cy="1762125"/>
          </a:xfrm>
          <a:prstGeom prst="rect">
            <a:avLst/>
          </a:prstGeom>
          <a:solidFill>
            <a:srgbClr val="E5F1E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6FF97325-980A-4741-A912-7D3D1A2D5CF9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762000" cy="1409700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C18CE2C-2BFF-4CFE-A1CC-0C8650D58112}"/>
              </a:ext>
            </a:extLst>
          </p:cNvPr>
          <p:cNvSpPr>
            <a:spLocks noGrp="1"/>
          </p:cNvSpPr>
          <p:nvPr/>
        </p:nvSpPr>
        <p:spPr>
          <a:xfrm>
            <a:off x="1724025" y="2286000"/>
            <a:ext cx="762000" cy="1409700"/>
          </a:xfrm>
          <a:prstGeom prst="rect">
            <a:avLst/>
          </a:prstGeom>
          <a:solidFill>
            <a:srgbClr val="F7F6F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D7FFA6D-5DFE-47DE-961A-E90BBF9E8BEA}"/>
              </a:ext>
            </a:extLst>
          </p:cNvPr>
          <p:cNvSpPr>
            <a:spLocks noGrp="1"/>
          </p:cNvSpPr>
          <p:nvPr/>
        </p:nvSpPr>
        <p:spPr>
          <a:xfrm>
            <a:off x="2552700" y="2286000"/>
            <a:ext cx="762000" cy="1409700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95EF5EB5-72F5-4052-8583-D3215E130AF9}"/>
              </a:ext>
            </a:extLst>
          </p:cNvPr>
          <p:cNvSpPr>
            <a:spLocks noGrp="1"/>
          </p:cNvSpPr>
          <p:nvPr/>
        </p:nvSpPr>
        <p:spPr>
          <a:xfrm>
            <a:off x="3381375" y="2286000"/>
            <a:ext cx="762000" cy="1409700"/>
          </a:xfrm>
          <a:prstGeom prst="rect">
            <a:avLst/>
          </a:prstGeom>
          <a:solidFill>
            <a:srgbClr val="F7F6F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757F4E78-3C96-4FBF-944F-9AAA7A9F8C2D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plik zwykle bez zmian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4445A49-D08D-4818-8910-6A4D5A7FF814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wolne strony gotowe do ponownego użycia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F2679C2D-B246-4C5A-8AE6-9EBF007DEB20}"/>
              </a:ext>
            </a:extLst>
          </p:cNvPr>
          <p:cNvSpPr>
            <a:spLocks noGrp="1"/>
          </p:cNvSpPr>
          <p:nvPr/>
        </p:nvSpPr>
        <p:spPr>
          <a:xfrm>
            <a:off x="5210175" y="2752725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≠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F573AFF4-EEF3-41D9-AB36-54FEC2D503B3}"/>
              </a:ext>
            </a:extLst>
          </p:cNvPr>
          <p:cNvSpPr>
            <a:spLocks noGrp="1"/>
          </p:cNvSpPr>
          <p:nvPr/>
        </p:nvSpPr>
        <p:spPr>
          <a:xfrm>
            <a:off x="6362700" y="1752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VACUUM FULL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3DB87ED7-3FF6-45C6-8C22-A2227C7C218D}"/>
              </a:ext>
            </a:extLst>
          </p:cNvPr>
          <p:cNvSpPr>
            <a:spLocks noGrp="1"/>
          </p:cNvSpPr>
          <p:nvPr/>
        </p:nvSpPr>
        <p:spPr>
          <a:xfrm>
            <a:off x="6362700" y="2105025"/>
            <a:ext cx="4095750" cy="1762125"/>
          </a:xfrm>
          <a:prstGeom prst="rect">
            <a:avLst/>
          </a:prstGeom>
          <a:solidFill>
            <a:srgbClr val="F7ECD9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79C7F245-1981-4DAE-B2AE-92B216863A43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1762125" cy="1409700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6E8B2BE-89E9-49E0-915F-E887E4FD0959}"/>
              </a:ext>
            </a:extLst>
          </p:cNvPr>
          <p:cNvSpPr>
            <a:spLocks noGrp="1"/>
          </p:cNvSpPr>
          <p:nvPr/>
        </p:nvSpPr>
        <p:spPr>
          <a:xfrm>
            <a:off x="6362700" y="4019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kompaktuje i przepisuje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AEF82E68-F70B-46B8-BD10-435FC5B51C2B}"/>
              </a:ext>
            </a:extLst>
          </p:cNvPr>
          <p:cNvSpPr>
            <a:spLocks noGrp="1"/>
          </p:cNvSpPr>
          <p:nvPr/>
        </p:nvSpPr>
        <p:spPr>
          <a:xfrm>
            <a:off x="6362700" y="4362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ACCESS EXCLUSIVE + dodatkowe miejsce + okno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9B37D2C7-EF29-4E70-BA0A-8241BAC17DAC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BF12AD39-B8DE-4F70-A7BD-023590DFF637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019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Alternatywy zależne od sytuacji: TRUNCATE przy usuwaniu całości lub narzędzie reorganizujące online, np. pg_repack.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E38F332D-5DCA-4975-9443-D84FACBF3434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4195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rostokąt 28">
            <a:extLst>
              <a:ext uri="{FF2B5EF4-FFF2-40B4-BE49-F238E27FC236}">
                <a16:creationId xmlns:a16="http://schemas.microsoft.com/office/drawing/2014/main" id="{E8F0A386-59C0-4881-AF26-3EB8B032E6CE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14 · RUNBOOK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F0E3034-B528-467E-A42D-5ACE29E065A3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Operator działa według sygnałów, nie sztywnego kalendarza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CEBE2F9-17D4-4D9B-8927-28F64CEA0B0B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1AF65FC2-34A7-4A6F-9E03-54AD8D44C78F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C555794A-E094-4169-AD3D-649FB71CCBF8}"/>
              </a:ext>
            </a:extLst>
          </p:cNvPr>
          <p:cNvSpPr>
            <a:spLocks noGrp="1"/>
          </p:cNvSpPr>
          <p:nvPr/>
        </p:nvSpPr>
        <p:spPr>
          <a:xfrm>
            <a:off x="1276350" y="18573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98349736-A70D-4629-894D-13441CCD84F7}"/>
              </a:ext>
            </a:extLst>
          </p:cNvPr>
          <p:cNvSpPr>
            <a:spLocks noGrp="1"/>
          </p:cNvSpPr>
          <p:nvPr/>
        </p:nvSpPr>
        <p:spPr>
          <a:xfrm>
            <a:off x="1771650" y="17049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Autovacuum i track_counts są włączone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00CB76F-B957-4C38-9462-0BC9323373C2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E09FCF0D-4BAE-4EB3-8C18-19ED33931444}"/>
              </a:ext>
            </a:extLst>
          </p:cNvPr>
          <p:cNvSpPr>
            <a:spLocks noGrp="1"/>
          </p:cNvSpPr>
          <p:nvPr/>
        </p:nvSpPr>
        <p:spPr>
          <a:xfrm>
            <a:off x="1276350" y="28098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F95FA878-8791-4871-B4F4-27CD9F96E7FA}"/>
              </a:ext>
            </a:extLst>
          </p:cNvPr>
          <p:cNvSpPr>
            <a:spLocks noGrp="1"/>
          </p:cNvSpPr>
          <p:nvPr/>
        </p:nvSpPr>
        <p:spPr>
          <a:xfrm>
            <a:off x="1771650" y="26574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Największe tabele: dead tuples, tempo zmian, ostatni vacuum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CEAD80DA-EEF7-45C7-BD47-178DB1AE54CB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AAE16D0-2A47-430A-B29D-45D21070E83F}"/>
              </a:ext>
            </a:extLst>
          </p:cNvPr>
          <p:cNvSpPr>
            <a:spLocks noGrp="1"/>
          </p:cNvSpPr>
          <p:nvPr/>
        </p:nvSpPr>
        <p:spPr>
          <a:xfrm>
            <a:off x="1276350" y="37623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6FF77DD5-4C1E-41C5-8677-A47777BCF9A5}"/>
              </a:ext>
            </a:extLst>
          </p:cNvPr>
          <p:cNvSpPr>
            <a:spLocks noGrp="1"/>
          </p:cNvSpPr>
          <p:nvPr/>
        </p:nvSpPr>
        <p:spPr>
          <a:xfrm>
            <a:off x="1771650" y="36099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Statystyki planera: last_analyze i plany EXPLAIN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9E93EBD9-D8C5-4026-9F8F-8E811D2A5BB7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D8D1E496-1F67-4060-8C18-586C970177D8}"/>
              </a:ext>
            </a:extLst>
          </p:cNvPr>
          <p:cNvSpPr>
            <a:spLocks noGrp="1"/>
          </p:cNvSpPr>
          <p:nvPr/>
        </p:nvSpPr>
        <p:spPr>
          <a:xfrm>
            <a:off x="1276350" y="47148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6A1005C1-2117-4581-BEDF-ECF66DFA7DF5}"/>
              </a:ext>
            </a:extLst>
          </p:cNvPr>
          <p:cNvSpPr>
            <a:spLocks noGrp="1"/>
          </p:cNvSpPr>
          <p:nvPr/>
        </p:nvSpPr>
        <p:spPr>
          <a:xfrm>
            <a:off x="1771650" y="45624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Wiek XID / </a:t>
            </a:r>
            <a:r>
              <a:rPr sz="1500" b="0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multixact</a:t>
            </a:r>
            <a:r>
              <a:rPr sz="1500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i </a:t>
            </a:r>
            <a:r>
              <a:rPr sz="1500" b="0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działania</a:t>
            </a:r>
            <a:r>
              <a:rPr sz="1500" b="0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anti-wraparound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18C7575-AF11-4CDE-ADF0-946044A07453}"/>
              </a:ext>
            </a:extLst>
          </p:cNvPr>
          <p:cNvSpPr>
            <a:spLocks noGrp="1"/>
          </p:cNvSpPr>
          <p:nvPr/>
        </p:nvSpPr>
        <p:spPr>
          <a:xfrm>
            <a:off x="6153150" y="1733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AAFC4986-5004-47DB-8913-8B6FB2BE494A}"/>
              </a:ext>
            </a:extLst>
          </p:cNvPr>
          <p:cNvSpPr>
            <a:spLocks noGrp="1"/>
          </p:cNvSpPr>
          <p:nvPr/>
        </p:nvSpPr>
        <p:spPr>
          <a:xfrm>
            <a:off x="6705600" y="18573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DD153CBA-805E-42AC-8216-E9F80F3C75E0}"/>
              </a:ext>
            </a:extLst>
          </p:cNvPr>
          <p:cNvSpPr>
            <a:spLocks noGrp="1"/>
          </p:cNvSpPr>
          <p:nvPr/>
        </p:nvSpPr>
        <p:spPr>
          <a:xfrm>
            <a:off x="7200900" y="17049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Długie transakcje, blokady, repliki i sloty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5556D721-3EA2-4FB2-9939-0CD5E0AC3D6C}"/>
              </a:ext>
            </a:extLst>
          </p:cNvPr>
          <p:cNvSpPr>
            <a:spLocks noGrp="1"/>
          </p:cNvSpPr>
          <p:nvPr/>
        </p:nvSpPr>
        <p:spPr>
          <a:xfrm>
            <a:off x="6153150" y="2686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72570A5B-A5FF-4F60-B23D-7D719E55ECF8}"/>
              </a:ext>
            </a:extLst>
          </p:cNvPr>
          <p:cNvSpPr>
            <a:spLocks noGrp="1"/>
          </p:cNvSpPr>
          <p:nvPr/>
        </p:nvSpPr>
        <p:spPr>
          <a:xfrm>
            <a:off x="6705600" y="28098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B30FD20D-C598-404B-B53D-CE49B7C36FE1}"/>
              </a:ext>
            </a:extLst>
          </p:cNvPr>
          <p:cNvSpPr>
            <a:spLocks noGrp="1"/>
          </p:cNvSpPr>
          <p:nvPr/>
        </p:nvSpPr>
        <p:spPr>
          <a:xfrm>
            <a:off x="7200900" y="26574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Bloat tabel i indeksów — osobno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436D7D65-DD45-4889-911C-7AEC4DAE03C7}"/>
              </a:ext>
            </a:extLst>
          </p:cNvPr>
          <p:cNvSpPr>
            <a:spLocks noGrp="1"/>
          </p:cNvSpPr>
          <p:nvPr/>
        </p:nvSpPr>
        <p:spPr>
          <a:xfrm>
            <a:off x="6153150" y="3638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5076E01F-CB36-4BD5-BE39-1903F1C16EEF}"/>
              </a:ext>
            </a:extLst>
          </p:cNvPr>
          <p:cNvSpPr>
            <a:spLocks noGrp="1"/>
          </p:cNvSpPr>
          <p:nvPr/>
        </p:nvSpPr>
        <p:spPr>
          <a:xfrm>
            <a:off x="6705600" y="3762375"/>
            <a:ext cx="342900" cy="2857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36C58D0A-4CC5-45AA-9F48-8769A2FD515C}"/>
              </a:ext>
            </a:extLst>
          </p:cNvPr>
          <p:cNvSpPr>
            <a:spLocks noGrp="1"/>
          </p:cNvSpPr>
          <p:nvPr/>
        </p:nvSpPr>
        <p:spPr>
          <a:xfrm>
            <a:off x="7200900" y="360997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 imporcie lub zmianie rozkładu: ANALYZE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A59CC63C-DB28-4BEA-807B-A37BBF139D72}"/>
              </a:ext>
            </a:extLst>
          </p:cNvPr>
          <p:cNvSpPr>
            <a:spLocks noGrp="1"/>
          </p:cNvSpPr>
          <p:nvPr/>
        </p:nvSpPr>
        <p:spPr>
          <a:xfrm>
            <a:off x="6153150" y="4886325"/>
            <a:ext cx="4762500" cy="28575"/>
          </a:xfrm>
          <a:prstGeom prst="rect">
            <a:avLst/>
          </a:prstGeom>
          <a:solidFill>
            <a:srgbClr val="E59B34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A67638C1-A3DF-4E26-9F5C-E35DBD13A377}"/>
              </a:ext>
            </a:extLst>
          </p:cNvPr>
          <p:cNvSpPr>
            <a:spLocks noGrp="1"/>
          </p:cNvSpPr>
          <p:nvPr/>
        </p:nvSpPr>
        <p:spPr>
          <a:xfrm>
            <a:off x="6153150" y="512445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Zmieniaj globalne parametry ostrożnie. Najpierw dostrój kilka tabel o najwyższej rotacji danych.</a:t>
            </a:r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A9E9423C-1C14-4A60-9B92-356FD136E924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99563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stokąt 19">
            <a:extLst>
              <a:ext uri="{FF2B5EF4-FFF2-40B4-BE49-F238E27FC236}">
                <a16:creationId xmlns:a16="http://schemas.microsoft.com/office/drawing/2014/main" id="{268FCD47-AF49-4998-B42C-C34455523672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15 · ĆWICZENIE 1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6330DBC9-B383-447E-BD2B-579D05AC9648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Laboratorium: dead tuples przed i po VACUUM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86A02F44-6326-4051-B378-9BC7E8EE69C3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E79FCA4-D208-43F6-B51E-03471E8896C2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6762750" cy="2524125"/>
          </a:xfrm>
          <a:prstGeom prst="rect">
            <a:avLst/>
          </a:prstGeom>
          <a:solidFill>
            <a:srgbClr val="101A22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106358A-C890-4814-92DF-894430D8B921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6381750" cy="2295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CREATE TABLE vacuum_demo (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id bigint GENERATED ALWAYS AS IDENTITY PRIMARY KEY,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payload text, status text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INSERT INTO vacuum_demo(payload,status)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repeat('x',500),'new' FROM generate_series(1,100000);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UPDATE vacuum_demo SET status='processed' WHERE id % 3 = 0;</a:t>
            </a:r>
          </a:p>
          <a:p>
            <a:pPr algn="l">
              <a:def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DELETE FROM vacuum_demo WHERE id % 10 = 0;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523F0461-EE4B-4567-8F02-F42564D37687}"/>
              </a:ext>
            </a:extLst>
          </p:cNvPr>
          <p:cNvSpPr>
            <a:spLocks noGrp="1"/>
          </p:cNvSpPr>
          <p:nvPr/>
        </p:nvSpPr>
        <p:spPr>
          <a:xfrm>
            <a:off x="7953375" y="17621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E9B9920F-6B99-4F20-8F75-1DA04C9BC9E1}"/>
              </a:ext>
            </a:extLst>
          </p:cNvPr>
          <p:cNvSpPr>
            <a:spLocks noGrp="1"/>
          </p:cNvSpPr>
          <p:nvPr/>
        </p:nvSpPr>
        <p:spPr>
          <a:xfrm>
            <a:off x="8496300" y="17621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Pomiar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10F1E19-6F26-4B05-AB61-7EBC019A84C3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pg_stat_user_tables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przed</a:t>
            </a:r>
            <a:endParaRPr sz="1200" b="0" i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AFA970A-F3B8-4427-9CB5-6BFCBEF23A4D}"/>
              </a:ext>
            </a:extLst>
          </p:cNvPr>
          <p:cNvSpPr>
            <a:spLocks noGrp="1"/>
          </p:cNvSpPr>
          <p:nvPr/>
        </p:nvSpPr>
        <p:spPr>
          <a:xfrm>
            <a:off x="7953375" y="28289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4BDF883C-CC1D-4B13-A105-D6652AA1FF9F}"/>
              </a:ext>
            </a:extLst>
          </p:cNvPr>
          <p:cNvSpPr>
            <a:spLocks noGrp="1"/>
          </p:cNvSpPr>
          <p:nvPr/>
        </p:nvSpPr>
        <p:spPr>
          <a:xfrm>
            <a:off x="8496300" y="28289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Sprzątanie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6052EB85-FAA4-4FF7-A304-CAB9D5B5A41B}"/>
              </a:ext>
            </a:extLst>
          </p:cNvPr>
          <p:cNvSpPr>
            <a:spLocks noGrp="1"/>
          </p:cNvSpPr>
          <p:nvPr/>
        </p:nvSpPr>
        <p:spPr>
          <a:xfrm>
            <a:off x="8496300" y="31623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dirty="0">
                <a:solidFill>
                  <a:srgbClr val="65717A"/>
                </a:solidFill>
                <a:latin typeface="Courier New"/>
                <a:ea typeface="Courier New"/>
                <a:cs typeface="Courier New"/>
              </a:rPr>
              <a:t>VACUUM (VERBOSE, ANALYZE)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FAB66851-9248-4FA4-96E6-4C07FE4264A4}"/>
              </a:ext>
            </a:extLst>
          </p:cNvPr>
          <p:cNvSpPr>
            <a:spLocks noGrp="1"/>
          </p:cNvSpPr>
          <p:nvPr/>
        </p:nvSpPr>
        <p:spPr>
          <a:xfrm>
            <a:off x="7953375" y="38957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71D7F2B2-7CAC-4121-AF6E-38127365FEC5}"/>
              </a:ext>
            </a:extLst>
          </p:cNvPr>
          <p:cNvSpPr>
            <a:spLocks noGrp="1"/>
          </p:cNvSpPr>
          <p:nvPr/>
        </p:nvSpPr>
        <p:spPr>
          <a:xfrm>
            <a:off x="8496300" y="38957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Porównanie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CCD9C5F6-2D90-45ED-B3C5-4F2E6E98A6AE}"/>
              </a:ext>
            </a:extLst>
          </p:cNvPr>
          <p:cNvSpPr>
            <a:spLocks noGrp="1"/>
          </p:cNvSpPr>
          <p:nvPr/>
        </p:nvSpPr>
        <p:spPr>
          <a:xfrm>
            <a:off x="8496300" y="42291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n_dead_tup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i </a:t>
            </a:r>
            <a:r>
              <a:rPr sz="1200" b="0" i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raport</a:t>
            </a:r>
            <a:r>
              <a:rPr sz="1200" b="0" i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verbose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420F2F25-B1F6-4D28-800C-DFFF4E26352A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102870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B72AE2BA-94BB-4C35-A6B1-2D8FBAE326AA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Oczekiwana obserwacja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09F39F23-C36B-4C47-A3C2-C92B43DC0962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dead tuples rosną po UPDATE/DELETE, a po VACUUM ich miejsce staje się możliwe do ponownego użycia; rozmiar pliku nie musi spaść.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0355EC8C-1FFB-41D1-94F0-57EBB9E05592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89634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ostokąt 20">
            <a:extLst>
              <a:ext uri="{FF2B5EF4-FFF2-40B4-BE49-F238E27FC236}">
                <a16:creationId xmlns:a16="http://schemas.microsoft.com/office/drawing/2014/main" id="{CD03320D-6873-41FE-8423-FD2F9AC2E4F4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16 · ĆWICZENIA 2–4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62D835A5-2685-4D7A-B5CB-BFC8273C8BAC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Trzy eksperymenty utrwalają decyzje operacyjne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B7FD600-12D0-44B1-9D00-C63DD44F4403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D47F628C-CB00-41C3-955F-3941C8F22141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33679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CAEBADEB-513B-4D1E-B57C-667B86A1F09F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3048000" cy="47625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37E3D0AF-F0AA-47EA-B1CC-9369B23B113D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 vs FULL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FC7109E-E5F8-4B2F-9A58-AFFCF3A5C69B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Zapisz rozmiar → DELETE większości → zwykły VACUUM → testowo FULL. Porównaj rozmiar, czas i blokady.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6552F760-9953-4676-8368-6532EA92BD64}"/>
              </a:ext>
            </a:extLst>
          </p:cNvPr>
          <p:cNvSpPr>
            <a:spLocks noGrp="1"/>
          </p:cNvSpPr>
          <p:nvPr/>
        </p:nvSpPr>
        <p:spPr>
          <a:xfrm>
            <a:off x="4248150" y="17907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B02F9D1-49A6-4D04-8BE9-062E9CCC03C0}"/>
              </a:ext>
            </a:extLst>
          </p:cNvPr>
          <p:cNvSpPr>
            <a:spLocks noGrp="1"/>
          </p:cNvSpPr>
          <p:nvPr/>
        </p:nvSpPr>
        <p:spPr>
          <a:xfrm>
            <a:off x="4248150" y="2400300"/>
            <a:ext cx="3048000" cy="47625"/>
          </a:xfrm>
          <a:prstGeom prst="rect">
            <a:avLst/>
          </a:prstGeom>
          <a:solidFill>
            <a:srgbClr val="168B88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1A9E798-38B3-427D-916A-1944B78716E0}"/>
              </a:ext>
            </a:extLst>
          </p:cNvPr>
          <p:cNvSpPr>
            <a:spLocks noGrp="1"/>
          </p:cNvSpPr>
          <p:nvPr/>
        </p:nvSpPr>
        <p:spPr>
          <a:xfrm>
            <a:off x="4248150" y="26479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Próg autovacuum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574BB1D7-8397-4881-A8BB-206BF71A55D2}"/>
              </a:ext>
            </a:extLst>
          </p:cNvPr>
          <p:cNvSpPr>
            <a:spLocks noGrp="1"/>
          </p:cNvSpPr>
          <p:nvPr/>
        </p:nvSpPr>
        <p:spPr>
          <a:xfrm>
            <a:off x="4248150" y="3381375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Dla 1 mln wierszy policz próg dla 0,20 i 0,02. Wynik: 200 050 vs 20 050 zmian.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227275F2-287B-493C-96E8-72CBAD93FC00}"/>
              </a:ext>
            </a:extLst>
          </p:cNvPr>
          <p:cNvSpPr>
            <a:spLocks noGrp="1"/>
          </p:cNvSpPr>
          <p:nvPr/>
        </p:nvSpPr>
        <p:spPr>
          <a:xfrm>
            <a:off x="7772400" y="17907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C9574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F2E11C7A-42A7-4BD1-A50B-87A278998CC1}"/>
              </a:ext>
            </a:extLst>
          </p:cNvPr>
          <p:cNvSpPr>
            <a:spLocks noGrp="1"/>
          </p:cNvSpPr>
          <p:nvPr/>
        </p:nvSpPr>
        <p:spPr>
          <a:xfrm>
            <a:off x="7772400" y="2400300"/>
            <a:ext cx="3048000" cy="47625"/>
          </a:xfrm>
          <a:prstGeom prst="rect">
            <a:avLst/>
          </a:prstGeom>
          <a:solidFill>
            <a:srgbClr val="C9574F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4A0290E2-15A7-47D4-A696-3B6B51C8DB1D}"/>
              </a:ext>
            </a:extLst>
          </p:cNvPr>
          <p:cNvSpPr>
            <a:spLocks noGrp="1"/>
          </p:cNvSpPr>
          <p:nvPr/>
        </p:nvSpPr>
        <p:spPr>
          <a:xfrm>
            <a:off x="7772400" y="26479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Długa transakcja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EF8EFFD8-8FCE-430F-AEDE-65D9B0165D9D}"/>
              </a:ext>
            </a:extLst>
          </p:cNvPr>
          <p:cNvSpPr>
            <a:spLocks noGrp="1"/>
          </p:cNvSpPr>
          <p:nvPr/>
        </p:nvSpPr>
        <p:spPr>
          <a:xfrm>
            <a:off x="7772400" y="3381375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7A"/>
                </a:solidFill>
                <a:latin typeface="Aptos"/>
                <a:ea typeface="Aptos"/>
                <a:cs typeface="Aptos"/>
              </a:rPr>
              <a:t>Zostaw snapshot otwarty, wykonaj UPDATE/DELETE w drugiej sesji, obserwuj statystyki, zakończ transakcję i ponów VACUUM.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47B0CE42-68C9-47B2-B087-A2C995358287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1019175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4FDEFA03-0FA4-4313-A2E6-7A791D9726E0}"/>
              </a:ext>
            </a:extLst>
          </p:cNvPr>
          <p:cNvSpPr>
            <a:spLocks noGrp="1"/>
          </p:cNvSpPr>
          <p:nvPr/>
        </p:nvSpPr>
        <p:spPr>
          <a:xfrm>
            <a:off x="723900" y="5495925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Debrief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5C253457-1147-4888-872A-7FCD65F30059}"/>
              </a:ext>
            </a:extLst>
          </p:cNvPr>
          <p:cNvSpPr>
            <a:spLocks noGrp="1"/>
          </p:cNvSpPr>
          <p:nvPr/>
        </p:nvSpPr>
        <p:spPr>
          <a:xfrm>
            <a:off x="1952625" y="5476875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Co zmieniło się w statystykach? Co nie zmieniło się na dysku? Który parametr lub blocker wyjaśnia wynik?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C49E7F92-0A62-4671-848F-FDFE3753E069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562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ostokąt 23">
            <a:extLst>
              <a:ext uri="{FF2B5EF4-FFF2-40B4-BE49-F238E27FC236}">
                <a16:creationId xmlns:a16="http://schemas.microsoft.com/office/drawing/2014/main" id="{4A425015-3051-4A2D-BFFA-158D37F55E3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PODSUMOWANIE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54C156F-7AA2-4F18-BCBB-CB5FA1B73FF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Siedem zasad bezpiecznego VACUUM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C886E1F5-5065-4A0D-938C-F80215636D17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D5D8D5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A3D61EB-9338-4FA2-8FE5-B96726DD05D7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F7CCA63-3C38-49A2-9459-E633006B7777}"/>
              </a:ext>
            </a:extLst>
          </p:cNvPr>
          <p:cNvSpPr>
            <a:spLocks noGrp="1"/>
          </p:cNvSpPr>
          <p:nvPr/>
        </p:nvSpPr>
        <p:spPr>
          <a:xfrm>
            <a:off x="1390650" y="1666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Autovacuum pozostaje włączone.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F1D1217A-ED71-4336-A114-4EBFFA2079C8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1DD6FC2-A109-46D8-AF68-4F381B6E7917}"/>
              </a:ext>
            </a:extLst>
          </p:cNvPr>
          <p:cNvSpPr>
            <a:spLocks noGrp="1"/>
          </p:cNvSpPr>
          <p:nvPr/>
        </p:nvSpPr>
        <p:spPr>
          <a:xfrm>
            <a:off x="1390650" y="26193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Dead tuples są skutkiem MVCC, nie błędem.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2F7F510E-F59E-4DB6-ADA0-0116F7A11290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D1346149-349B-4CB5-A10C-8DB3152A3BF2}"/>
              </a:ext>
            </a:extLst>
          </p:cNvPr>
          <p:cNvSpPr>
            <a:spLocks noGrp="1"/>
          </p:cNvSpPr>
          <p:nvPr/>
        </p:nvSpPr>
        <p:spPr>
          <a:xfrm>
            <a:off x="1390650" y="3571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Zwykły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VACUUM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daje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reuse —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zwykle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nie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kurczy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pliku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D90E6CB6-EEC9-4340-A15B-033A86E3F7EC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455E412-4E51-4981-A130-696336265E77}"/>
              </a:ext>
            </a:extLst>
          </p:cNvPr>
          <p:cNvSpPr>
            <a:spLocks noGrp="1"/>
          </p:cNvSpPr>
          <p:nvPr/>
        </p:nvSpPr>
        <p:spPr>
          <a:xfrm>
            <a:off x="1390650" y="45243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VACUUM ANALYZE po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dużej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zmianie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danych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7A1A8174-697C-4B1C-9BF8-2775D44548AA}"/>
              </a:ext>
            </a:extLst>
          </p:cNvPr>
          <p:cNvSpPr>
            <a:spLocks noGrp="1"/>
          </p:cNvSpPr>
          <p:nvPr/>
        </p:nvSpPr>
        <p:spPr>
          <a:xfrm>
            <a:off x="6191250" y="16954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05E06A78-118A-436F-91BB-D245C729616F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Duże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tabele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dostrajaj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per-table.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E489B137-36B2-4C42-9096-0EBA942B4171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B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C566D5BD-AD8D-49AC-9CBC-1D03CC313048}"/>
              </a:ext>
            </a:extLst>
          </p:cNvPr>
          <p:cNvSpPr>
            <a:spLocks noGrp="1"/>
          </p:cNvSpPr>
          <p:nvPr/>
        </p:nvSpPr>
        <p:spPr>
          <a:xfrm>
            <a:off x="6858000" y="26193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"/>
                <a:ea typeface="Aptos"/>
                <a:cs typeface="Aptos"/>
              </a:defRPr>
            </a:pP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Monitoruj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XID, </a:t>
            </a:r>
            <a:r>
              <a:rPr sz="1650" b="1" i="0">
                <a:solidFill>
                  <a:srgbClr val="15212B"/>
                </a:solidFill>
                <a:latin typeface="Aptos"/>
                <a:ea typeface="Aptos"/>
                <a:cs typeface="Aptos"/>
              </a:rPr>
              <a:t>postęp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 i stare </a:t>
            </a:r>
            <a:r>
              <a:rPr sz="1650" b="1" i="0" dirty="0" err="1">
                <a:solidFill>
                  <a:srgbClr val="15212B"/>
                </a:solidFill>
                <a:latin typeface="Aptos"/>
                <a:ea typeface="Aptos"/>
                <a:cs typeface="Aptos"/>
              </a:rPr>
              <a:t>snapshoty</a:t>
            </a:r>
            <a:r>
              <a:rPr sz="1650" b="1" i="0" dirty="0">
                <a:solidFill>
                  <a:srgbClr val="15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8291905D-EDCB-4EED-BAD6-28A936589AEC}"/>
              </a:ext>
            </a:extLst>
          </p:cNvPr>
          <p:cNvSpPr>
            <a:spLocks noGrp="1"/>
          </p:cNvSpPr>
          <p:nvPr/>
        </p:nvSpPr>
        <p:spPr>
          <a:xfrm>
            <a:off x="6191250" y="36004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B8F4C11D-51FB-4F98-A06F-6ECD58EE63A4}"/>
              </a:ext>
            </a:extLst>
          </p:cNvPr>
          <p:cNvSpPr>
            <a:spLocks noGrp="1"/>
          </p:cNvSpPr>
          <p:nvPr/>
        </p:nvSpPr>
        <p:spPr>
          <a:xfrm>
            <a:off x="6858000" y="3571875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C9574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C9574F"/>
                </a:solidFill>
                <a:latin typeface="Aptos"/>
                <a:ea typeface="Aptos"/>
                <a:cs typeface="Aptos"/>
              </a:rPr>
              <a:t>VACUUM FULL tylko po analizie i w oknie.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07B6624-D416-4328-A4EE-2AC05F5EE9D9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762500" cy="28575"/>
          </a:xfrm>
          <a:prstGeom prst="rect">
            <a:avLst/>
          </a:prstGeom>
          <a:solidFill>
            <a:srgbClr val="336791"/>
          </a:solidFill>
          <a:ln w="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7076CBD5-3AC9-43F6-82DE-F4693A89F7C3}"/>
              </a:ext>
            </a:extLst>
          </p:cNvPr>
          <p:cNvSpPr>
            <a:spLocks noGrp="1"/>
          </p:cNvSpPr>
          <p:nvPr/>
        </p:nvSpPr>
        <p:spPr>
          <a:xfrm>
            <a:off x="6191250" y="5124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Najważniejsza praktyka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A6A6011C-BB9A-478C-9E61-7CCD8E06E0FC}"/>
              </a:ext>
            </a:extLst>
          </p:cNvPr>
          <p:cNvSpPr>
            <a:spLocks noGrp="1"/>
          </p:cNvSpPr>
          <p:nvPr/>
        </p:nvSpPr>
        <p:spPr>
          <a:xfrm>
            <a:off x="6191250" y="54673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5212B"/>
                </a:solidFill>
                <a:latin typeface="Aptos Display"/>
                <a:ea typeface="Aptos Display"/>
                <a:cs typeface="Aptos Display"/>
              </a:rPr>
              <a:t>Reaguj na pomiary i charakterystykę tabeli — nie na kalendarz.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487122A5-99E7-4049-8088-EF431427414F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33679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3679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0728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1782</Words>
  <Application>Microsoft Office PowerPoint</Application>
  <PresentationFormat>Panoramiczny</PresentationFormat>
  <Paragraphs>349</Paragraphs>
  <Slides>19</Slides>
  <Notes>19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Courier New</vt:lpstr>
      <vt:lpstr>ChatGPT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Przemyslaw Starosta</dc:creator>
  <cp:lastModifiedBy>Przemyslaw Starosta</cp:lastModifiedBy>
  <cp:revision>1</cp:revision>
  <dcterms:created xsi:type="dcterms:W3CDTF">2026-09-18T05:23:47Z</dcterms:created>
  <dcterms:modified xsi:type="dcterms:W3CDTF">2026-09-18T09:47:04Z</dcterms:modified>
</cp:coreProperties>
</file>