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89186" autoAdjust="0"/>
  </p:normalViewPr>
  <p:slideViewPr>
    <p:cSldViewPr snapToGrid="0">
      <p:cViewPr varScale="1">
        <p:scale>
          <a:sx n="110" d="100"/>
          <a:sy n="110" d="100"/>
        </p:scale>
        <p:origin x="89"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2089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1. Po co są blokady i jak o nich myśleć.</a:t>
            </a:r>
          </a:p>
          <a:p>
            <a:endParaRPr/>
          </a:p>
          <a:p>
            <a:r>
              <a:t>PostgreSQL ma trzy rodzaje blokad widocznych dla administratora: **blokady tabel** (8 trybów), **blokady wierszy** (4 tryby) i **blokady doradcze** (advisory). Do tego dochodzą blokady stron oraz lekkie blokady wewnętrzne (LWLock), które nie są przedmiotem tego materiału.  </a:t>
            </a:r>
          </a:p>
          <a:p>
            <a:r>
              <a:t>Większość konfliktów, które znamy z innych systemów, w PostgreSQL nie występuje dzięki MVCC: **odczyt nigdy nie blokuje zapisu, a zapis nie blokuje odczytu**. Blokady rozstrzygają głównie trzy rodzaje konfliktów: zapis z zapisem tego samego wiersza, DML z DDL oraz DDL i operacje utrzymaniowe między sobą.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1. Po co są blokady i jak o nich myśleć.</a:t>
            </a:r>
          </a:p>
          <a:p>
            <a:endParaRPr/>
          </a:p>
          <a:p>
            <a:r>
              <a:t>PostgreSQL ma trzy rodzaje blokad widocznych dla administratora: **blokady tabel** (8 trybów), **blokady wierszy** (4 tryby) i **blokady doradcze** (advisory). Do tego dochodzą blokady stron oraz lekkie blokady wewnętrzne (LWLock), które nie są przedmiotem tego materiału.  </a:t>
            </a:r>
          </a:p>
          <a:p>
            <a:r>
              <a:t>Większość konfliktów, które znamy z innych systemów, w PostgreSQL nie występuje dzięki MVCC: **odczyt nigdy nie blokuje zapisu, a zapis nie blokuje odczytu**. Blokady rozstrzygają głównie trzy rodzaje konfliktów: zapis z zapisem tego samego wiersza, DML z DDL oraz DDL i operacje utrzymaniowe między sobą.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1. Po co są blokady i jak o nich myśleć.</a:t>
            </a:r>
          </a:p>
          <a:p>
            <a:endParaRPr/>
          </a:p>
          <a:p>
            <a:r>
              <a:t>PostgreSQL ma trzy rodzaje blokad widocznych dla administratora: **blokady tabel** (8 trybów), **blokady wierszy** (4 tryby) i **blokady doradcze** (advisory). Do tego dochodzą blokady stron oraz lekkie blokady wewnętrzne (LWLock), które nie są przedmiotem tego materiału.  </a:t>
            </a:r>
          </a:p>
          <a:p>
            <a:r>
              <a:t>Większość konfliktów, które znamy z innych systemów, w PostgreSQL nie występuje dzięki MVCC: **odczyt nigdy nie blokuje zapisu, a zapis nie blokuje odczytu**. Blokady rozstrzygają głównie trzy rodzaje konfliktów: zapis z zapisem tego samego wiersza, DML z DDL oraz DDL i operacje utrzymaniowe między sobą.</a:t>
            </a:r>
          </a:p>
          <a:p>
            <a:r>
              <a:t>- **Blokady biorą polecenia, nie użytkownik.** Każde polecenie SQL automatycznie bierze blokadę właściwego trybu. LOCK TABLE i SELECT ... FOR UPDATE służą tylko do jawnego wzięcia blokady wcześniej lub mocniej.</a:t>
            </a:r>
          </a:p>
          <a:p>
            <a:r>
              <a:t>- **Blokada trwa do końca transakcji, nie do końca polecenia.** Wyjątek to ROLLBACK TO SAVEPOINT i blok EXCEPTION w PL/pgSQL, które zwalniają blokady wzięte po punkcie zapisu (dokumentacja 13.3).</a:t>
            </a:r>
          </a:p>
          <a:p>
            <a:r>
              <a:t>- **Nazwa trybu bywa myląca.** ROW EXCLUSIVE to blokada tabeli, a nie wiersza. Liczy się wyłącznie macierz konfliktów.</a:t>
            </a:r>
          </a:p>
          <a:p>
            <a:r>
              <a:t>- **Czekanie jest kolejką FIFO.** Żądanie, które nie może być spełnione, ustawia się w kolejce. Kolejne żądania sprzeczne z nim czekają za nim, nawet jeśli same nie kolidują z blokadą aktualnie trzymaną (szczegóły w rozdziale 6).  </a:t>
            </a:r>
          </a:p>
          <a:p>
            <a:r>
              <a:t>Źródło: dokumentacja PostgreSQL 18, **Chapter 13. Concurrency Control**, sekcja **13.3 Explicit Locking** (13.3.1 Table-Level Locks, 13.3.2 Row-Level Locks, 13.3.4 Deadlocks, 13.3.5 Advisory Locks).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3.1 Macierz konfliktów.</a:t>
            </a:r>
          </a:p>
          <a:p>
            <a:endParaRPr/>
          </a:p>
          <a:p>
            <a:r>
              <a:t>„X” oznacza konflikt: żądany tryb (wiersz) musi czekać, jeśli inna transakcja trzyma tryb z kolumny. Źródło: dokumentacja 13.3.1, tabela „Conflicting Lock Modes”.</a:t>
            </a:r>
          </a:p>
          <a:p>
            <a:endParaRPr/>
          </a:p>
          <a:p>
            <a:r>
              <a:t> Żądany \\ trzymany  |  ACCESS SHARE  |  ROW SHARE  |  ROW EXCL.  |  SHARE UPD. EXCL.  |  SHARE  |  SHARE ROW EXCL.  |  EXCLUSIVE  |  ACCESS EXCL. </a:t>
            </a:r>
          </a:p>
          <a:p>
            <a:r>
              <a:t>ACCESS SHARE |  |  |  |  |  |  |  |  X </a:t>
            </a:r>
          </a:p>
          <a:p>
            <a:r>
              <a:t>ROW SHARE |  |  |  |  |  |  |  X  |  X </a:t>
            </a:r>
          </a:p>
          <a:p>
            <a:r>
              <a:t>ROW EXCL. |  |  |  |  |  X  |  X  |  X  |  X </a:t>
            </a:r>
          </a:p>
          <a:p>
            <a:r>
              <a:t>SHARE UPD. EXCL. |  |  |  |  X  |  X  |  X  |  X  |  X </a:t>
            </a:r>
          </a:p>
          <a:p>
            <a:r>
              <a:t>SHARE |  |  |  X  |  X  |  |  X  |  X  |  X </a:t>
            </a:r>
          </a:p>
          <a:p>
            <a:r>
              <a:t>SHARE ROW EXCL. |  |  |  X  |  X  |  X  |  X  |  X  |  X </a:t>
            </a:r>
          </a:p>
          <a:p>
            <a:r>
              <a:t>EXCLUSIVE |  |  X  |  X  |  X  |  X  |  X  |  X  |  X </a:t>
            </a:r>
          </a:p>
          <a:p>
            <a:r>
              <a:t>ACCESS EXCL. |  X  |  X  |  X  |  X  |  X  |  X  |  X  |  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ACCESS SHARE.</a:t>
            </a:r>
          </a:p>
          <a:p>
            <a:endParaRPr/>
          </a:p>
          <a:p>
            <a:r>
              <a:t>**Kto ją bierze: **każde polecenie, które tylko czyta tabelę: SELECT, COPY ... TO, odczyt tabeli w podzapytaniu innego polecenia.  </a:t>
            </a:r>
          </a:p>
          <a:p>
            <a:r>
              <a:t>**Koliduje z: **wyłącznie ACCESS EXCLUSIVE.  </a:t>
            </a:r>
          </a:p>
          <a:p>
            <a:r>
              <a:t>**Przykład z życia: **Dział analiz uruchamia o 9:00 raport roczny na tabeli orders, który trwa 15 minut. O 9:05 zespół aplikacji wdraża nową wersję z migracją ALTER TABLE orders ADD COLUMN kod_rabatu text. Migracja trwa milisekundy, ale musi poczekać, aż raport zwolni ACCESS SHARE. Raport sam w sobie nie przeszkadza nikomu innemu: sklep czyta i zapisuje zamówienia normalnie.</a:t>
            </a:r>
          </a:p>
          <a:p>
            <a:endParaRPr/>
          </a:p>
          <a:p>
            <a:r>
              <a:t> \#  |  Sesja A  |  Sesja B  |  Co obserwujemy </a:t>
            </a:r>
          </a:p>
          <a:p>
            <a:r>
              <a:t>1 | BEGIN;  </a:t>
            </a:r>
          </a:p>
          <a:p>
            <a:r>
              <a:t>SELECT count(*) FROM orders; |  | A trzyma ACCESS SHARE na orders do końca transakcji</a:t>
            </a:r>
          </a:p>
          <a:p>
            <a:r>
              <a:t>2 |  | UPDATE orders  </a:t>
            </a:r>
          </a:p>
          <a:p>
            <a:r>
              <a:t>  SET status = 'shipped'  </a:t>
            </a:r>
          </a:p>
          <a:p>
            <a:r>
              <a:t> WHERE order_id = 1; | wykonuje się od razu – zapis nie koliduje z odczytem</a:t>
            </a:r>
          </a:p>
          <a:p>
            <a:r>
              <a:t>3 |  | ALTER TABLE orders  </a:t>
            </a:r>
          </a:p>
          <a:p>
            <a:r>
              <a:t>  ADD COLUMN kod_rabatu text; | czeka – potrzebuje ACCESS EXCLUSIVE</a:t>
            </a:r>
          </a:p>
          <a:p>
            <a:r>
              <a:t>4 |  |  | w Sesji C: wiersz B z AccessExclusiveLock , granted = f , blokowany_przez = {pid A}</a:t>
            </a:r>
          </a:p>
          <a:p>
            <a:r>
              <a:t>5 | COMMIT; |  | B kończy ALTER TABLE</a:t>
            </a:r>
          </a:p>
          <a:p>
            <a:endParaRPr/>
          </a:p>
          <a:p>
            <a:endParaRPr/>
          </a:p>
          <a:p>
            <a:r>
              <a:t>  </a:t>
            </a:r>
          </a:p>
          <a:p>
            <a:r>
              <a:t>ALTER TABLE orders DROP COLUMN kod_rabatu;   -- sprzątanie  </a:t>
            </a:r>
          </a:p>
          <a:p>
            <a:r>
              <a:t>**Na co uważać: **sesja w stanie idle in transaction po jednym SELECT trzyma ACCESS SHARE godzinami i blokuje każde DDL na tej tabeli. Pomaga parametr idle_in_transaction_session_timeout oraz monitorowanie pg_stat_activity.state.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ROW SHARE.</a:t>
            </a:r>
          </a:p>
          <a:p>
            <a:endParaRPr/>
          </a:p>
          <a:p>
            <a:r>
              <a:t>**Kto ją bierze: **SELECT z dowolną klauzulą blokującą wiersze: FOR UPDATE, FOR NO KEY UPDATE, FOR SHARE, FOR KEY SHARE. Na tabeli jest to tylko sygnał „blokuję jakieś wiersze”. Same blokady wierszy opisuje rozdział 4.  </a:t>
            </a:r>
          </a:p>
          <a:p>
            <a:r>
              <a:t>**Koliduje z: **EXCLUSIVE i ACCESS EXCLUSIVE.  </a:t>
            </a:r>
          </a:p>
          <a:p>
            <a:r>
              <a:t>**Przykład z życia: **Magazynier w panelu rezerwuje towar: aplikacja wykonuje SELECT ... FROM products WHERE product_id = 10 FOR UPDATE i czeka, aż pracownik kliknie „Zatwierdź”. W tym czasie skrypt importu cennika zaczyna od LOCK TABLE products IN EXCLUSIVE MODE, żeby w trakcie wymiany cen nikt niczego nie rezerwował. Import musi poczekać na zamknięcie formularza, ale klienci sklepu przeglądają produkty bez przeszkód.</a:t>
            </a:r>
          </a:p>
          <a:p>
            <a:endParaRPr/>
          </a:p>
          <a:p>
            <a:r>
              <a:t> \#  |  Sesja A  |  Sesja B  |  Co obserwujemy </a:t>
            </a:r>
          </a:p>
          <a:p>
            <a:r>
              <a:t>1 | BEGIN;  </a:t>
            </a:r>
          </a:p>
          <a:p>
            <a:r>
              <a:t>SELECT * FROM products  </a:t>
            </a:r>
          </a:p>
          <a:p>
            <a:r>
              <a:t> WHERE product_id = 10  </a:t>
            </a:r>
          </a:p>
          <a:p>
            <a:r>
              <a:t> FOR UPDATE; |  | C: products – RowShareLock (granted)</a:t>
            </a:r>
          </a:p>
          <a:p>
            <a:r>
              <a:t>2 |  | SELECT * FROM products  </a:t>
            </a:r>
          </a:p>
          <a:p>
            <a:r>
              <a:t> WHERE product_id = 10; | zwykły odczyt działa</a:t>
            </a:r>
          </a:p>
          <a:p>
            <a:r>
              <a:t>3 |  | BEGIN;  </a:t>
            </a:r>
          </a:p>
          <a:p>
            <a:r>
              <a:t>LOCK TABLE products  </a:t>
            </a:r>
          </a:p>
          <a:p>
            <a:r>
              <a:t>  IN EXCLUSIVE MODE; | czeka – EXCLUSIVE koliduje z ROW SHARE</a:t>
            </a:r>
          </a:p>
          <a:p>
            <a:r>
              <a:t>4 | COMMIT; |  | B dostaje blokadę</a:t>
            </a:r>
          </a:p>
          <a:p>
            <a:r>
              <a:t>5 |  | ROLLBACK; | </a:t>
            </a:r>
          </a:p>
          <a:p>
            <a:endParaRPr/>
          </a:p>
          <a:p>
            <a:endParaRPr/>
          </a:p>
          <a:p>
            <a:r>
              <a:t>  </a:t>
            </a:r>
          </a:p>
          <a:p>
            <a:r>
              <a:t>**Na co uważać: **RowShareLock w pg_locks nie mówi, które wiersze są zablokowane. Blokady wierszy zapisują się w nagłówku krotki, a w pg_locks pojawiają się dopiero wtedy, gdy ktoś na nie czeka.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ROW EXCLUSIVE.</a:t>
            </a:r>
          </a:p>
          <a:p>
            <a:endParaRPr/>
          </a:p>
          <a:p>
            <a:r>
              <a:t>**Kto ją bierze: **każde polecenie modyfikujące dane: INSERT, UPDATE, DELETE, MERGE, COPY ... FROM.  </a:t>
            </a:r>
          </a:p>
          <a:p>
            <a:r>
              <a:t>**Koliduje z: **SHARE, SHARE ROW EXCLUSIVE, EXCLUSIVE, ACCESS EXCLUSIVE. Nie koliduje sam ze sobą, więc setki sesji mogą równocześnie zapisywać do tej samej tabeli.  </a:t>
            </a:r>
          </a:p>
          <a:p>
            <a:r>
              <a:t>**Przykład z życia: **Black Friday: aplikacja co chwilę wstawia zamówienia. Administrator chce szybko dodać indeks na status i uruchamia CREATE INDEX bez CONCURRENTLY. Polecenie najpierw czeka na zakończenie wszystkich otwartych transakcji, które coś zapisały do orders. Gdy dostanie blokadę SHARE, wstrzymuje wszystkie nowe INSERT aż do końca budowy indeksu.</a:t>
            </a:r>
          </a:p>
          <a:p>
            <a:endParaRPr/>
          </a:p>
          <a:p>
            <a:r>
              <a:t> \#  |  Sesja A  |  Sesja B  |  Co obserwujemy </a:t>
            </a:r>
          </a:p>
          <a:p>
            <a:r>
              <a:t>1 | BEGIN;  </a:t>
            </a:r>
          </a:p>
          <a:p>
            <a:r>
              <a:t>INSERT INTO orders(customer_id)  </a:t>
            </a:r>
          </a:p>
          <a:p>
            <a:r>
              <a:t>  VALUES (1); |  | A trzyma ROW EXCLUSIVE na orders</a:t>
            </a:r>
          </a:p>
          <a:p>
            <a:r>
              <a:t>2 |  | INSERT INTO orders(customer_id)  </a:t>
            </a:r>
          </a:p>
          <a:p>
            <a:r>
              <a:t>  VALUES (2); | działa – ROW EXCLUSIVE nie koliduje z ROW EXCLUSIVE</a:t>
            </a:r>
          </a:p>
          <a:p>
            <a:r>
              <a:t>3 |  | CREATE INDEX idx_orders_status  </a:t>
            </a:r>
          </a:p>
          <a:p>
            <a:r>
              <a:t>  ON orders(status); | czeka – SHARE koliduje z ROW EXCLUSIVE</a:t>
            </a:r>
          </a:p>
          <a:p>
            <a:r>
              <a:t>4 | COMMIT; |  | B buduje indeks</a:t>
            </a:r>
          </a:p>
          <a:p>
            <a:endParaRPr/>
          </a:p>
          <a:p>
            <a:endParaRPr/>
          </a:p>
          <a:p>
            <a:r>
              <a:t>  </a:t>
            </a:r>
          </a:p>
          <a:p>
            <a:r>
              <a:t>DROP INDEX idx_orders_status;   -- sprzątanie  </a:t>
            </a:r>
          </a:p>
          <a:p>
            <a:r>
              <a:t>**Na co uważać: **częste przekonanie, że „INSERT blokuje tabelę”, jest błędne. Zapisy blokują się nawzajem tylko na poziomie tych samych wierszy, a na poziomie tabeli wstrzymują wyłącznie DDL. Konflikt wartości unikalnych (dwa INSERT z tym samym kluczem) też powoduje czekanie, ale na transakcję, nie na tabelę.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SHARE UPDATE EXCLUSIVE.</a:t>
            </a:r>
          </a:p>
          <a:p>
            <a:endParaRPr/>
          </a:p>
          <a:p>
            <a:r>
              <a:t>**Kto ją bierze: **VACUUM (bez FULL), ANALYZE, CREATE INDEX CONCURRENTLY, REINDEX CONCURRENTLY, CREATE STATISTICS, COMMENT ON, część form ALTER TABLE, m.in. VALIDATE CONSTRAINT, SET STATISTICS i zmiana parametrów przechowywania SET (...).  </a:t>
            </a:r>
          </a:p>
          <a:p>
            <a:r>
              <a:t>**Koliduje z: **z samym sobą oraz z SHARE, SHARE ROW EXCLUSIVE, EXCLUSIVE, ACCESS EXCLUSIVE. Nie koliduje z ROW EXCLUSIVE, więc nie przeszkadza w DML. Tryb chroni tabelę przed równoczesnymi zmianami schematu i przed dwoma równoległymi VACUUM.  </a:t>
            </a:r>
          </a:p>
          <a:p>
            <a:r>
              <a:t>**Przykład z życia: **W nocy ręczny VACUUM ANALYZE orders trwa 40 minut. Administrator chce w tym czasie zaostrzyć autovacuum poleceniem ALTER TABLE orders SET (autovacuum_vacuum_scale_factor = 0.05) i polecenie wisi do końca VACUUM. Drugi przypadek: w trakcie pracy autovacuum ktoś uruchamia CREATE INDEX CONCURRENTLY. Zwykły autovacuum zostaje wtedy przerwany i ustępuje miejsca, inaczej niż autovacuum chroniący przed wraparound.  </a:t>
            </a:r>
          </a:p>
          <a:p>
            <a:r>
              <a:t>VACUUM nie może działać w bloku transakcji, ale ANALYZE może. Dzięki temu łatwo utrzymać tę blokadę dowolnie długo:</a:t>
            </a:r>
          </a:p>
          <a:p>
            <a:endParaRPr/>
          </a:p>
          <a:p>
            <a:r>
              <a:t> \#  |  Sesja A  |  Sesja B  |  Co obserwujemy </a:t>
            </a:r>
          </a:p>
          <a:p>
            <a:r>
              <a:t>1 | BEGIN;  </a:t>
            </a:r>
          </a:p>
          <a:p>
            <a:r>
              <a:t>ANALYZE orders; |  | C: orders – ShareUpdateExclusiveLock (granted)</a:t>
            </a:r>
          </a:p>
          <a:p>
            <a:r>
              <a:t>2 |  | UPDATE orders  </a:t>
            </a:r>
          </a:p>
          <a:p>
            <a:r>
              <a:t>  SET status = 'shipped'  </a:t>
            </a:r>
          </a:p>
          <a:p>
            <a:r>
              <a:t> WHERE order_id = 2; | działa – DML nie jest blokowany</a:t>
            </a:r>
          </a:p>
          <a:p>
            <a:r>
              <a:t>3 |  | ALTER TABLE orders SET  </a:t>
            </a:r>
          </a:p>
          <a:p>
            <a:r>
              <a:t> (autovacuum_vacuum_scale_factor  </a:t>
            </a:r>
          </a:p>
          <a:p>
            <a:r>
              <a:t>  = 0.05); | czeka – tryb koliduje sam ze sobą</a:t>
            </a:r>
          </a:p>
          <a:p>
            <a:r>
              <a:t>4 | COMMIT; |  | B kończy ALTER TABLE</a:t>
            </a:r>
          </a:p>
          <a:p>
            <a:endParaRPr/>
          </a:p>
          <a:p>
            <a:endParaRPr/>
          </a:p>
          <a:p>
            <a:r>
              <a:t>  </a:t>
            </a:r>
          </a:p>
          <a:p>
            <a:r>
              <a:t>ALTER TABLE orders RESET (autovacuum_vacuum_scale_factor);   -- sprzątanie  </a:t>
            </a:r>
          </a:p>
          <a:p>
            <a:r>
              <a:t>**Na co uważać: **dwa CREATE INDEX CONCURRENTLY na tej samej tabeli nie pójdą równolegle. Przerwany CREATE INDEX CONCURRENTLY zostawia indeks w stanie INVALID (pg_index.indisvalid = false), który trzeba usunąć i zbudować ponownie. Przerywanie autovacuum przez sprzeczne żądania blokad opisuje dokumentacja w rozdziale **Routine Vacuuming** (podrozdział **The Autovacuum Daemon**).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SHARE.</a:t>
            </a:r>
          </a:p>
          <a:p>
            <a:endParaRPr/>
          </a:p>
          <a:p>
            <a:r>
              <a:t>**Kto ją bierze: **CREATE INDEX bez CONCURRENTLY, a także jawne LOCK TABLE ... IN SHARE MODE.  </a:t>
            </a:r>
          </a:p>
          <a:p>
            <a:r>
              <a:t>**Koliduje z: **ROW EXCLUSIVE, SHARE UPDATE EXCLUSIVE, SHARE ROW EXCLUSIVE, EXCLUSIVE, ACCESS EXCLUSIVE. Nie koliduje sam ze sobą, więc kilka CREATE INDEX na tej samej tabeli może działać równolegle. Nie blokuje też odczytów.  </a:t>
            </a:r>
          </a:p>
          <a:p>
            <a:r>
              <a:t>**Przykład z życia: **Budowa indeksu na tabeli z 50 mln zamówień trwa 20 minut. Przez ten czas sklep wyświetla historię zamówień, ale nie przyjmuje nowych, a zespół wsparcia dostaje zgłoszenia „koszyk się zawiesza przy płatności”. Właściwe rozwiązanie to CREATE INDEX CONCURRENTLY. Drugi, rzadszy przypadek: księgowość zamyka miesiąc i potrzebuje, żeby w trakcie liczenia nikt nie zmienił zamówień. LOCK TABLE orders IN SHARE MODE to gwarantuje, choć zwykle wystarcza transakcja REPEATABLE READ.</a:t>
            </a:r>
          </a:p>
          <a:p>
            <a:endParaRPr/>
          </a:p>
          <a:p>
            <a:r>
              <a:t> \#  |  Sesja A  |  Sesja B  |  Co obserwujemy </a:t>
            </a:r>
          </a:p>
          <a:p>
            <a:r>
              <a:t>1 | BEGIN;  </a:t>
            </a:r>
          </a:p>
          <a:p>
            <a:r>
              <a:t>CREATE INDEX idx_orders_total  </a:t>
            </a:r>
          </a:p>
          <a:p>
            <a:r>
              <a:t>  ON orders(total); |  | A trzyma SHARE na orders</a:t>
            </a:r>
          </a:p>
          <a:p>
            <a:r>
              <a:t>2 |  | SELECT count(*) FROM orders  </a:t>
            </a:r>
          </a:p>
          <a:p>
            <a:r>
              <a:t> WHERE total &gt; 500; | działa</a:t>
            </a:r>
          </a:p>
          <a:p>
            <a:r>
              <a:t>3 |  | CREATE INDEX idx_orders_date  </a:t>
            </a:r>
          </a:p>
          <a:p>
            <a:r>
              <a:t>  ON orders(order_date); | działa – SHARE nie koliduje z SHARE</a:t>
            </a:r>
          </a:p>
          <a:p>
            <a:r>
              <a:t>4 |  | INSERT INTO orders(customer_id)  </a:t>
            </a:r>
          </a:p>
          <a:p>
            <a:r>
              <a:t>  VALUES (3); | czeka – ROW EXCLUSIVE koliduje z SHARE</a:t>
            </a:r>
          </a:p>
          <a:p>
            <a:r>
              <a:t>5 | COMMIT; |  | B wstawia wiersz</a:t>
            </a:r>
          </a:p>
          <a:p>
            <a:endParaRPr/>
          </a:p>
          <a:p>
            <a:endParaRPr/>
          </a:p>
          <a:p>
            <a:r>
              <a:t>  </a:t>
            </a:r>
          </a:p>
          <a:p>
            <a:r>
              <a:t>DROP INDEX idx_orders_total, idx_orders_date;   -- sprzątanie  </a:t>
            </a:r>
          </a:p>
          <a:p>
            <a:r>
              <a:t>**Na co uważać: **CREATE INDEX w transakcji trzyma SHARE aż do COMMIT, a nie tylko do końca budowy indeksu. Migracje, które w jednej transakcji tworzą indeks i potem długo przetwarzają dane, blokują zapisy przez cały ten czas.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Źródło</a:t>
            </a:r>
            <a:r>
              <a:rPr dirty="0"/>
              <a:t>: Blokady_w_PostgreSQL.docx, </a:t>
            </a:r>
            <a:r>
              <a:rPr dirty="0" err="1"/>
              <a:t>sekcja</a:t>
            </a:r>
            <a:r>
              <a:rPr dirty="0"/>
              <a:t> SHARE ROW EXCLUSIVE.</a:t>
            </a:r>
          </a:p>
          <a:p>
            <a:endParaRPr dirty="0"/>
          </a:p>
          <a:p>
            <a:r>
              <a:rPr dirty="0"/>
              <a:t>**</a:t>
            </a:r>
            <a:r>
              <a:rPr dirty="0" err="1"/>
              <a:t>Kto</a:t>
            </a:r>
            <a:r>
              <a:rPr dirty="0"/>
              <a:t> </a:t>
            </a:r>
            <a:r>
              <a:rPr dirty="0" err="1"/>
              <a:t>ją</a:t>
            </a:r>
            <a:r>
              <a:rPr dirty="0"/>
              <a:t> </a:t>
            </a:r>
            <a:r>
              <a:rPr dirty="0" err="1"/>
              <a:t>bierze</a:t>
            </a:r>
            <a:r>
              <a:rPr dirty="0"/>
              <a:t>: **CREATE TRIGGER, ALTER TABLE ... ADD FOREIGN KEY (</a:t>
            </a:r>
            <a:r>
              <a:rPr dirty="0" err="1"/>
              <a:t>na</a:t>
            </a:r>
            <a:r>
              <a:rPr dirty="0"/>
              <a:t> </a:t>
            </a:r>
            <a:r>
              <a:rPr dirty="0" err="1"/>
              <a:t>tabeli</a:t>
            </a:r>
            <a:r>
              <a:rPr dirty="0"/>
              <a:t> z </a:t>
            </a:r>
            <a:r>
              <a:rPr dirty="0" err="1"/>
              <a:t>kluczem</a:t>
            </a:r>
            <a:r>
              <a:rPr dirty="0"/>
              <a:t> </a:t>
            </a:r>
            <a:r>
              <a:rPr dirty="0" err="1"/>
              <a:t>obcym</a:t>
            </a:r>
            <a:r>
              <a:rPr dirty="0"/>
              <a:t> i </a:t>
            </a:r>
            <a:r>
              <a:rPr dirty="0" err="1"/>
              <a:t>na</a:t>
            </a:r>
            <a:r>
              <a:rPr dirty="0"/>
              <a:t> </a:t>
            </a:r>
            <a:r>
              <a:rPr dirty="0" err="1"/>
              <a:t>tabeli</a:t>
            </a:r>
            <a:r>
              <a:rPr dirty="0"/>
              <a:t> </a:t>
            </a:r>
            <a:r>
              <a:rPr dirty="0" err="1"/>
              <a:t>wskazywanej</a:t>
            </a:r>
            <a:r>
              <a:rPr dirty="0"/>
              <a:t>), ALTER TABLE ... ENABLE/DISABLE TRIGGER, LOCK TABLE ... IN SHARE ROW EXCLUSIVE MODE.  </a:t>
            </a:r>
          </a:p>
          <a:p>
            <a:r>
              <a:rPr dirty="0"/>
              <a:t>**</a:t>
            </a:r>
            <a:r>
              <a:rPr dirty="0" err="1"/>
              <a:t>Koliduje</a:t>
            </a:r>
            <a:r>
              <a:rPr dirty="0"/>
              <a:t> z: **ROW EXCLUSIVE, SHARE UPDATE EXCLUSIVE, SHARE, SHARE ROW EXCLUSIVE, EXCLUSIVE, ACCESS EXCLUSIVE. </a:t>
            </a:r>
            <a:r>
              <a:rPr dirty="0" err="1"/>
              <a:t>Koliduje</a:t>
            </a:r>
            <a:r>
              <a:rPr dirty="0"/>
              <a:t> </a:t>
            </a:r>
            <a:r>
              <a:rPr dirty="0" err="1"/>
              <a:t>sam</a:t>
            </a:r>
            <a:r>
              <a:rPr dirty="0"/>
              <a:t> ze </a:t>
            </a:r>
            <a:r>
              <a:rPr dirty="0" err="1"/>
              <a:t>sobą</a:t>
            </a:r>
            <a:r>
              <a:rPr dirty="0"/>
              <a:t>, </a:t>
            </a:r>
            <a:r>
              <a:rPr dirty="0" err="1"/>
              <a:t>więc</a:t>
            </a:r>
            <a:r>
              <a:rPr dirty="0"/>
              <a:t> </a:t>
            </a:r>
            <a:r>
              <a:rPr dirty="0" err="1"/>
              <a:t>tylko</a:t>
            </a:r>
            <a:r>
              <a:rPr dirty="0"/>
              <a:t> </a:t>
            </a:r>
            <a:r>
              <a:rPr dirty="0" err="1"/>
              <a:t>jedna</a:t>
            </a:r>
            <a:r>
              <a:rPr dirty="0"/>
              <a:t> </a:t>
            </a:r>
            <a:r>
              <a:rPr dirty="0" err="1"/>
              <a:t>sesja</a:t>
            </a:r>
            <a:r>
              <a:rPr dirty="0"/>
              <a:t> </a:t>
            </a:r>
            <a:r>
              <a:rPr dirty="0" err="1"/>
              <a:t>naraz</a:t>
            </a:r>
            <a:r>
              <a:rPr dirty="0"/>
              <a:t> </a:t>
            </a:r>
            <a:r>
              <a:rPr dirty="0" err="1"/>
              <a:t>może</a:t>
            </a:r>
            <a:r>
              <a:rPr dirty="0"/>
              <a:t> go </a:t>
            </a:r>
            <a:r>
              <a:rPr dirty="0" err="1"/>
              <a:t>trzymać</a:t>
            </a:r>
            <a:r>
              <a:rPr dirty="0"/>
              <a:t>. </a:t>
            </a:r>
            <a:r>
              <a:rPr dirty="0" err="1"/>
              <a:t>Pozwala</a:t>
            </a:r>
            <a:r>
              <a:rPr dirty="0"/>
              <a:t> </a:t>
            </a:r>
            <a:r>
              <a:rPr dirty="0" err="1"/>
              <a:t>na</a:t>
            </a:r>
            <a:r>
              <a:rPr dirty="0"/>
              <a:t> </a:t>
            </a:r>
            <a:r>
              <a:rPr dirty="0" err="1"/>
              <a:t>odczyty</a:t>
            </a:r>
            <a:r>
              <a:rPr dirty="0"/>
              <a:t>, </a:t>
            </a:r>
            <a:r>
              <a:rPr dirty="0" err="1"/>
              <a:t>blokuje</a:t>
            </a:r>
            <a:r>
              <a:rPr dirty="0"/>
              <a:t> </a:t>
            </a:r>
            <a:r>
              <a:rPr dirty="0" err="1"/>
              <a:t>zapisy</a:t>
            </a:r>
            <a:r>
              <a:rPr dirty="0"/>
              <a:t>.  </a:t>
            </a:r>
          </a:p>
          <a:p>
            <a:r>
              <a:rPr dirty="0"/>
              <a:t>**</a:t>
            </a:r>
            <a:r>
              <a:rPr dirty="0" err="1"/>
              <a:t>Przykład</a:t>
            </a:r>
            <a:r>
              <a:rPr dirty="0"/>
              <a:t> z </a:t>
            </a:r>
            <a:r>
              <a:rPr dirty="0" err="1"/>
              <a:t>życia</a:t>
            </a:r>
            <a:r>
              <a:rPr dirty="0"/>
              <a:t>: **</a:t>
            </a:r>
            <a:r>
              <a:rPr dirty="0" err="1"/>
              <a:t>Zespół</a:t>
            </a:r>
            <a:r>
              <a:rPr dirty="0"/>
              <a:t> </a:t>
            </a:r>
            <a:r>
              <a:rPr dirty="0" err="1"/>
              <a:t>dodaje</a:t>
            </a:r>
            <a:r>
              <a:rPr dirty="0"/>
              <a:t> </a:t>
            </a:r>
            <a:r>
              <a:rPr dirty="0" err="1"/>
              <a:t>klucz</a:t>
            </a:r>
            <a:r>
              <a:rPr dirty="0"/>
              <a:t> </a:t>
            </a:r>
            <a:r>
              <a:rPr dirty="0" err="1"/>
              <a:t>obcy</a:t>
            </a:r>
            <a:r>
              <a:rPr dirty="0"/>
              <a:t> </a:t>
            </a:r>
            <a:r>
              <a:rPr dirty="0" err="1"/>
              <a:t>order_items.product_id</a:t>
            </a:r>
            <a:r>
              <a:rPr dirty="0"/>
              <a:t> → products. </a:t>
            </a:r>
            <a:r>
              <a:rPr dirty="0" err="1"/>
              <a:t>Zwykłe</a:t>
            </a:r>
            <a:r>
              <a:rPr dirty="0"/>
              <a:t> ADD CONSTRAINT ... FOREIGN KEY </a:t>
            </a:r>
            <a:r>
              <a:rPr dirty="0" err="1"/>
              <a:t>sprawdza</a:t>
            </a:r>
            <a:r>
              <a:rPr dirty="0"/>
              <a:t> </a:t>
            </a:r>
            <a:r>
              <a:rPr dirty="0" err="1"/>
              <a:t>wszystkie</a:t>
            </a:r>
            <a:r>
              <a:rPr dirty="0"/>
              <a:t> </a:t>
            </a:r>
            <a:r>
              <a:rPr dirty="0" err="1"/>
              <a:t>istniejące</a:t>
            </a:r>
            <a:r>
              <a:rPr dirty="0"/>
              <a:t> </a:t>
            </a:r>
            <a:r>
              <a:rPr dirty="0" err="1"/>
              <a:t>wiersze</a:t>
            </a:r>
            <a:r>
              <a:rPr dirty="0"/>
              <a:t>, </a:t>
            </a:r>
            <a:r>
              <a:rPr dirty="0" err="1"/>
              <a:t>trzymając</a:t>
            </a:r>
            <a:r>
              <a:rPr dirty="0"/>
              <a:t> SHARE ROW EXCLUSIVE </a:t>
            </a:r>
            <a:r>
              <a:rPr dirty="0" err="1"/>
              <a:t>na</a:t>
            </a:r>
            <a:r>
              <a:rPr dirty="0"/>
              <a:t> </a:t>
            </a:r>
            <a:r>
              <a:rPr dirty="0" err="1"/>
              <a:t>obu</a:t>
            </a:r>
            <a:r>
              <a:rPr dirty="0"/>
              <a:t> </a:t>
            </a:r>
            <a:r>
              <a:rPr dirty="0" err="1"/>
              <a:t>tabelach</a:t>
            </a:r>
            <a:r>
              <a:rPr dirty="0"/>
              <a:t>. </a:t>
            </a:r>
            <a:r>
              <a:rPr dirty="0" err="1"/>
              <a:t>Przy</a:t>
            </a:r>
            <a:r>
              <a:rPr dirty="0"/>
              <a:t> 600 </a:t>
            </a:r>
            <a:r>
              <a:rPr dirty="0" err="1"/>
              <a:t>mln</a:t>
            </a:r>
            <a:r>
              <a:rPr dirty="0"/>
              <a:t> </a:t>
            </a:r>
            <a:r>
              <a:rPr dirty="0" err="1"/>
              <a:t>pozycji</a:t>
            </a:r>
            <a:r>
              <a:rPr dirty="0"/>
              <a:t> </a:t>
            </a:r>
            <a:r>
              <a:rPr dirty="0" err="1"/>
              <a:t>zamówień</a:t>
            </a:r>
            <a:r>
              <a:rPr dirty="0"/>
              <a:t> </a:t>
            </a:r>
            <a:r>
              <a:rPr dirty="0" err="1"/>
              <a:t>oznacza</a:t>
            </a:r>
            <a:r>
              <a:rPr dirty="0"/>
              <a:t> to </a:t>
            </a:r>
            <a:r>
              <a:rPr dirty="0" err="1"/>
              <a:t>wielominutowy</a:t>
            </a:r>
            <a:r>
              <a:rPr dirty="0"/>
              <a:t> </a:t>
            </a:r>
            <a:r>
              <a:rPr dirty="0" err="1"/>
              <a:t>brak</a:t>
            </a:r>
            <a:r>
              <a:rPr dirty="0"/>
              <a:t> </a:t>
            </a:r>
            <a:r>
              <a:rPr dirty="0" err="1"/>
              <a:t>możliwości</a:t>
            </a:r>
            <a:r>
              <a:rPr dirty="0"/>
              <a:t> </a:t>
            </a:r>
            <a:r>
              <a:rPr dirty="0" err="1"/>
              <a:t>zapisu</a:t>
            </a:r>
            <a:r>
              <a:rPr dirty="0"/>
              <a:t> </a:t>
            </a:r>
            <a:r>
              <a:rPr dirty="0" err="1"/>
              <a:t>zarówno</a:t>
            </a:r>
            <a:r>
              <a:rPr dirty="0"/>
              <a:t> do </a:t>
            </a:r>
            <a:r>
              <a:rPr dirty="0" err="1"/>
              <a:t>zamówień</a:t>
            </a:r>
            <a:r>
              <a:rPr dirty="0"/>
              <a:t>, jak i do </a:t>
            </a:r>
            <a:r>
              <a:rPr dirty="0" err="1"/>
              <a:t>katalogu</a:t>
            </a:r>
            <a:r>
              <a:rPr dirty="0"/>
              <a:t> </a:t>
            </a:r>
            <a:r>
              <a:rPr dirty="0" err="1"/>
              <a:t>produktów</a:t>
            </a:r>
            <a:r>
              <a:rPr dirty="0"/>
              <a:t>. </a:t>
            </a:r>
            <a:r>
              <a:rPr dirty="0" err="1"/>
              <a:t>Wzorzec</a:t>
            </a:r>
            <a:r>
              <a:rPr dirty="0"/>
              <a:t> </a:t>
            </a:r>
            <a:r>
              <a:rPr dirty="0" err="1"/>
              <a:t>produkcyjny</a:t>
            </a:r>
            <a:r>
              <a:rPr dirty="0"/>
              <a:t> </a:t>
            </a:r>
            <a:r>
              <a:rPr dirty="0" err="1"/>
              <a:t>dzieli</a:t>
            </a:r>
            <a:r>
              <a:rPr dirty="0"/>
              <a:t> </a:t>
            </a:r>
            <a:r>
              <a:rPr dirty="0" err="1"/>
              <a:t>tę</a:t>
            </a:r>
            <a:r>
              <a:rPr dirty="0"/>
              <a:t> </a:t>
            </a:r>
            <a:r>
              <a:rPr dirty="0" err="1"/>
              <a:t>operację</a:t>
            </a:r>
            <a:r>
              <a:rPr dirty="0"/>
              <a:t> </a:t>
            </a:r>
            <a:r>
              <a:rPr dirty="0" err="1"/>
              <a:t>na</a:t>
            </a:r>
            <a:r>
              <a:rPr dirty="0"/>
              <a:t> </a:t>
            </a:r>
            <a:r>
              <a:rPr dirty="0" err="1"/>
              <a:t>dwa</a:t>
            </a:r>
            <a:r>
              <a:rPr dirty="0"/>
              <a:t> </a:t>
            </a:r>
            <a:r>
              <a:rPr dirty="0" err="1"/>
              <a:t>kroki</a:t>
            </a:r>
            <a:r>
              <a:rPr dirty="0"/>
              <a:t>: ADD CONSTRAINT ... NOT VALID (</a:t>
            </a:r>
            <a:r>
              <a:rPr dirty="0" err="1"/>
              <a:t>blokada</a:t>
            </a:r>
            <a:r>
              <a:rPr dirty="0"/>
              <a:t> jest </a:t>
            </a:r>
            <a:r>
              <a:rPr dirty="0" err="1"/>
              <a:t>krótka</a:t>
            </a:r>
            <a:r>
              <a:rPr dirty="0"/>
              <a:t>, </a:t>
            </a:r>
            <a:r>
              <a:rPr dirty="0" err="1"/>
              <a:t>bo</a:t>
            </a:r>
            <a:r>
              <a:rPr dirty="0"/>
              <a:t> </a:t>
            </a:r>
            <a:r>
              <a:rPr dirty="0" err="1"/>
              <a:t>nie</a:t>
            </a:r>
            <a:r>
              <a:rPr dirty="0"/>
              <a:t> ma </a:t>
            </a:r>
            <a:r>
              <a:rPr dirty="0" err="1"/>
              <a:t>walidacji</a:t>
            </a:r>
            <a:r>
              <a:rPr dirty="0"/>
              <a:t>) i </a:t>
            </a:r>
            <a:r>
              <a:rPr dirty="0" err="1"/>
              <a:t>osobno</a:t>
            </a:r>
            <a:r>
              <a:rPr dirty="0"/>
              <a:t> VALIDATE CONSTRAINT, </a:t>
            </a:r>
            <a:r>
              <a:rPr dirty="0" err="1"/>
              <a:t>które</a:t>
            </a:r>
            <a:r>
              <a:rPr dirty="0"/>
              <a:t> </a:t>
            </a:r>
            <a:r>
              <a:rPr dirty="0" err="1"/>
              <a:t>bierze</a:t>
            </a:r>
            <a:r>
              <a:rPr dirty="0"/>
              <a:t> </a:t>
            </a:r>
            <a:r>
              <a:rPr dirty="0" err="1"/>
              <a:t>tylko</a:t>
            </a:r>
            <a:r>
              <a:rPr dirty="0"/>
              <a:t> SHARE UPDATE EXCLUSIVE.</a:t>
            </a:r>
          </a:p>
          <a:p>
            <a:endParaRPr dirty="0"/>
          </a:p>
          <a:p>
            <a:r>
              <a:rPr dirty="0"/>
              <a:t> \#  |  </a:t>
            </a:r>
            <a:r>
              <a:rPr dirty="0" err="1"/>
              <a:t>Sesja</a:t>
            </a:r>
            <a:r>
              <a:rPr dirty="0"/>
              <a:t> A  |  </a:t>
            </a:r>
            <a:r>
              <a:rPr dirty="0" err="1"/>
              <a:t>Sesja</a:t>
            </a:r>
            <a:r>
              <a:rPr dirty="0"/>
              <a:t> B  |  Co </a:t>
            </a:r>
            <a:r>
              <a:rPr dirty="0" err="1"/>
              <a:t>obserwujemy</a:t>
            </a:r>
            <a:r>
              <a:rPr dirty="0"/>
              <a:t> </a:t>
            </a:r>
          </a:p>
          <a:p>
            <a:r>
              <a:rPr dirty="0"/>
              <a:t>1 | BEGIN;  </a:t>
            </a:r>
          </a:p>
          <a:p>
            <a:r>
              <a:rPr dirty="0"/>
              <a:t>CREATE TRIGGER </a:t>
            </a:r>
            <a:r>
              <a:rPr dirty="0" err="1"/>
              <a:t>trg_bez_pustych</a:t>
            </a:r>
            <a:r>
              <a:rPr dirty="0"/>
              <a:t>  </a:t>
            </a:r>
          </a:p>
          <a:p>
            <a:r>
              <a:rPr dirty="0"/>
              <a:t> BEFORE UPDATE ON products  </a:t>
            </a:r>
          </a:p>
          <a:p>
            <a:r>
              <a:rPr dirty="0"/>
              <a:t> FOR EACH ROW EXECUTE FUNCTION  </a:t>
            </a:r>
          </a:p>
          <a:p>
            <a:r>
              <a:rPr dirty="0"/>
              <a:t> </a:t>
            </a:r>
            <a:r>
              <a:rPr dirty="0" err="1"/>
              <a:t>suppress_redundant_updates_trigger</a:t>
            </a:r>
            <a:r>
              <a:rPr dirty="0"/>
              <a:t>(); |  | A </a:t>
            </a:r>
            <a:r>
              <a:rPr dirty="0" err="1"/>
              <a:t>trzyma</a:t>
            </a:r>
            <a:r>
              <a:rPr dirty="0"/>
              <a:t> SHARE ROW EXCLUSIVE </a:t>
            </a:r>
            <a:r>
              <a:rPr dirty="0" err="1"/>
              <a:t>na</a:t>
            </a:r>
            <a:r>
              <a:rPr dirty="0"/>
              <a:t> products</a:t>
            </a:r>
          </a:p>
          <a:p>
            <a:r>
              <a:rPr dirty="0"/>
              <a:t>2 |  | SELECT * FROM products  </a:t>
            </a:r>
          </a:p>
          <a:p>
            <a:r>
              <a:rPr dirty="0"/>
              <a:t> WHERE </a:t>
            </a:r>
            <a:r>
              <a:rPr dirty="0" err="1"/>
              <a:t>product_id</a:t>
            </a:r>
            <a:r>
              <a:rPr dirty="0"/>
              <a:t> = 1; | </a:t>
            </a:r>
            <a:r>
              <a:rPr dirty="0" err="1"/>
              <a:t>działa</a:t>
            </a:r>
            <a:endParaRPr dirty="0"/>
          </a:p>
          <a:p>
            <a:r>
              <a:rPr dirty="0"/>
              <a:t>3 |  | UPDATE products  </a:t>
            </a:r>
          </a:p>
          <a:p>
            <a:r>
              <a:rPr dirty="0"/>
              <a:t>  SET stock = stock - 1  </a:t>
            </a:r>
          </a:p>
          <a:p>
            <a:r>
              <a:rPr dirty="0"/>
              <a:t> WHERE </a:t>
            </a:r>
            <a:r>
              <a:rPr dirty="0" err="1"/>
              <a:t>product_id</a:t>
            </a:r>
            <a:r>
              <a:rPr dirty="0"/>
              <a:t> = 1; | </a:t>
            </a:r>
            <a:r>
              <a:rPr dirty="0" err="1"/>
              <a:t>czeka</a:t>
            </a:r>
            <a:endParaRPr dirty="0"/>
          </a:p>
          <a:p>
            <a:r>
              <a:rPr dirty="0"/>
              <a:t>4 | ROLLBACK; |  | B </a:t>
            </a:r>
            <a:r>
              <a:rPr dirty="0" err="1"/>
              <a:t>wykonuje</a:t>
            </a:r>
            <a:r>
              <a:rPr dirty="0"/>
              <a:t> UPDATE; trigger </a:t>
            </a:r>
            <a:r>
              <a:rPr dirty="0" err="1"/>
              <a:t>nie</a:t>
            </a:r>
            <a:r>
              <a:rPr dirty="0"/>
              <a:t> </a:t>
            </a:r>
            <a:r>
              <a:rPr dirty="0" err="1"/>
              <a:t>powstał</a:t>
            </a:r>
            <a:endParaRPr dirty="0"/>
          </a:p>
          <a:p>
            <a:endParaRPr dirty="0"/>
          </a:p>
          <a:p>
            <a:endParaRPr dirty="0"/>
          </a:p>
          <a:p>
            <a:r>
              <a:rPr dirty="0"/>
              <a:t>  </a:t>
            </a:r>
          </a:p>
          <a:p>
            <a:r>
              <a:rPr dirty="0"/>
              <a:t>**Na co </a:t>
            </a:r>
            <a:r>
              <a:rPr dirty="0" err="1"/>
              <a:t>uważać</a:t>
            </a:r>
            <a:r>
              <a:rPr dirty="0"/>
              <a:t>: **NOT VALID + VALIDATE CONSTRAINT to </a:t>
            </a:r>
            <a:r>
              <a:rPr dirty="0" err="1"/>
              <a:t>standardowa</a:t>
            </a:r>
            <a:r>
              <a:rPr dirty="0"/>
              <a:t> </a:t>
            </a:r>
            <a:r>
              <a:rPr dirty="0" err="1"/>
              <a:t>technika</a:t>
            </a:r>
            <a:r>
              <a:rPr dirty="0"/>
              <a:t> </a:t>
            </a:r>
            <a:r>
              <a:rPr dirty="0" err="1"/>
              <a:t>migracji</a:t>
            </a:r>
            <a:r>
              <a:rPr dirty="0"/>
              <a:t> bez </a:t>
            </a:r>
            <a:r>
              <a:rPr dirty="0" err="1"/>
              <a:t>przestojów</a:t>
            </a:r>
            <a:r>
              <a:rPr dirty="0"/>
              <a:t> (</a:t>
            </a:r>
            <a:r>
              <a:rPr dirty="0" err="1"/>
              <a:t>dokumentacja</a:t>
            </a:r>
            <a:r>
              <a:rPr dirty="0"/>
              <a:t>: </a:t>
            </a:r>
            <a:r>
              <a:rPr dirty="0" err="1"/>
              <a:t>strona</a:t>
            </a:r>
            <a:r>
              <a:rPr dirty="0"/>
              <a:t> </a:t>
            </a:r>
            <a:r>
              <a:rPr dirty="0" err="1"/>
              <a:t>referencyjna</a:t>
            </a:r>
            <a:r>
              <a:rPr dirty="0"/>
              <a:t> **ALTER TABLE**, </a:t>
            </a:r>
            <a:r>
              <a:rPr dirty="0" err="1"/>
              <a:t>opis</a:t>
            </a:r>
            <a:r>
              <a:rPr dirty="0"/>
              <a:t> NOT VALID). </a:t>
            </a:r>
            <a:r>
              <a:rPr dirty="0" err="1"/>
              <a:t>suppress_redundant_updates_trigger</a:t>
            </a:r>
            <a:r>
              <a:rPr dirty="0"/>
              <a:t>() to </a:t>
            </a:r>
            <a:r>
              <a:rPr dirty="0" err="1"/>
              <a:t>wbudowana</a:t>
            </a:r>
            <a:r>
              <a:rPr dirty="0"/>
              <a:t> </a:t>
            </a:r>
            <a:r>
              <a:rPr dirty="0" err="1"/>
              <a:t>funkcja</a:t>
            </a:r>
            <a:r>
              <a:rPr dirty="0"/>
              <a:t> </a:t>
            </a:r>
            <a:r>
              <a:rPr dirty="0" err="1"/>
              <a:t>triggera</a:t>
            </a:r>
            <a:r>
              <a:rPr dirty="0"/>
              <a:t>, </a:t>
            </a:r>
            <a:r>
              <a:rPr dirty="0" err="1"/>
              <a:t>użyta</a:t>
            </a:r>
            <a:r>
              <a:rPr dirty="0"/>
              <a:t> </a:t>
            </a:r>
            <a:r>
              <a:rPr dirty="0" err="1"/>
              <a:t>tu</a:t>
            </a:r>
            <a:r>
              <a:rPr dirty="0"/>
              <a:t> </a:t>
            </a:r>
            <a:r>
              <a:rPr dirty="0" err="1"/>
              <a:t>tylko</a:t>
            </a:r>
            <a:r>
              <a:rPr dirty="0"/>
              <a:t> </a:t>
            </a:r>
            <a:r>
              <a:rPr dirty="0" err="1"/>
              <a:t>dlatego</a:t>
            </a:r>
            <a:r>
              <a:rPr dirty="0"/>
              <a:t>, </a:t>
            </a:r>
            <a:r>
              <a:rPr dirty="0" err="1"/>
              <a:t>że</a:t>
            </a:r>
            <a:r>
              <a:rPr dirty="0"/>
              <a:t> </a:t>
            </a:r>
            <a:r>
              <a:rPr dirty="0" err="1"/>
              <a:t>nie</a:t>
            </a:r>
            <a:r>
              <a:rPr dirty="0"/>
              <a:t> </a:t>
            </a:r>
            <a:r>
              <a:rPr dirty="0" err="1"/>
              <a:t>trzeba</a:t>
            </a:r>
            <a:r>
              <a:rPr dirty="0"/>
              <a:t> </a:t>
            </a:r>
            <a:r>
              <a:rPr dirty="0" err="1"/>
              <a:t>jej</a:t>
            </a:r>
            <a:r>
              <a:rPr dirty="0"/>
              <a:t> </a:t>
            </a:r>
            <a:r>
              <a:rPr dirty="0" err="1"/>
              <a:t>tworzyć</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EXCLUSIVE.</a:t>
            </a:r>
          </a:p>
          <a:p>
            <a:endParaRPr/>
          </a:p>
          <a:p>
            <a:r>
              <a:t>**Kto ją bierze: **REFRESH MATERIALIZED VIEW CONCURRENTLY oraz jawne LOCK TABLE ... IN EXCLUSIVE MODE.  </a:t>
            </a:r>
          </a:p>
          <a:p>
            <a:r>
              <a:t>**Koliduje z: **wszystko poza ACCESS SHARE. Dopuszcza tylko zwykłe odczyty.  </a:t>
            </a:r>
          </a:p>
          <a:p>
            <a:r>
              <a:t>**Przykład z życia: **Dashboard sprzedaży czyta widok mv_sprzedaz, odświeżany co 15 minut z crona poleceniem REFRESH MATERIALIZED VIEW CONCURRENTLY. Użytkownicy dashboardu przez cały czas widzą ostatnią wersję danych. Gdy wolumen urośnie i odświeżenie zacznie trwać ponad 15 minut, kolejne uruchomienie z crona będzie czekać na poprzednie i zadania zaczną się piętrzyć. Bez CONCURRENTLY odświeżenie bierze ACCESS EXCLUSIVE i dashboard przestaje odpowiadać.</a:t>
            </a:r>
          </a:p>
          <a:p>
            <a:endParaRPr/>
          </a:p>
          <a:p>
            <a:r>
              <a:t> \#  |  Sesja A  |  Sesja B  |  Co obserwujemy </a:t>
            </a:r>
          </a:p>
          <a:p>
            <a:r>
              <a:t>1 | BEGIN;  </a:t>
            </a:r>
          </a:p>
          <a:p>
            <a:r>
              <a:t>REFRESH MATERIALIZED VIEW  </a:t>
            </a:r>
          </a:p>
          <a:p>
            <a:r>
              <a:t>  CONCURRENTLY mv_sprzedaz; |  | A trzyma EXCLUSIVE na mv_sprzedaz</a:t>
            </a:r>
          </a:p>
          <a:p>
            <a:r>
              <a:t>2 |  | SELECT * FROM mv_sprzedaz  </a:t>
            </a:r>
          </a:p>
          <a:p>
            <a:r>
              <a:t> LIMIT 3; | działa – ACCESS SHARE jest dozwolony</a:t>
            </a:r>
          </a:p>
          <a:p>
            <a:r>
              <a:t>3 |  | REFRESH MATERIALIZED VIEW  </a:t>
            </a:r>
          </a:p>
          <a:p>
            <a:r>
              <a:t>  CONCURRENTLY mv_sprzedaz; | czeka – EXCLUSIVE koliduje sam ze sobą</a:t>
            </a:r>
          </a:p>
          <a:p>
            <a:r>
              <a:t>4 | COMMIT; |  | B wykonuje odświeżenie</a:t>
            </a:r>
          </a:p>
          <a:p>
            <a:endParaRPr/>
          </a:p>
          <a:p>
            <a:endParaRPr/>
          </a:p>
          <a:p>
            <a:r>
              <a:t>  </a:t>
            </a:r>
          </a:p>
          <a:p>
            <a:r>
              <a:t>**Na co uważać: **CONCURRENTLY wymaga unikalnego indeksu na widoku i zwykle trwa dłużej niż zwykłe odświeżenie, bo porównuje stary i nowy zestaw danych. Chroni czytelników, ale nie przyspiesza samej operacji.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ACCESS EXCLUSIVE.</a:t>
            </a:r>
          </a:p>
          <a:p>
            <a:endParaRPr/>
          </a:p>
          <a:p>
            <a:r>
              <a:t>**Kto ją bierze: **DROP TABLE, TRUNCATE, VACUUM FULL, CLUSTER, REINDEX (na przebudowywanym indeksie; tabela dostaje SHARE), REFRESH MATERIALIZED VIEW bez CONCURRENTLY, większość form ALTER TABLE (ADD/DROP COLUMN, ALTER COLUMN TYPE, RENAME), LOCK TABLE bez podania trybu.  </a:t>
            </a:r>
          </a:p>
          <a:p>
            <a:r>
              <a:t>**Koliduje z: **ze wszystkimi trybami, także z ACCESS SHARE. To jedyny tryb, który blokuje zwykły SELECT.  </a:t>
            </a:r>
          </a:p>
          <a:p>
            <a:r>
              <a:t>**Przykład z życia: **Nocny skrypt ETL zaczyna od TRUNCATE order_items_staging i ładuje dane w jednej długiej transakcji. Raport, który przypadkiem czyta tę tabelę, wisi do końca ładowania. W rozdziale 6 opisano groźniejszą wersję tego problemu: krótkie ALTER TABLE w godzinach szczytu, które przez kolejkę blokad zatrzymuje cały sklep.</a:t>
            </a:r>
          </a:p>
          <a:p>
            <a:endParaRPr/>
          </a:p>
          <a:p>
            <a:r>
              <a:t> \#  |  Sesja A  |  Sesja B  |  Co obserwujemy </a:t>
            </a:r>
          </a:p>
          <a:p>
            <a:r>
              <a:t>1 | BEGIN;  </a:t>
            </a:r>
          </a:p>
          <a:p>
            <a:r>
              <a:t>TRUNCATE order_items; |  | A trzyma ACCESS EXCLUSIVE na order_items</a:t>
            </a:r>
          </a:p>
          <a:p>
            <a:r>
              <a:t>2 |  | SELECT count(*)  </a:t>
            </a:r>
          </a:p>
          <a:p>
            <a:r>
              <a:t>  FROM order_items; | czeka – nawet zwykły odczyt</a:t>
            </a:r>
          </a:p>
          <a:p>
            <a:r>
              <a:t>3 |  |  | C: B ma AccessShareLock , granted = f</a:t>
            </a:r>
          </a:p>
          <a:p>
            <a:r>
              <a:t>4 | ROLLBACK; |  | B dostaje wynik (TRUNCATE wycofany)</a:t>
            </a:r>
          </a:p>
          <a:p>
            <a:endParaRPr/>
          </a:p>
          <a:p>
            <a:endParaRPr/>
          </a:p>
          <a:p>
            <a:r>
              <a:t>  </a:t>
            </a:r>
          </a:p>
          <a:p>
            <a:r>
              <a:t>**Na co uważać: **w produkcji każdą operację wymagającą ACCESS EXCLUSIVE poprzedzaj SET lock_timeout. Duże przebudowy tabel (VACUUM FULL, CLUSTER) zastępuj, jeśli to możliwe, narzędziem pg_repack. To rozszerzenie zewnętrzne (github.com/reorg/pg_repack), które trzyma silną blokadę tylko na krótką chwilę na początku i na końcu.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4. Blokady na poziomie wiersza.</a:t>
            </a:r>
          </a:p>
          <a:p>
            <a:endParaRPr/>
          </a:p>
          <a:p>
            <a:r>
              <a:t>Blokady wierszy biorą UPDATE, DELETE, sprawdzanie kluczy obcych oraz SELECT z klauzulą FOR .... **Nie są przechowywane w tablicy blokad w pamięci współdzielonej**, tylko w nagłówku krotki: identyfikator transakcji trafia do pola xmax, a tryb zapisują bity informacyjne. Gdy wiersz blokuje kilka transakcji naraz (np. wiele FOR KEY SHARE), PostgreSQL zapisuje w xmax identyfikator MultiXact (katalog pg_multixact). Dzięki temu można zablokować miliony wierszy bez ryzyka wyczerpania max_locks_per_transaction.  </a:t>
            </a:r>
          </a:p>
          <a:p>
            <a:r>
              <a:t>Skutek dla diagnostyki: **pojedynczy zablokowany wiersz nie jest widoczny w pg_locks**. Gdy ktoś na niego czeka, w pg_locks pojawia się blokada typu tuple oraz oczekiwanie ShareLock na transactionid transakcji, która trzyma wiersz.</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4.1 Macierz konfliktów.</a:t>
            </a:r>
          </a:p>
          <a:p>
            <a:endParaRPr/>
          </a:p>
          <a:p>
            <a:r>
              <a:t>Żądany \\ trzymany  |  FOR KEY SHARE  |  FOR SHARE  |  FOR NO KEY UPDATE  |  FOR UPDATE </a:t>
            </a:r>
          </a:p>
          <a:p>
            <a:r>
              <a:t>FOR KEY SHARE |  |  |  | X</a:t>
            </a:r>
          </a:p>
          <a:p>
            <a:r>
              <a:t>FOR SHARE |  |  | X | X</a:t>
            </a:r>
          </a:p>
          <a:p>
            <a:r>
              <a:t>FOR NO KEY UPDATE |  | X | X | X</a:t>
            </a:r>
          </a:p>
          <a:p>
            <a:r>
              <a:t>FOR UPDATE | X | X | X | X</a:t>
            </a:r>
          </a:p>
          <a:p>
            <a:endParaRPr/>
          </a:p>
          <a:p>
            <a:endParaRPr/>
          </a:p>
          <a:p>
            <a:r>
              <a:t>  </a:t>
            </a:r>
          </a:p>
          <a:p>
            <a:r>
              <a:t>Źródło: dokumentacja 13.3.2, tabela „Conflicting Row-Level Locks”.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FOR KEY SHARE.</a:t>
            </a:r>
          </a:p>
          <a:p>
            <a:endParaRPr/>
          </a:p>
          <a:p>
            <a:r>
              <a:t>**Kto ją bierze: **niejawnie sprawdzanie klucza obcego. Gdy wstawiasz pozycję zamówienia z product_id = 5, PostgreSQL blokuje wiersz produktu 5 w trybie FOR KEY SHARE, żeby nikt go nie usunął przed COMMIT. Jawnie: SELECT ... FOR KEY SHARE.  </a:t>
            </a:r>
          </a:p>
          <a:p>
            <a:r>
              <a:t>**Koliduje z: **tylko FOR UPDATE, czyli z DELETE i ze zmianą klucza.  </a:t>
            </a:r>
          </a:p>
          <a:p>
            <a:r>
              <a:t>**Przykład z życia: **Klient składa zamówienie na rower (produkt 5). W tym samym czasie magazyn zmniejsza jego stan, a kategoria-manager zmienia cenę. Wszystko dzieje się równolegle. Jedynie próba usunięcia produktu 5 z katalogu musi poczekać na zakończenie transakcji zamówienia i ostatecznie kończy się błędem klucza obcego.</a:t>
            </a:r>
          </a:p>
          <a:p>
            <a:endParaRPr/>
          </a:p>
          <a:p>
            <a:r>
              <a:t> \#  |  Sesja A  |  Sesja B  |  Co obserwujemy </a:t>
            </a:r>
          </a:p>
          <a:p>
            <a:r>
              <a:t>1 | BEGIN;  </a:t>
            </a:r>
          </a:p>
          <a:p>
            <a:r>
              <a:t>INSERT INTO order_items  </a:t>
            </a:r>
          </a:p>
          <a:p>
            <a:r>
              <a:t>  VALUES (1, 1, 5, 2); |  | A trzyma FOR KEY SHARE na produkcie 5</a:t>
            </a:r>
          </a:p>
          <a:p>
            <a:r>
              <a:t>2 |  | UPDATE products  </a:t>
            </a:r>
          </a:p>
          <a:p>
            <a:r>
              <a:t>  SET stock = stock - 2  </a:t>
            </a:r>
          </a:p>
          <a:p>
            <a:r>
              <a:t> WHERE product_id = 5; | działa – NO KEY UPDATE nie koliduje z KEY SHARE</a:t>
            </a:r>
          </a:p>
          <a:p>
            <a:r>
              <a:t>3 |  | DELETE FROM products  </a:t>
            </a:r>
          </a:p>
          <a:p>
            <a:r>
              <a:t> WHERE product_id = 5; | czeka – DELETE potrzebuje FOR UPDATE</a:t>
            </a:r>
          </a:p>
          <a:p>
            <a:r>
              <a:t>4 | COMMIT; |  | B: ERROR: update or delete on table "products" violates foreign key constraint</a:t>
            </a:r>
          </a:p>
          <a:p>
            <a:endParaRPr/>
          </a:p>
          <a:p>
            <a:endParaRPr/>
          </a:p>
          <a:p>
            <a:r>
              <a:t>  </a:t>
            </a:r>
          </a:p>
          <a:p>
            <a:r>
              <a:t>DELETE FROM order_items WHERE order_id = 1;   -- sprzątanie  </a:t>
            </a:r>
          </a:p>
          <a:p>
            <a:r>
              <a:t>**Na co uważać: **przed PostgreSQL 9.3 sprawdzanie klucza obcego brało FOR SHARE, przez co zwykły UPDATE wiersza nadrzędnego czekał. Uczestnicy, którzy pamiętają stare artykuły, mogą wciąż uważać, że klucze obce „mocno blokują” tabelę nadrzędną.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FOR SHARE.</a:t>
            </a:r>
          </a:p>
          <a:p>
            <a:endParaRPr/>
          </a:p>
          <a:p>
            <a:r>
              <a:t>**Kto ją bierze: **tylko jawnie: SELECT ... FOR SHARE.  </a:t>
            </a:r>
          </a:p>
          <a:p>
            <a:r>
              <a:t>**Koliduje z: **FOR NO KEY UPDATE i FOR UPDATE. Wiele transakcji może jednocześnie trzymać FOR SHARE na tym samym wierszu.  </a:t>
            </a:r>
          </a:p>
          <a:p>
            <a:r>
              <a:t>**Przykład z życia: **Moduł fakturowania wystawia fakturę na podstawie ceny produktu i musi mieć pewność, że do końca transakcji nikt tej ceny nie zmieni. Kilka faktur na ten sam produkt może powstawać równolegle. Zmiana cennika czeka, aż wszystkie się zakończą.</a:t>
            </a:r>
          </a:p>
          <a:p>
            <a:endParaRPr/>
          </a:p>
          <a:p>
            <a:r>
              <a:t> \#  |  Sesja A  |  Sesja B  |  Co obserwujemy </a:t>
            </a:r>
          </a:p>
          <a:p>
            <a:r>
              <a:t>1 | BEGIN;  </a:t>
            </a:r>
          </a:p>
          <a:p>
            <a:r>
              <a:t>SELECT price FROM products  </a:t>
            </a:r>
          </a:p>
          <a:p>
            <a:r>
              <a:t> WHERE product_id = 7  </a:t>
            </a:r>
          </a:p>
          <a:p>
            <a:r>
              <a:t> FOR SHARE; |  | A trzyma FOR SHARE na produkcie 7</a:t>
            </a:r>
          </a:p>
          <a:p>
            <a:r>
              <a:t>2 |  | SELECT price FROM products  </a:t>
            </a:r>
          </a:p>
          <a:p>
            <a:r>
              <a:t> WHERE product_id = 7  </a:t>
            </a:r>
          </a:p>
          <a:p>
            <a:r>
              <a:t> FOR SHARE; | działa – blokada współdzielona</a:t>
            </a:r>
          </a:p>
          <a:p>
            <a:r>
              <a:t>3 |  | UPDATE products  </a:t>
            </a:r>
          </a:p>
          <a:p>
            <a:r>
              <a:t>  SET price = price * 1.1  </a:t>
            </a:r>
          </a:p>
          <a:p>
            <a:r>
              <a:t> WHERE product_id = 7; | czeka</a:t>
            </a:r>
          </a:p>
          <a:p>
            <a:r>
              <a:t>4 |  |  | C: B czeka na ShareLock na xid transakcji A</a:t>
            </a:r>
          </a:p>
          <a:p>
            <a:r>
              <a:t>5 | COMMIT; |  | B wykonuje UPDATE</a:t>
            </a:r>
          </a:p>
          <a:p>
            <a:endParaRPr/>
          </a:p>
          <a:p>
            <a:endParaRPr/>
          </a:p>
          <a:p>
            <a:r>
              <a:t>  </a:t>
            </a:r>
          </a:p>
          <a:p>
            <a:r>
              <a:t>**Na co uważać: **dwie sesje, które najpierw biorą FOR SHARE na ten sam wiersz, a potem próbują go zmienić, kończą się zakleszczeniem. Jeśli wiadomo, że wiersz będzie modyfikowany, od razu bierz FOR NO KEY UPDATE lub FOR UPDATE.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FOR NO KEY UPDATE.</a:t>
            </a:r>
          </a:p>
          <a:p>
            <a:endParaRPr/>
          </a:p>
          <a:p>
            <a:r>
              <a:t>**Kto ją bierze: **niejawnie każdy UPDATE, który nie zmienia kolumn klucza, czyli zdecydowana większość aktualizacji. Jawnie: SELECT ... FOR NO KEY UPDATE.  </a:t>
            </a:r>
          </a:p>
          <a:p>
            <a:r>
              <a:t>**Koliduje z: **FOR SHARE, FOR NO KEY UPDATE, FOR UPDATE. Nie koliduje z FOR KEY SHARE.  </a:t>
            </a:r>
          </a:p>
          <a:p>
            <a:r>
              <a:t>**Przykład z życia: **Dwa procesy, kasa w sklepie stacjonarnym i sklep internetowy, równocześnie sprzedają ten sam kask i zmniejszają stock. Drugi UPDATE czeka na pierwszy. W trybie READ COMMITTED po zatwierdzeniu pierwszego PostgreSQL ponownie odczytuje najnowszą wersję wiersza i odejmuje od nowej wartości, więc stan jest poprawny (brak „lost update”).</a:t>
            </a:r>
          </a:p>
          <a:p>
            <a:endParaRPr/>
          </a:p>
          <a:p>
            <a:r>
              <a:t> \#  |  Sesja A  |  Sesja B  |  Co obserwujemy </a:t>
            </a:r>
          </a:p>
          <a:p>
            <a:r>
              <a:t>1 | BEGIN;  </a:t>
            </a:r>
          </a:p>
          <a:p>
            <a:r>
              <a:t>UPDATE products  </a:t>
            </a:r>
          </a:p>
          <a:p>
            <a:r>
              <a:t>  SET stock = stock - 1  </a:t>
            </a:r>
          </a:p>
          <a:p>
            <a:r>
              <a:t> WHERE product_id = 8; |  | A trzyma FOR NO KEY UPDATE na produkcie 8</a:t>
            </a:r>
          </a:p>
          <a:p>
            <a:r>
              <a:t>2 |  | INSERT INTO order_items  </a:t>
            </a:r>
          </a:p>
          <a:p>
            <a:r>
              <a:t>  VALUES (2, 1, 8, 1); | działa – sprawdzenie FK (KEY SHARE) nie czeka</a:t>
            </a:r>
          </a:p>
          <a:p>
            <a:r>
              <a:t>3 |  | UPDATE products  </a:t>
            </a:r>
          </a:p>
          <a:p>
            <a:r>
              <a:t>  SET stock = stock - 1  </a:t>
            </a:r>
          </a:p>
          <a:p>
            <a:r>
              <a:t> WHERE product_id = 8; | czeka</a:t>
            </a:r>
          </a:p>
          <a:p>
            <a:r>
              <a:t>4 | COMMIT; |  | B: UPDATE 1</a:t>
            </a:r>
          </a:p>
          <a:p>
            <a:r>
              <a:t>5 |  | SELECT stock FROM products  </a:t>
            </a:r>
          </a:p>
          <a:p>
            <a:r>
              <a:t> WHERE product_id = 8; | 98 – obie zmiany uwzględnione</a:t>
            </a:r>
          </a:p>
          <a:p>
            <a:endParaRPr/>
          </a:p>
          <a:p>
            <a:endParaRPr/>
          </a:p>
          <a:p>
            <a:r>
              <a:t>  </a:t>
            </a:r>
          </a:p>
          <a:p>
            <a:r>
              <a:t>DELETE FROM order_items WHERE order_id = 2;   -- sprzątanie  </a:t>
            </a:r>
          </a:p>
          <a:p>
            <a:r>
              <a:t>**Na co uważać: **w REPEATABLE READ i SERIALIZABLE ponowna ocena wiersza nie następuje: krok 3 kończy się błędem could not serialize access due to concurrent update i aplikacja musi powtórzyć transakcję (dokumentacja 13.2.2 Repeatable Read Isolation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FOR UPDATE.</a:t>
            </a:r>
          </a:p>
          <a:p>
            <a:endParaRPr/>
          </a:p>
          <a:p>
            <a:r>
              <a:t>**Kto ją bierze: **niejawnie DELETE oraz UPDATE zmieniający kolumny klucza. Jawnie: SELECT ... FOR UPDATE, klasyczna blokada pesymistyczna „czytam, bo za chwilę zmienię”.  </a:t>
            </a:r>
          </a:p>
          <a:p>
            <a:r>
              <a:t>**Koliduje z: **ze wszystkimi trybami blokad wierszy, także z FOR KEY SHARE.  </a:t>
            </a:r>
          </a:p>
          <a:p>
            <a:r>
              <a:t>**Przykład z życia: **Został ostatni egzemplarz roweru (produkt 9). Bez blokady dwie sesje odczytują stock = 1 i obie sprzedają, a w magazynie robi się -1. Z SELECT ... FOR UPDATE druga sesja czeka i po odblokowaniu widzi stock = 0. Drugi typowy przypadek to kolejka zadań w tabeli. Kilka procesów pobiera zamówienia do wysyłki poleceniem SELECT ... FOR UPDATE SKIP LOCKED LIMIT 1, dzięki czemu każdy dostaje inne zamówienie i nikt na nikogo nie czeka.</a:t>
            </a:r>
          </a:p>
          <a:p>
            <a:endParaRPr/>
          </a:p>
          <a:p>
            <a:r>
              <a:t> \#  |  Sesja A  |  Sesja B  |  Co obserwujemy </a:t>
            </a:r>
          </a:p>
          <a:p>
            <a:r>
              <a:t>1 | BEGIN;  </a:t>
            </a:r>
          </a:p>
          <a:p>
            <a:r>
              <a:t>SELECT stock FROM products  </a:t>
            </a:r>
          </a:p>
          <a:p>
            <a:r>
              <a:t> WHERE product_id = 9  </a:t>
            </a:r>
          </a:p>
          <a:p>
            <a:r>
              <a:t> FOR UPDATE; |  | A trzyma FOR UPDATE na produkcie 9</a:t>
            </a:r>
          </a:p>
          <a:p>
            <a:r>
              <a:t>2 |  | SELECT stock FROM products  </a:t>
            </a:r>
          </a:p>
          <a:p>
            <a:r>
              <a:t> WHERE product_id = 9  </a:t>
            </a:r>
          </a:p>
          <a:p>
            <a:r>
              <a:t> FOR UPDATE NOWAIT; | natychmiast: ERROR: could not obtain lock on row in relation "products"</a:t>
            </a:r>
          </a:p>
          <a:p>
            <a:r>
              <a:t>3 |  | SELECT product_id FROM products  </a:t>
            </a:r>
          </a:p>
          <a:p>
            <a:r>
              <a:t> WHERE product_id BETWEEN 9 AND 11  </a:t>
            </a:r>
          </a:p>
          <a:p>
            <a:r>
              <a:t> FOR UPDATE SKIP LOCKED; | zwraca 10 i 11 – wiersz 9 pominięty</a:t>
            </a:r>
          </a:p>
          <a:p>
            <a:r>
              <a:t>4 |  | SELECT stock FROM products  </a:t>
            </a:r>
          </a:p>
          <a:p>
            <a:r>
              <a:t> WHERE product_id = 9  </a:t>
            </a:r>
          </a:p>
          <a:p>
            <a:r>
              <a:t> FOR KEY SHARE; | czeka – FOR UPDATE koliduje nawet z KEY SHARE</a:t>
            </a:r>
          </a:p>
          <a:p>
            <a:r>
              <a:t>5 | COMMIT; |  | B dostaje wynik</a:t>
            </a:r>
          </a:p>
          <a:p>
            <a:endParaRPr/>
          </a:p>
          <a:p>
            <a:endParaRPr/>
          </a:p>
          <a:p>
            <a:r>
              <a:t>  </a:t>
            </a:r>
          </a:p>
          <a:p>
            <a:r>
              <a:t>**Na co uważać: **SELECT ... FOR UPDATE bez WHERE (lub z LIMIT bez ORDER BY) potrafi zablokować przypadkowe wiersze i jest częstym źródłem zakleszczeń. SKIP LOCKED z założenia daje niespójny obraz danych, więc nadaje się do kolejek, a nie do raportów (strona referencyjna **SELECT**, sekcja „The Locking Clause”).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FOR UPDATE.</a:t>
            </a:r>
          </a:p>
          <a:p>
            <a:endParaRPr/>
          </a:p>
          <a:p>
            <a:r>
              <a:t>**Kto ją bierze: **niejawnie DELETE oraz UPDATE zmieniający kolumny klucza. Jawnie: SELECT ... FOR UPDATE, klasyczna blokada pesymistyczna „czytam, bo za chwilę zmienię”.  </a:t>
            </a:r>
          </a:p>
          <a:p>
            <a:r>
              <a:t>**Koliduje z: **ze wszystkimi trybami blokad wierszy, także z FOR KEY SHARE.  </a:t>
            </a:r>
          </a:p>
          <a:p>
            <a:r>
              <a:t>**Przykład z życia: **Został ostatni egzemplarz roweru (produkt 9). Bez blokady dwie sesje odczytują stock = 1 i obie sprzedają, a w magazynie robi się -1. Z SELECT ... FOR UPDATE druga sesja czeka i po odblokowaniu widzi stock = 0. Drugi typowy przypadek to kolejka zadań w tabeli. Kilka procesów pobiera zamówienia do wysyłki poleceniem SELECT ... FOR UPDATE SKIP LOCKED LIMIT 1, dzięki czemu każdy dostaje inne zamówienie i nikt na nikogo nie czeka.</a:t>
            </a:r>
          </a:p>
          <a:p>
            <a:endParaRPr/>
          </a:p>
          <a:p>
            <a:r>
              <a:t> \#  |  Sesja A  |  Sesja B  |  Co obserwujemy </a:t>
            </a:r>
          </a:p>
          <a:p>
            <a:r>
              <a:t>1 | BEGIN;  </a:t>
            </a:r>
          </a:p>
          <a:p>
            <a:r>
              <a:t>SELECT stock FROM products  </a:t>
            </a:r>
          </a:p>
          <a:p>
            <a:r>
              <a:t> WHERE product_id = 9  </a:t>
            </a:r>
          </a:p>
          <a:p>
            <a:r>
              <a:t> FOR UPDATE; |  | A trzyma FOR UPDATE na produkcie 9</a:t>
            </a:r>
          </a:p>
          <a:p>
            <a:r>
              <a:t>2 |  | SELECT stock FROM products  </a:t>
            </a:r>
          </a:p>
          <a:p>
            <a:r>
              <a:t> WHERE product_id = 9  </a:t>
            </a:r>
          </a:p>
          <a:p>
            <a:r>
              <a:t> FOR UPDATE NOWAIT; | natychmiast: ERROR: could not obtain lock on row in relation "products"</a:t>
            </a:r>
          </a:p>
          <a:p>
            <a:r>
              <a:t>3 |  | SELECT product_id FROM products  </a:t>
            </a:r>
          </a:p>
          <a:p>
            <a:r>
              <a:t> WHERE product_id BETWEEN 9 AND 11  </a:t>
            </a:r>
          </a:p>
          <a:p>
            <a:r>
              <a:t> FOR UPDATE SKIP LOCKED; | zwraca 10 i 11 – wiersz 9 pominięty</a:t>
            </a:r>
          </a:p>
          <a:p>
            <a:r>
              <a:t>4 |  | SELECT stock FROM products  </a:t>
            </a:r>
          </a:p>
          <a:p>
            <a:r>
              <a:t> WHERE product_id = 9  </a:t>
            </a:r>
          </a:p>
          <a:p>
            <a:r>
              <a:t> FOR KEY SHARE; | czeka – FOR UPDATE koliduje nawet z KEY SHARE</a:t>
            </a:r>
          </a:p>
          <a:p>
            <a:r>
              <a:t>5 | COMMIT; |  | B dostaje wynik</a:t>
            </a:r>
          </a:p>
          <a:p>
            <a:endParaRPr/>
          </a:p>
          <a:p>
            <a:endParaRPr/>
          </a:p>
          <a:p>
            <a:r>
              <a:t>  </a:t>
            </a:r>
          </a:p>
          <a:p>
            <a:r>
              <a:t>**Na co uważać: **SELECT ... FOR UPDATE bez WHERE (lub z LIMIT bez ORDER BY) potrafi zablokować przypadkowe wiersze i jest częstym źródłem zakleszczeń. SKIP LOCKED z założenia daje niespójny obraz danych, więc nadaje się do kolejek, a nie do raportów (strona referencyjna **SELECT**, sekcja „The Locking Clause”).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5. Blokady doradcze (advisory locks).</a:t>
            </a:r>
          </a:p>
          <a:p>
            <a:endParaRPr/>
          </a:p>
          <a:p>
            <a:r>
              <a:t>Blokady doradcze definiuje aplikacja. PostgreSQL pilnuje tylko klucza liczbowego (bigint albo dwóch int) i nie wiąże go z żadnym obiektem w bazie. Występują w dwóch wariantach: **sesyjnym** (pg_advisory_lock, zwalniana jawnie lub przy rozłączeniu, niezależnie od COMMIT/ROLLBACK) oraz **transakcyjnym** (pg_advisory_xact_lock, zwalniana na końcu transakcji). Każda funkcja ma wersję pg_try_..., która nie czeka, tylko zwraca true lub false, oraz wersję ..._shared. Dokumentacja: 13.3.5 Advisory Locks oraz **Advisory Lock Functions** w rozdziale o funkcjach administracyjnych.  </a:t>
            </a:r>
          </a:p>
          <a:p>
            <a:r>
              <a:t>**Przykład z życia: **nocny eksport zamówień do systemu ERP jest uruchamiany z crona na dwóch serwerach aplikacyjnych (wysoka dostępność). Bez koordynacji eksport wykonałby się dwa razy. Każdy proces zaczyna od pg_try_advisory_lock(hashtext('eksport_nocny')). Proces, który dostanie true, wykonuje eksport, a drugi kończy pracę.</a:t>
            </a:r>
          </a:p>
          <a:p>
            <a:endParaRPr/>
          </a:p>
          <a:p>
            <a:r>
              <a:t> \#  |  Sesja A  |  Sesja B  |  Co obserwujemy </a:t>
            </a:r>
          </a:p>
          <a:p>
            <a:r>
              <a:t>1 | SELECT pg_try_advisory_lock(  </a:t>
            </a:r>
          </a:p>
          <a:p>
            <a:r>
              <a:t>  hashtext('eksport_nocny')); |  | t – A ma blokadę</a:t>
            </a:r>
          </a:p>
          <a:p>
            <a:r>
              <a:t>2 |  | SELECT pg_try_advisory_lock(  </a:t>
            </a:r>
          </a:p>
          <a:p>
            <a:r>
              <a:t>  hashtext('eksport_nocny')); | f – eksport już trwa, B kończy pracę</a:t>
            </a:r>
          </a:p>
          <a:p>
            <a:r>
              <a:t>3 |  |  | C: locktype advisory , ExclusiveLock , granted</a:t>
            </a:r>
          </a:p>
          <a:p>
            <a:r>
              <a:t>4 | SELECT pg_advisory_unlock(  </a:t>
            </a:r>
          </a:p>
          <a:p>
            <a:r>
              <a:t>  hashtext('eksport_nocny')); |  | t – blokada zwolniona</a:t>
            </a:r>
          </a:p>
          <a:p>
            <a:endParaRPr/>
          </a:p>
          <a:p>
            <a:endParaRPr/>
          </a:p>
          <a:p>
            <a:r>
              <a:t>  </a:t>
            </a:r>
          </a:p>
          <a:p>
            <a:r>
              <a:t>**Na co uważać: **blokady sesyjne są niebezpieczne z poolerem połączeń w trybie transakcyjnym (np. PgBouncer, narzędzie zewnętrzne). Blokada zostaje na połączeniu serwerowym, które zaraz obsłuży innego klienta. W takiej konfiguracji używaj wersji _xact_. Każda blokada doradcza zajmuje też miejsce we wspólnej tablicy blokad, której rozmiar wyznacza max_locks_per_transaction.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6. Kolejka blokad – dlaczego krótkie ALTER TABLE zatrzymuje sklep.</a:t>
            </a:r>
          </a:p>
          <a:p>
            <a:endParaRPr/>
          </a:p>
          <a:p>
            <a:r>
              <a:t>Żądania blokad czekają w kolejce. Nowe żądanie musi czekać nie tylko wtedy, gdy koliduje z blokadą **przyznaną**, ale także wtedy, gdy koliduje z żądaniem, które **czeka przed nim**. Mechanizm chroni przed zagłodzeniem silnych blokad, ale w praktyce daje groźny efekt: ALTER TABLE czekające na ACCESS EXCLUSIVE blokuje wszystkie późniejsze SELECT-y, choć samo jeszcze niczego nie trzyma.  </a:t>
            </a:r>
          </a:p>
          <a:p>
            <a:r>
              <a:t>Do tego scenariusza potrzebne są trzy sesje robocze i sesja obserwatora (D):</a:t>
            </a:r>
          </a:p>
          <a:p>
            <a:endParaRPr/>
          </a:p>
          <a:p>
            <a:r>
              <a:t> \#  |  Sesja A  |  Sesja B  |  Sesja C  |  Co obserwujemy </a:t>
            </a:r>
          </a:p>
          <a:p>
            <a:r>
              <a:t>1 | BEGIN;  </a:t>
            </a:r>
          </a:p>
          <a:p>
            <a:r>
              <a:t>SELECT count(*)  </a:t>
            </a:r>
          </a:p>
          <a:p>
            <a:r>
              <a:t>  FROM orders; |  |  | długi raport – ACCESS SHARE</a:t>
            </a:r>
          </a:p>
          <a:p>
            <a:r>
              <a:t>2 |  | ALTER TABLE orders  </a:t>
            </a:r>
          </a:p>
          <a:p>
            <a:r>
              <a:t>  ADD COLUMN kod text; |  | czeka na A</a:t>
            </a:r>
          </a:p>
          <a:p>
            <a:r>
              <a:t>3 |  |  | SELECT count(*)  </a:t>
            </a:r>
          </a:p>
          <a:p>
            <a:r>
              <a:t>  FROM orders; | czeka na B, choć nie koliduje z A!</a:t>
            </a:r>
          </a:p>
          <a:p>
            <a:r>
              <a:t>4 |  |  |  | D: pg_blocking_pids(pid C) = {pid B}</a:t>
            </a:r>
          </a:p>
          <a:p>
            <a:r>
              <a:t>5 | COMMIT; |  |  | B wykonuje ALTER, potem C dostaje wynik</a:t>
            </a:r>
          </a:p>
          <a:p>
            <a:endParaRPr/>
          </a:p>
          <a:p>
            <a:endParaRPr/>
          </a:p>
          <a:p>
            <a:r>
              <a:t>  </a:t>
            </a:r>
          </a:p>
          <a:p>
            <a:r>
              <a:t>-- sprzątanie  </a:t>
            </a:r>
          </a:p>
          <a:p>
            <a:r>
              <a:t>ALTER TABLE orders DROP COLUMN kod;   </a:t>
            </a:r>
          </a:p>
          <a:p>
            <a:r>
              <a:t>-- rozwiązanie produkcyjne: migracja z limitem czekania i ponawianiem  </a:t>
            </a:r>
          </a:p>
          <a:p>
            <a:r>
              <a:t>SET lock_timeout = '2s';  </a:t>
            </a:r>
          </a:p>
          <a:p>
            <a:r>
              <a:t>ALTER TABLE orders ADD COLUMN kod text;  </a:t>
            </a:r>
          </a:p>
          <a:p>
            <a:r>
              <a:t>-- ERROR: canceling statement due to lock timeout  → odczekaj i ponów  </a:t>
            </a:r>
          </a:p>
          <a:p>
            <a:r>
              <a:t>Przy ustawionym lock_timeout migracja nie wstrzymuje sklepu na dłużej niż 2 sekundy. Narzędzia do migracji (np. Flyway, Liquibase, Sqitch – zewnętrzne) pozwalają ustawić ten parametr na poziomie skryptu.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7. Zakleszczenia (deadlocks).</a:t>
            </a:r>
          </a:p>
          <a:p>
            <a:endParaRPr/>
          </a:p>
          <a:p>
            <a:r>
              <a:t>Zakleszczenie powstaje, gdy transakcja A czeka na zasób trzymany przez B, a B na zasób trzymany przez A. PostgreSQL nie sprawdza tego przy każdym czekaniu, bo to kosztowne. Detektor uruchamia się dopiero po deadlock_timeout czekania (domyślnie 1 s), znajduje cykl i przerywa jedną z transakcji. Dokumentacja: 13.3.4 Deadlocks oraz parametr deadlock_timeout w **Server Configuration → Lock Management**.  </a:t>
            </a:r>
          </a:p>
          <a:p>
            <a:r>
              <a:t>**Przykład z życia: **aplikacja magazynowa przy przyjęciu dostawy aktualizuje stany produktów w kolejności z dokumentu dostawy. Dwie dostawy z tymi samymi produktami w odwrotnej kolejności przetwarzane równolegle wpadają w zakleszczenie.</a:t>
            </a:r>
          </a:p>
          <a:p>
            <a:endParaRPr/>
          </a:p>
          <a:p>
            <a:r>
              <a:t> \#  |  Sesja A  |  Sesja B  |  Co obserwujemy </a:t>
            </a:r>
          </a:p>
          <a:p>
            <a:r>
              <a:t>1 | BEGIN;  </a:t>
            </a:r>
          </a:p>
          <a:p>
            <a:r>
              <a:t>UPDATE products SET stock = stock + 5  </a:t>
            </a:r>
          </a:p>
          <a:p>
            <a:r>
              <a:t> WHERE product_id = 1; |  | A blokuje wiersz 1</a:t>
            </a:r>
          </a:p>
          <a:p>
            <a:r>
              <a:t>2 |  | BEGIN;  </a:t>
            </a:r>
          </a:p>
          <a:p>
            <a:r>
              <a:t>UPDATE products SET stock = stock + 3  </a:t>
            </a:r>
          </a:p>
          <a:p>
            <a:r>
              <a:t> WHERE product_id = 2; | B blokuje wiersz 2</a:t>
            </a:r>
          </a:p>
          <a:p>
            <a:r>
              <a:t>3 | UPDATE products SET stock = stock + 5  </a:t>
            </a:r>
          </a:p>
          <a:p>
            <a:r>
              <a:t> WHERE product_id = 2; |  | A czeka na B</a:t>
            </a:r>
          </a:p>
          <a:p>
            <a:r>
              <a:t>4 |  | UPDATE products SET stock = stock + 3  </a:t>
            </a:r>
          </a:p>
          <a:p>
            <a:r>
              <a:t> WHERE product_id = 1; | po ok. 1 s B dostaje ERROR: deadlock detected</a:t>
            </a:r>
          </a:p>
          <a:p>
            <a:r>
              <a:t>5 | COMMIT; |  | A kończy się sukcesem; transakcja B jest wycofana</a:t>
            </a:r>
          </a:p>
          <a:p>
            <a:endParaRPr/>
          </a:p>
          <a:p>
            <a:endParaRPr/>
          </a:p>
          <a:p>
            <a:r>
              <a:t>  </a:t>
            </a:r>
          </a:p>
          <a:p>
            <a:r>
              <a:t>Komunikat błędu (oraz log serwera) zawiera szczegóły w sekcji DETAIL: który proces czekał na którą transakcję i jakie zapytania brały udział. Liczbę zakleszczeń od ostatniego resetu statystyk pokazuje pg_stat_database.deadlocks.  </a:t>
            </a:r>
          </a:p>
          <a:p>
            <a:r>
              <a:t>**Zapobieganie: **blokuj zasoby zawsze w tej samej kolejności, np. aktualizuj produkty posortowane po product_id albo zacznij od SELECT ... WHERE product_id = ANY($1) ORDER BY product_id FOR UPDATE. Transakcje powinny być krótkie, a aplikacja musi umieć ponowić transakcję przerwaną z kodem błędu 40P01.</a:t>
            </a:r>
          </a:p>
          <a:p>
            <a:r>
              <a:t>Uwaga prowadzącego: detektor może wybrać dowolną z transakcji jako ofiarę. Nie należy zakładać, że zawsze przerwie B. Po błędzie zakończ transakcję przez ROLLBACK i ponów całość.</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8.1 Kto kogo blokuje.</a:t>
            </a:r>
          </a:p>
          <a:p>
            <a:endParaRPr/>
          </a:p>
          <a:p>
            <a:r>
              <a:t>SELECT a.pid,  </a:t>
            </a:r>
          </a:p>
          <a:p>
            <a:r>
              <a:t>       pg_blocking_pids(a.pid)      AS blokowany_przez,  </a:t>
            </a:r>
          </a:p>
          <a:p>
            <a:r>
              <a:t>       a.wait_event_type, a.wait_event,  </a:t>
            </a:r>
          </a:p>
          <a:p>
            <a:r>
              <a:t>       a.state,  </a:t>
            </a:r>
          </a:p>
          <a:p>
            <a:r>
              <a:t>       now() - a.xact_start         AS czas_transakcji,  </a:t>
            </a:r>
          </a:p>
          <a:p>
            <a:r>
              <a:t>       left(a.query, 60)            AS zapytanie  </a:t>
            </a:r>
          </a:p>
          <a:p>
            <a:r>
              <a:t>FROM pg_stat_activity a  </a:t>
            </a:r>
          </a:p>
          <a:p>
            <a:r>
              <a:t>WHERE cardinality(pg_blocking_pids(a.pid)) &gt; 0;  </a:t>
            </a:r>
          </a:p>
          <a:p>
            <a:r>
              <a:t>Oczekiwany wynik w scenariuszu z rozdziału 6: wiersz sesji B z wait_event_type = Lock, wait_event = relation i blokowany_przez = {pid A} oraz wiersz sesji C z blokowany_przez = {pid B}. Funkcja pg_blocking_pids() uwzględnia kolejkę blokad, więc pokazuje także „blokujących czekających”.</a:t>
            </a:r>
          </a:p>
          <a:p>
            <a:r>
              <a:t>SELECT pid, usename, application_name, state,  </a:t>
            </a:r>
          </a:p>
          <a:p>
            <a:r>
              <a:t>       now() - xact_start AS czas_transakcji,  </a:t>
            </a:r>
          </a:p>
          <a:p>
            <a:r>
              <a:t>       left(query, 80)    AS ostatnie_zapytanie  </a:t>
            </a:r>
          </a:p>
          <a:p>
            <a:r>
              <a:t>FROM pg_stat_activity  </a:t>
            </a:r>
          </a:p>
          <a:p>
            <a:r>
              <a:t>WHERE pid IN (SELECT unnest(pg_blocking_pids(pid)) FROM pg_stat_activity)  </a:t>
            </a:r>
          </a:p>
          <a:p>
            <a:r>
              <a:t>ORDER BY xact_start;  </a:t>
            </a:r>
          </a:p>
          <a:p>
            <a:r>
              <a:t>Jeśli źródłem jest sesja idle in transaction, kolumna query pokazuje jej **ostatnie** zapytanie, a nie to, które wzięło blokadę.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8.3 Reakcja.</a:t>
            </a:r>
          </a:p>
          <a:p>
            <a:endParaRPr/>
          </a:p>
          <a:p>
            <a:r>
              <a:t>Funkcja  |  Działanie  |  Kiedy użyć </a:t>
            </a:r>
          </a:p>
          <a:p>
            <a:r>
              <a:t>pg_cancel_backend(pid) | przerywa bieżące zapytanie, sesja zostaje | długie zapytanie w aktywnej sesji</a:t>
            </a:r>
          </a:p>
          <a:p>
            <a:r>
              <a:t>pg_terminate_backend(pid) | zamyka sesję i wycofuje jej transakcję | sesja idle in transaction – anulowanie nic nie da, bo nie ma czego anulować</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8.4.</a:t>
            </a:r>
          </a:p>
          <a:p>
            <a:r>
              <a:t>Wartości bieżące: SHOW lock_timeout; SHOW statement_timeout; SHOW deadlock_timeout; SHOW log_lock_waits; SHOW idle_in_transaction_session_timeout; SHOW max_locks_per_transaction;</a:t>
            </a:r>
          </a:p>
          <a:p>
            <a:r>
              <a:t>Dokument źródłowy zawiera niepotwierdzoną sugestię zmiany log_lock_waits w PG18. Prezentacja nie traktuje jej jako faktu. max_locks_per_transaction określa średnią alokację wspólnej puli, nie sztywny limit na transakcję.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9. Typowe błędne przekonania.</a:t>
            </a:r>
          </a:p>
          <a:p>
            <a:endParaRPr/>
          </a:p>
          <a:p>
            <a:r>
              <a:t>Przekonanie  |  Jak jest naprawdę </a:t>
            </a:r>
          </a:p>
          <a:p>
            <a:r>
              <a:t>„SELECT blokuje tabelę przed zapisem.” | Nie. ACCESS SHARE koliduje tylko z ACCESS EXCLUSIVE ; MVCC rozdziela czytelników i piszących.</a:t>
            </a:r>
          </a:p>
          <a:p>
            <a:r>
              <a:t>„ROW EXCLUSIVE to blokada wiersza.” | To blokada tabeli brana przez DML. Blokady wierszy to cztery tryby FOR ... .</a:t>
            </a:r>
          </a:p>
          <a:p>
            <a:r>
              <a:t>„Blokada znika po zakończeniu zapytania.” | Trwa do końca transakcji. BEGIN bez COMMIT w narzędziu GUI to klasyczne źródło awarii.</a:t>
            </a:r>
          </a:p>
          <a:p>
            <a:r>
              <a:t>„ALTER TABLE ADD COLUMN jest natychmiastowe, więc bezpieczne.” | Wykonanie jest szybkie (od PG 11 także z domyślną wartością stałą), ale czekanie na ACCESS EXCLUSIVE i kolejka blokad mogą zatrzymać aplikację.</a:t>
            </a:r>
          </a:p>
          <a:p>
            <a:r>
              <a:t>„W pg_locks widzę wszystkie zablokowane wiersze.” | Nie – blokady wierszy są w nagłówkach krotek. W pg_locks widać tylko czekanie na nie.</a:t>
            </a:r>
          </a:p>
          <a:p>
            <a:r>
              <a:t>„Deadlock to błąd PostgreSQL.” | To błąd projektu aplikacji (niespójna kolejność blokowania). PostgreSQL tylko go wykrywa i przerywa jedną transakcję.</a:t>
            </a:r>
          </a:p>
          <a:p>
            <a:r>
              <a:t>„CREATE INDEX CONCURRENTLY nic nie blokuje.” | Nie blokuje DML, ale bierze SHARE UPDATE EXCLUSIVE , czeka na zakończenie starszych transakcji i nie może działać w bloku transakcji.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Źródło: Blokady_w_PostgreSQL.docx, sekcja 10. Pytania kontrolne.</a:t>
            </a:r>
          </a:p>
          <a:p>
            <a:endParaRPr/>
          </a:p>
          <a:p>
            <a:r>
              <a:t>- Które tryby blokad tabeli kolidują same ze sobą i dlaczego właśnie te?</a:t>
            </a:r>
          </a:p>
          <a:p>
            <a:r>
              <a:t>- Dlaczego CREATE INDEX blokuje INSERT, a CREATE INDEX CONCURRENTLY nie? Jaką cenę płacimy za CONCURRENTLY?</a:t>
            </a:r>
          </a:p>
          <a:p>
            <a:r>
              <a:t>- Sesja wykonała BEGIN; SELECT * FROM orders LIMIT 1; i od godziny jest idle in transaction. Jakie operacje są przez nią zablokowane i jak to wykryć?</a:t>
            </a:r>
          </a:p>
          <a:p>
            <a:r>
              <a:t>- Dlaczego wstawienie pozycji zamówienia nie czeka na zmianę ceny produktu, a czeka na jego usunięcie?</a:t>
            </a:r>
          </a:p>
          <a:p>
            <a:r>
              <a:t>- Narysuj kolejkę blokad dla scenariusza: długi SELECT → ALTER TABLE → nowy SELECT. Jak zabezpieczyć migrację?</a:t>
            </a:r>
          </a:p>
          <a:p>
            <a:r>
              <a:t>- Czym różni się NOWAIT od SKIP LOCKED i do jakich zastosowań pasuje każde z nich?</a:t>
            </a:r>
          </a:p>
          <a:p>
            <a:r>
              <a:t>- Dlaczego blokady doradcze na poziomie sesji są ryzykowne przy poolingu transakcyjnym?</a:t>
            </a:r>
          </a:p>
          <a:p>
            <a:endParaRPr/>
          </a:p>
          <a:p>
            <a:r>
              <a:t>Odpowiedzi: 1. SHARE z CREATE INDEX koliduje z ROW EXCLUSIVE z INSERT. 2. Otwarty SELECT trzyma ACCESS SHARE, ALTER oczekuje na ACCESS EXCLUSIVE, a nowy SELECT czeka za ALTER. 3. KEY SHARE nie koliduje z NO KEY UPDATE. 4. NOWAIT sygnalizuje konflikt, SKIP LOCKED pomija zajęte wiersze. 5. Blokada sesyjna może pozostać na połączeniu serwerowym po oddaniu go do puli.</a:t>
            </a:r>
          </a:p>
          <a:p>
            <a:endParaRPr/>
          </a:p>
          <a:p>
            <a:r>
              <a:t>- PostgreSQL 18 – **13.3 Explicit Locking**: postgresql.org/docs/18/explicit-locking.html</a:t>
            </a:r>
          </a:p>
          <a:p>
            <a:r>
              <a:t>- PostgreSQL 18 – **LOCK** (składnia i tryby): postgresql.org/docs/18/sql-lock.html</a:t>
            </a:r>
          </a:p>
          <a:p>
            <a:r>
              <a:t>- PostgreSQL 18 – **SELECT**, sekcja „The Locking Clause”: postgresql.org/docs/18/sql-select.html</a:t>
            </a:r>
          </a:p>
          <a:p>
            <a:r>
              <a:t>- PostgreSQL 18 – **ALTER TABLE** (tryby blokad dla poszczególnych podkomend, NOT VALID): postgresql.org/docs/18/sql-altertable.html</a:t>
            </a:r>
          </a:p>
          <a:p>
            <a:r>
              <a:t>- PostgreSQL 18 – widok **pg_locks**: postgresql.org/docs/18/view-pg-locks.html</a:t>
            </a:r>
          </a:p>
          <a:p>
            <a:r>
              <a:t>- PostgreSQL 18 – **Advisory Lock Functions**: postgresql.org/docs/18/functions-admin.html</a:t>
            </a:r>
          </a:p>
          <a:p>
            <a:r>
              <a:t>- PostgreSQL 18 – **Lock Management** (deadlock_timeout, max_locks_per_transaction): postgresql.org/docs/18/runtime-config-locks.html</a:t>
            </a:r>
          </a:p>
          <a:p>
            <a:r>
              <a:t>- PostgreSQL 18 – **Routine Vacuuming** (zachowanie autovacuum przy konfliktach blokad): postgresql.org/docs/18/routine-vacuuming.html</a:t>
            </a:r>
          </a:p>
          <a:p>
            <a:r>
              <a:t>- Narzędzie zewnętrzne **pg_repack**: github.com/reorg/pg_repack  </a:t>
            </a:r>
          </a:p>
          <a:p>
            <a:r>
              <a:t>Blokady w PostgreSQL · str.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7223404"/>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00000001-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01</a:t>
            </a:r>
          </a:p>
        </p:txBody>
      </p:sp>
      <p:sp>
        <p:nvSpPr>
          <p:cNvPr id="2" name="Prostokąt 1">
            <a:extLst>
              <a:ext uri="{FF2B5EF4-FFF2-40B4-BE49-F238E27FC236}">
                <a16:creationId xmlns:a16="http://schemas.microsoft.com/office/drawing/2014/main" id="{00000001-0002-4000-8000-000000000000}"/>
              </a:ext>
            </a:extLst>
          </p:cNvPr>
          <p:cNvSpPr>
            <a:spLocks noGrp="1"/>
          </p:cNvSpPr>
          <p:nvPr/>
        </p:nvSpPr>
        <p:spPr>
          <a:xfrm>
            <a:off x="609600" y="857250"/>
            <a:ext cx="8572500" cy="381000"/>
          </a:xfrm>
          <a:prstGeom prst="rect">
            <a:avLst/>
          </a:prstGeom>
          <a:noFill/>
          <a:ln w="0">
            <a:noFill/>
          </a:ln>
        </p:spPr>
        <p:txBody>
          <a:bodyPr>
            <a:noAutofit/>
          </a:bodyPr>
          <a:lstStyle/>
          <a:p>
            <a:pPr>
              <a:defRPr sz="1725" b="1">
                <a:solidFill>
                  <a:srgbClr val="176A88"/>
                </a:solidFill>
                <a:latin typeface="DejaVu Sans"/>
                <a:ea typeface="DejaVu Sans"/>
                <a:cs typeface="DejaVu Sans"/>
              </a:defRPr>
            </a:pPr>
            <a:r>
              <a:rPr sz="1725" b="1">
                <a:solidFill>
                  <a:srgbClr val="176A88"/>
                </a:solidFill>
                <a:latin typeface="DejaVu Sans"/>
                <a:ea typeface="DejaVu Sans"/>
                <a:cs typeface="DejaVu Sans"/>
              </a:rPr>
              <a:t>POSTGRESQL 18</a:t>
            </a:r>
          </a:p>
        </p:txBody>
      </p:sp>
      <p:sp>
        <p:nvSpPr>
          <p:cNvPr id="3" name="Prostokąt 2">
            <a:extLst>
              <a:ext uri="{FF2B5EF4-FFF2-40B4-BE49-F238E27FC236}">
                <a16:creationId xmlns:a16="http://schemas.microsoft.com/office/drawing/2014/main" id="{00000001-0003-4000-8000-000000000000}"/>
              </a:ext>
            </a:extLst>
          </p:cNvPr>
          <p:cNvSpPr>
            <a:spLocks noGrp="1"/>
          </p:cNvSpPr>
          <p:nvPr/>
        </p:nvSpPr>
        <p:spPr>
          <a:xfrm>
            <a:off x="609600" y="2143125"/>
            <a:ext cx="10287000" cy="1714500"/>
          </a:xfrm>
          <a:prstGeom prst="rect">
            <a:avLst/>
          </a:prstGeom>
          <a:noFill/>
          <a:ln w="0">
            <a:noFill/>
          </a:ln>
        </p:spPr>
        <p:txBody>
          <a:bodyPr>
            <a:noAutofit/>
          </a:bodyPr>
          <a:lstStyle/>
          <a:p>
            <a:pPr>
              <a:defRPr sz="5400" b="1">
                <a:solidFill>
                  <a:srgbClr val="182C3B"/>
                </a:solidFill>
                <a:latin typeface="DejaVu Sans"/>
                <a:ea typeface="DejaVu Sans"/>
                <a:cs typeface="DejaVu Sans"/>
              </a:defRPr>
            </a:pPr>
            <a:r>
              <a:rPr sz="5400" b="1">
                <a:solidFill>
                  <a:srgbClr val="182C3B"/>
                </a:solidFill>
                <a:latin typeface="DejaVu Sans"/>
                <a:ea typeface="DejaVu Sans"/>
                <a:cs typeface="DejaVu Sans"/>
              </a:rPr>
              <a:t>Blokady w PostgreSQL</a:t>
            </a:r>
          </a:p>
        </p:txBody>
      </p:sp>
      <p:sp>
        <p:nvSpPr>
          <p:cNvPr id="4" name="Prostokąt 3">
            <a:extLst>
              <a:ext uri="{FF2B5EF4-FFF2-40B4-BE49-F238E27FC236}">
                <a16:creationId xmlns:a16="http://schemas.microsoft.com/office/drawing/2014/main" id="{00000001-0004-4000-8000-000000000000}"/>
              </a:ext>
            </a:extLst>
          </p:cNvPr>
          <p:cNvSpPr>
            <a:spLocks noGrp="1"/>
          </p:cNvSpPr>
          <p:nvPr/>
        </p:nvSpPr>
        <p:spPr>
          <a:xfrm>
            <a:off x="647700" y="4314825"/>
            <a:ext cx="9525000" cy="1047750"/>
          </a:xfrm>
          <a:prstGeom prst="rect">
            <a:avLst/>
          </a:prstGeom>
          <a:noFill/>
          <a:ln w="0">
            <a:noFill/>
          </a:ln>
        </p:spPr>
        <p:txBody>
          <a:bodyPr>
            <a:noAutofit/>
          </a:bodyPr>
          <a:lstStyle/>
          <a:p>
            <a:pPr>
              <a:defRPr sz="2175" b="0">
                <a:solidFill>
                  <a:srgbClr val="526675"/>
                </a:solidFill>
                <a:latin typeface="DejaVu Sans"/>
                <a:ea typeface="DejaVu Sans"/>
                <a:cs typeface="DejaVu Sans"/>
              </a:defRPr>
            </a:pPr>
            <a:r>
              <a:rPr sz="2175" b="0">
                <a:solidFill>
                  <a:srgbClr val="526675"/>
                </a:solidFill>
                <a:latin typeface="DejaVu Sans"/>
                <a:ea typeface="DejaVu Sans"/>
                <a:cs typeface="DejaVu Sans"/>
              </a:rPr>
              <a:t>Pełny materiał szkoleniowy</a:t>
            </a:r>
          </a:p>
          <a:p>
            <a:pPr>
              <a:defRPr sz="2175" b="0">
                <a:solidFill>
                  <a:srgbClr val="526675"/>
                </a:solidFill>
                <a:latin typeface="DejaVu Sans"/>
                <a:ea typeface="DejaVu Sans"/>
                <a:cs typeface="DejaVu Sans"/>
              </a:defRPr>
            </a:pPr>
            <a:r>
              <a:rPr sz="2175" b="0">
                <a:solidFill>
                  <a:srgbClr val="526675"/>
                </a:solidFill>
                <a:latin typeface="DejaVu Sans"/>
                <a:ea typeface="DejaVu Sans"/>
                <a:cs typeface="DejaVu Sans"/>
              </a:rPr>
              <a:t>Tryby blokad, współbieżność i diagnostyka</a:t>
            </a:r>
          </a:p>
        </p:txBody>
      </p:sp>
    </p:spTree>
    <p:extLst>
      <p:ext uri="{BB962C8B-B14F-4D97-AF65-F5344CB8AC3E}">
        <p14:creationId xmlns:p14="http://schemas.microsoft.com/office/powerpoint/2010/main" val="100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rostokąt 9">
            <a:extLst>
              <a:ext uri="{FF2B5EF4-FFF2-40B4-BE49-F238E27FC236}">
                <a16:creationId xmlns:a16="http://schemas.microsoft.com/office/drawing/2014/main" id="{00000002-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02</a:t>
            </a:r>
          </a:p>
        </p:txBody>
      </p:sp>
      <p:sp>
        <p:nvSpPr>
          <p:cNvPr id="2" name="Prostokąt 1">
            <a:extLst>
              <a:ext uri="{FF2B5EF4-FFF2-40B4-BE49-F238E27FC236}">
                <a16:creationId xmlns:a16="http://schemas.microsoft.com/office/drawing/2014/main" id="{00000002-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MVCC i konflikty dostępu</a:t>
            </a:r>
          </a:p>
        </p:txBody>
      </p:sp>
      <p:sp>
        <p:nvSpPr>
          <p:cNvPr id="3" name="Prostokąt 2">
            <a:extLst>
              <a:ext uri="{FF2B5EF4-FFF2-40B4-BE49-F238E27FC236}">
                <a16:creationId xmlns:a16="http://schemas.microsoft.com/office/drawing/2014/main" id="{00000002-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Wyjątek ważny dla administratora: ACCESS EXCLUSIVE blokuje także zwykły SELECT.</a:t>
            </a:r>
          </a:p>
        </p:txBody>
      </p:sp>
      <p:sp>
        <p:nvSpPr>
          <p:cNvPr id="4" name="Prostokąt 3">
            <a:extLst>
              <a:ext uri="{FF2B5EF4-FFF2-40B4-BE49-F238E27FC236}">
                <a16:creationId xmlns:a16="http://schemas.microsoft.com/office/drawing/2014/main" id="{00000002-0004-4000-8000-000000000000}"/>
              </a:ext>
            </a:extLst>
          </p:cNvPr>
          <p:cNvSpPr>
            <a:spLocks noGrp="1"/>
          </p:cNvSpPr>
          <p:nvPr/>
        </p:nvSpPr>
        <p:spPr>
          <a:xfrm>
            <a:off x="609600" y="1752600"/>
            <a:ext cx="5191125" cy="666750"/>
          </a:xfrm>
          <a:prstGeom prst="rect">
            <a:avLst/>
          </a:prstGeom>
          <a:noFill/>
          <a:ln w="0">
            <a:noFill/>
          </a:ln>
        </p:spPr>
        <p:txBody>
          <a:bodyPr>
            <a:noAutofit/>
          </a:bodyPr>
          <a:lstStyle/>
          <a:p>
            <a:pPr>
              <a:defRPr sz="2400" b="1">
                <a:solidFill>
                  <a:srgbClr val="176A88"/>
                </a:solidFill>
                <a:latin typeface="DejaVu Sans"/>
                <a:ea typeface="DejaVu Sans"/>
                <a:cs typeface="DejaVu Sans"/>
              </a:defRPr>
            </a:pPr>
            <a:r>
              <a:rPr sz="2400" b="1">
                <a:solidFill>
                  <a:srgbClr val="176A88"/>
                </a:solidFill>
                <a:latin typeface="DejaVu Sans"/>
                <a:ea typeface="DejaVu Sans"/>
                <a:cs typeface="DejaVu Sans"/>
              </a:rPr>
              <a:t>MVCC</a:t>
            </a:r>
          </a:p>
        </p:txBody>
      </p:sp>
      <p:sp>
        <p:nvSpPr>
          <p:cNvPr id="5" name="Prostokąt 4">
            <a:extLst>
              <a:ext uri="{FF2B5EF4-FFF2-40B4-BE49-F238E27FC236}">
                <a16:creationId xmlns:a16="http://schemas.microsoft.com/office/drawing/2014/main" id="{00000002-0005-4000-8000-000000000000}"/>
              </a:ext>
            </a:extLst>
          </p:cNvPr>
          <p:cNvSpPr>
            <a:spLocks noGrp="1"/>
          </p:cNvSpPr>
          <p:nvPr/>
        </p:nvSpPr>
        <p:spPr>
          <a:xfrm>
            <a:off x="609600" y="2562225"/>
            <a:ext cx="5191125" cy="1400175"/>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Zwykły odczyt i zapis danych mogą działać równolegle.</a:t>
            </a:r>
          </a:p>
        </p:txBody>
      </p:sp>
      <p:sp>
        <p:nvSpPr>
          <p:cNvPr id="6" name="Prostokąt 5">
            <a:extLst>
              <a:ext uri="{FF2B5EF4-FFF2-40B4-BE49-F238E27FC236}">
                <a16:creationId xmlns:a16="http://schemas.microsoft.com/office/drawing/2014/main" id="{00000002-0006-4000-8000-000000000000}"/>
              </a:ext>
            </a:extLst>
          </p:cNvPr>
          <p:cNvSpPr>
            <a:spLocks noGrp="1"/>
          </p:cNvSpPr>
          <p:nvPr/>
        </p:nvSpPr>
        <p:spPr>
          <a:xfrm>
            <a:off x="609600" y="4105275"/>
            <a:ext cx="5191125" cy="1276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Odczyt korzysta z wersji wiersza widocznej dla transakcji.</a:t>
            </a:r>
          </a:p>
        </p:txBody>
      </p:sp>
      <p:sp>
        <p:nvSpPr>
          <p:cNvPr id="7" name="Prostokąt 6">
            <a:extLst>
              <a:ext uri="{FF2B5EF4-FFF2-40B4-BE49-F238E27FC236}">
                <a16:creationId xmlns:a16="http://schemas.microsoft.com/office/drawing/2014/main" id="{00000002-0007-4000-8000-000000000000}"/>
              </a:ext>
            </a:extLst>
          </p:cNvPr>
          <p:cNvSpPr>
            <a:spLocks noGrp="1"/>
          </p:cNvSpPr>
          <p:nvPr/>
        </p:nvSpPr>
        <p:spPr>
          <a:xfrm>
            <a:off x="6324600" y="1752600"/>
            <a:ext cx="5191125" cy="666750"/>
          </a:xfrm>
          <a:prstGeom prst="rect">
            <a:avLst/>
          </a:prstGeom>
          <a:noFill/>
          <a:ln w="0">
            <a:noFill/>
          </a:ln>
        </p:spPr>
        <p:txBody>
          <a:bodyPr>
            <a:noAutofit/>
          </a:bodyPr>
          <a:lstStyle/>
          <a:p>
            <a:pPr>
              <a:defRPr sz="2400" b="1">
                <a:solidFill>
                  <a:srgbClr val="176A88"/>
                </a:solidFill>
                <a:latin typeface="DejaVu Sans"/>
                <a:ea typeface="DejaVu Sans"/>
                <a:cs typeface="DejaVu Sans"/>
              </a:defRPr>
            </a:pPr>
            <a:r>
              <a:rPr sz="2400" b="1">
                <a:solidFill>
                  <a:srgbClr val="176A88"/>
                </a:solidFill>
                <a:latin typeface="DejaVu Sans"/>
                <a:ea typeface="DejaVu Sans"/>
                <a:cs typeface="DejaVu Sans"/>
              </a:rPr>
              <a:t>Blokady</a:t>
            </a:r>
          </a:p>
        </p:txBody>
      </p:sp>
      <p:sp>
        <p:nvSpPr>
          <p:cNvPr id="8" name="Prostokąt 7">
            <a:extLst>
              <a:ext uri="{FF2B5EF4-FFF2-40B4-BE49-F238E27FC236}">
                <a16:creationId xmlns:a16="http://schemas.microsoft.com/office/drawing/2014/main" id="{00000002-0008-4000-8000-000000000000}"/>
              </a:ext>
            </a:extLst>
          </p:cNvPr>
          <p:cNvSpPr>
            <a:spLocks noGrp="1"/>
          </p:cNvSpPr>
          <p:nvPr/>
        </p:nvSpPr>
        <p:spPr>
          <a:xfrm>
            <a:off x="6324600" y="2562225"/>
            <a:ext cx="5191125" cy="1400175"/>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Rozstrzygają konflikty zapisów tego samego wiersza.</a:t>
            </a:r>
          </a:p>
        </p:txBody>
      </p:sp>
      <p:sp>
        <p:nvSpPr>
          <p:cNvPr id="9" name="Prostokąt 8">
            <a:extLst>
              <a:ext uri="{FF2B5EF4-FFF2-40B4-BE49-F238E27FC236}">
                <a16:creationId xmlns:a16="http://schemas.microsoft.com/office/drawing/2014/main" id="{00000002-0009-4000-8000-000000000000}"/>
              </a:ext>
            </a:extLst>
          </p:cNvPr>
          <p:cNvSpPr>
            <a:spLocks noGrp="1"/>
          </p:cNvSpPr>
          <p:nvPr/>
        </p:nvSpPr>
        <p:spPr>
          <a:xfrm>
            <a:off x="6324600" y="4105275"/>
            <a:ext cx="5191125" cy="1276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Koordynują DML, DDL i operacje utrzymaniowe.</a:t>
            </a:r>
          </a:p>
        </p:txBody>
      </p:sp>
    </p:spTree>
    <p:extLst>
      <p:ext uri="{BB962C8B-B14F-4D97-AF65-F5344CB8AC3E}">
        <p14:creationId xmlns:p14="http://schemas.microsoft.com/office/powerpoint/2010/main" val="20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Prostokąt 14">
            <a:extLst>
              <a:ext uri="{FF2B5EF4-FFF2-40B4-BE49-F238E27FC236}">
                <a16:creationId xmlns:a16="http://schemas.microsoft.com/office/drawing/2014/main" id="{00000003-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03</a:t>
            </a:r>
          </a:p>
        </p:txBody>
      </p:sp>
      <p:sp>
        <p:nvSpPr>
          <p:cNvPr id="2" name="Prostokąt 1">
            <a:extLst>
              <a:ext uri="{FF2B5EF4-FFF2-40B4-BE49-F238E27FC236}">
                <a16:creationId xmlns:a16="http://schemas.microsoft.com/office/drawing/2014/main" id="{00000003-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Cztery zasady pracy z blokadami</a:t>
            </a:r>
          </a:p>
        </p:txBody>
      </p:sp>
      <p:sp>
        <p:nvSpPr>
          <p:cNvPr id="3" name="Prostokąt 2">
            <a:extLst>
              <a:ext uri="{FF2B5EF4-FFF2-40B4-BE49-F238E27FC236}">
                <a16:creationId xmlns:a16="http://schemas.microsoft.com/office/drawing/2014/main" id="{00000003-0003-4000-8000-000000000000}"/>
              </a:ext>
            </a:extLst>
          </p:cNvPr>
          <p:cNvSpPr>
            <a:spLocks noGrp="1"/>
          </p:cNvSpPr>
          <p:nvPr/>
        </p:nvSpPr>
        <p:spPr>
          <a:xfrm>
            <a:off x="609600" y="1685925"/>
            <a:ext cx="790575" cy="619125"/>
          </a:xfrm>
          <a:prstGeom prst="rect">
            <a:avLst/>
          </a:prstGeom>
          <a:noFill/>
          <a:ln w="0">
            <a:noFill/>
          </a:ln>
        </p:spPr>
        <p:txBody>
          <a:bodyPr>
            <a:noAutofit/>
          </a:bodyPr>
          <a:lstStyle/>
          <a:p>
            <a:pPr>
              <a:defRPr sz="3225" b="0">
                <a:solidFill>
                  <a:srgbClr val="176A88"/>
                </a:solidFill>
                <a:latin typeface="DejaVu Sans"/>
                <a:ea typeface="DejaVu Sans"/>
                <a:cs typeface="DejaVu Sans"/>
              </a:defRPr>
            </a:pPr>
            <a:r>
              <a:rPr sz="3225" b="0">
                <a:solidFill>
                  <a:srgbClr val="176A88"/>
                </a:solidFill>
                <a:latin typeface="DejaVu Sans"/>
                <a:ea typeface="DejaVu Sans"/>
                <a:cs typeface="DejaVu Sans"/>
              </a:rPr>
              <a:t>01</a:t>
            </a:r>
          </a:p>
        </p:txBody>
      </p:sp>
      <p:sp>
        <p:nvSpPr>
          <p:cNvPr id="4" name="Prostokąt 3">
            <a:extLst>
              <a:ext uri="{FF2B5EF4-FFF2-40B4-BE49-F238E27FC236}">
                <a16:creationId xmlns:a16="http://schemas.microsoft.com/office/drawing/2014/main" id="{00000003-0004-4000-8000-000000000000}"/>
              </a:ext>
            </a:extLst>
          </p:cNvPr>
          <p:cNvSpPr>
            <a:spLocks noGrp="1"/>
          </p:cNvSpPr>
          <p:nvPr/>
        </p:nvSpPr>
        <p:spPr>
          <a:xfrm>
            <a:off x="1647825" y="1685925"/>
            <a:ext cx="9525000" cy="381000"/>
          </a:xfrm>
          <a:prstGeom prst="rect">
            <a:avLst/>
          </a:prstGeom>
          <a:noFill/>
          <a:ln w="0">
            <a:noFill/>
          </a:ln>
        </p:spPr>
        <p:txBody>
          <a:bodyPr>
            <a:noAutofit/>
          </a:bodyPr>
          <a:lstStyle/>
          <a:p>
            <a:pPr>
              <a:defRPr sz="2175" b="1">
                <a:solidFill>
                  <a:srgbClr val="182C3B"/>
                </a:solidFill>
                <a:latin typeface="DejaVu Sans"/>
                <a:ea typeface="DejaVu Sans"/>
                <a:cs typeface="DejaVu Sans"/>
              </a:defRPr>
            </a:pPr>
            <a:r>
              <a:rPr sz="2175" b="1">
                <a:solidFill>
                  <a:srgbClr val="182C3B"/>
                </a:solidFill>
                <a:latin typeface="DejaVu Sans"/>
                <a:ea typeface="DejaVu Sans"/>
                <a:cs typeface="DejaVu Sans"/>
              </a:rPr>
              <a:t>Polecenie wybiera tryb</a:t>
            </a:r>
          </a:p>
        </p:txBody>
      </p:sp>
      <p:sp>
        <p:nvSpPr>
          <p:cNvPr id="5" name="Prostokąt 4">
            <a:extLst>
              <a:ext uri="{FF2B5EF4-FFF2-40B4-BE49-F238E27FC236}">
                <a16:creationId xmlns:a16="http://schemas.microsoft.com/office/drawing/2014/main" id="{00000003-0005-4000-8000-000000000000}"/>
              </a:ext>
            </a:extLst>
          </p:cNvPr>
          <p:cNvSpPr>
            <a:spLocks noGrp="1"/>
          </p:cNvSpPr>
          <p:nvPr/>
        </p:nvSpPr>
        <p:spPr>
          <a:xfrm>
            <a:off x="1647825" y="2095500"/>
            <a:ext cx="9715500" cy="514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SQL automatycznie pobiera odpowiednie blokady.</a:t>
            </a:r>
          </a:p>
        </p:txBody>
      </p:sp>
      <p:sp>
        <p:nvSpPr>
          <p:cNvPr id="6" name="Prostokąt 5">
            <a:extLst>
              <a:ext uri="{FF2B5EF4-FFF2-40B4-BE49-F238E27FC236}">
                <a16:creationId xmlns:a16="http://schemas.microsoft.com/office/drawing/2014/main" id="{00000003-0006-4000-8000-000000000000}"/>
              </a:ext>
            </a:extLst>
          </p:cNvPr>
          <p:cNvSpPr>
            <a:spLocks noGrp="1"/>
          </p:cNvSpPr>
          <p:nvPr/>
        </p:nvSpPr>
        <p:spPr>
          <a:xfrm>
            <a:off x="609600" y="2686050"/>
            <a:ext cx="790575" cy="619125"/>
          </a:xfrm>
          <a:prstGeom prst="rect">
            <a:avLst/>
          </a:prstGeom>
          <a:noFill/>
          <a:ln w="0">
            <a:noFill/>
          </a:ln>
        </p:spPr>
        <p:txBody>
          <a:bodyPr>
            <a:noAutofit/>
          </a:bodyPr>
          <a:lstStyle/>
          <a:p>
            <a:pPr>
              <a:defRPr sz="3225" b="0">
                <a:solidFill>
                  <a:srgbClr val="176A88"/>
                </a:solidFill>
                <a:latin typeface="DejaVu Sans"/>
                <a:ea typeface="DejaVu Sans"/>
                <a:cs typeface="DejaVu Sans"/>
              </a:defRPr>
            </a:pPr>
            <a:r>
              <a:rPr sz="3225" b="0">
                <a:solidFill>
                  <a:srgbClr val="176A88"/>
                </a:solidFill>
                <a:latin typeface="DejaVu Sans"/>
                <a:ea typeface="DejaVu Sans"/>
                <a:cs typeface="DejaVu Sans"/>
              </a:rPr>
              <a:t>02</a:t>
            </a:r>
          </a:p>
        </p:txBody>
      </p:sp>
      <p:sp>
        <p:nvSpPr>
          <p:cNvPr id="7" name="Prostokąt 6">
            <a:extLst>
              <a:ext uri="{FF2B5EF4-FFF2-40B4-BE49-F238E27FC236}">
                <a16:creationId xmlns:a16="http://schemas.microsoft.com/office/drawing/2014/main" id="{00000003-0007-4000-8000-000000000000}"/>
              </a:ext>
            </a:extLst>
          </p:cNvPr>
          <p:cNvSpPr>
            <a:spLocks noGrp="1"/>
          </p:cNvSpPr>
          <p:nvPr/>
        </p:nvSpPr>
        <p:spPr>
          <a:xfrm>
            <a:off x="1647825" y="2686050"/>
            <a:ext cx="9525000" cy="381000"/>
          </a:xfrm>
          <a:prstGeom prst="rect">
            <a:avLst/>
          </a:prstGeom>
          <a:noFill/>
          <a:ln w="0">
            <a:noFill/>
          </a:ln>
        </p:spPr>
        <p:txBody>
          <a:bodyPr>
            <a:noAutofit/>
          </a:bodyPr>
          <a:lstStyle/>
          <a:p>
            <a:pPr>
              <a:defRPr sz="2175" b="1">
                <a:solidFill>
                  <a:srgbClr val="182C3B"/>
                </a:solidFill>
                <a:latin typeface="DejaVu Sans"/>
                <a:ea typeface="DejaVu Sans"/>
                <a:cs typeface="DejaVu Sans"/>
              </a:defRPr>
            </a:pPr>
            <a:r>
              <a:rPr sz="2175" b="1">
                <a:solidFill>
                  <a:srgbClr val="182C3B"/>
                </a:solidFill>
                <a:latin typeface="DejaVu Sans"/>
                <a:ea typeface="DejaVu Sans"/>
                <a:cs typeface="DejaVu Sans"/>
              </a:rPr>
              <a:t>Transakcja wyznacza czas</a:t>
            </a:r>
          </a:p>
        </p:txBody>
      </p:sp>
      <p:sp>
        <p:nvSpPr>
          <p:cNvPr id="8" name="Prostokąt 7">
            <a:extLst>
              <a:ext uri="{FF2B5EF4-FFF2-40B4-BE49-F238E27FC236}">
                <a16:creationId xmlns:a16="http://schemas.microsoft.com/office/drawing/2014/main" id="{00000003-0008-4000-8000-000000000000}"/>
              </a:ext>
            </a:extLst>
          </p:cNvPr>
          <p:cNvSpPr>
            <a:spLocks noGrp="1"/>
          </p:cNvSpPr>
          <p:nvPr/>
        </p:nvSpPr>
        <p:spPr>
          <a:xfrm>
            <a:off x="1647825" y="3095625"/>
            <a:ext cx="9715500" cy="514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Blokady transakcyjne zwykle trwają do COMMIT lub ROLLBACK.</a:t>
            </a:r>
          </a:p>
        </p:txBody>
      </p:sp>
      <p:sp>
        <p:nvSpPr>
          <p:cNvPr id="9" name="Prostokąt 8">
            <a:extLst>
              <a:ext uri="{FF2B5EF4-FFF2-40B4-BE49-F238E27FC236}">
                <a16:creationId xmlns:a16="http://schemas.microsoft.com/office/drawing/2014/main" id="{00000003-0009-4000-8000-000000000000}"/>
              </a:ext>
            </a:extLst>
          </p:cNvPr>
          <p:cNvSpPr>
            <a:spLocks noGrp="1"/>
          </p:cNvSpPr>
          <p:nvPr/>
        </p:nvSpPr>
        <p:spPr>
          <a:xfrm>
            <a:off x="609600" y="3686175"/>
            <a:ext cx="790575" cy="619125"/>
          </a:xfrm>
          <a:prstGeom prst="rect">
            <a:avLst/>
          </a:prstGeom>
          <a:noFill/>
          <a:ln w="0">
            <a:noFill/>
          </a:ln>
        </p:spPr>
        <p:txBody>
          <a:bodyPr>
            <a:noAutofit/>
          </a:bodyPr>
          <a:lstStyle/>
          <a:p>
            <a:pPr>
              <a:defRPr sz="3225" b="0">
                <a:solidFill>
                  <a:srgbClr val="176A88"/>
                </a:solidFill>
                <a:latin typeface="DejaVu Sans"/>
                <a:ea typeface="DejaVu Sans"/>
                <a:cs typeface="DejaVu Sans"/>
              </a:defRPr>
            </a:pPr>
            <a:r>
              <a:rPr sz="3225" b="0">
                <a:solidFill>
                  <a:srgbClr val="176A88"/>
                </a:solidFill>
                <a:latin typeface="DejaVu Sans"/>
                <a:ea typeface="DejaVu Sans"/>
                <a:cs typeface="DejaVu Sans"/>
              </a:rPr>
              <a:t>03</a:t>
            </a:r>
          </a:p>
        </p:txBody>
      </p:sp>
      <p:sp>
        <p:nvSpPr>
          <p:cNvPr id="10" name="Prostokąt 9">
            <a:extLst>
              <a:ext uri="{FF2B5EF4-FFF2-40B4-BE49-F238E27FC236}">
                <a16:creationId xmlns:a16="http://schemas.microsoft.com/office/drawing/2014/main" id="{00000003-000A-4000-8000-000000000000}"/>
              </a:ext>
            </a:extLst>
          </p:cNvPr>
          <p:cNvSpPr>
            <a:spLocks noGrp="1"/>
          </p:cNvSpPr>
          <p:nvPr/>
        </p:nvSpPr>
        <p:spPr>
          <a:xfrm>
            <a:off x="1647825" y="3686175"/>
            <a:ext cx="9525000" cy="381000"/>
          </a:xfrm>
          <a:prstGeom prst="rect">
            <a:avLst/>
          </a:prstGeom>
          <a:noFill/>
          <a:ln w="0">
            <a:noFill/>
          </a:ln>
        </p:spPr>
        <p:txBody>
          <a:bodyPr>
            <a:noAutofit/>
          </a:bodyPr>
          <a:lstStyle/>
          <a:p>
            <a:pPr>
              <a:defRPr sz="2175" b="1">
                <a:solidFill>
                  <a:srgbClr val="182C3B"/>
                </a:solidFill>
                <a:latin typeface="DejaVu Sans"/>
                <a:ea typeface="DejaVu Sans"/>
                <a:cs typeface="DejaVu Sans"/>
              </a:defRPr>
            </a:pPr>
            <a:r>
              <a:rPr sz="2175" b="1">
                <a:solidFill>
                  <a:srgbClr val="182C3B"/>
                </a:solidFill>
                <a:latin typeface="DejaVu Sans"/>
                <a:ea typeface="DejaVu Sans"/>
                <a:cs typeface="DejaVu Sans"/>
              </a:rPr>
              <a:t>Nazwa nie określa poziomu</a:t>
            </a:r>
          </a:p>
        </p:txBody>
      </p:sp>
      <p:sp>
        <p:nvSpPr>
          <p:cNvPr id="11" name="Prostokąt 10">
            <a:extLst>
              <a:ext uri="{FF2B5EF4-FFF2-40B4-BE49-F238E27FC236}">
                <a16:creationId xmlns:a16="http://schemas.microsoft.com/office/drawing/2014/main" id="{00000003-000B-4000-8000-000000000000}"/>
              </a:ext>
            </a:extLst>
          </p:cNvPr>
          <p:cNvSpPr>
            <a:spLocks noGrp="1"/>
          </p:cNvSpPr>
          <p:nvPr/>
        </p:nvSpPr>
        <p:spPr>
          <a:xfrm>
            <a:off x="1647825" y="4095750"/>
            <a:ext cx="9715500" cy="514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ROW EXCLUSIVE jest blokadą tabeli.</a:t>
            </a:r>
          </a:p>
        </p:txBody>
      </p:sp>
      <p:sp>
        <p:nvSpPr>
          <p:cNvPr id="12" name="Prostokąt 11">
            <a:extLst>
              <a:ext uri="{FF2B5EF4-FFF2-40B4-BE49-F238E27FC236}">
                <a16:creationId xmlns:a16="http://schemas.microsoft.com/office/drawing/2014/main" id="{00000003-000C-4000-8000-000000000000}"/>
              </a:ext>
            </a:extLst>
          </p:cNvPr>
          <p:cNvSpPr>
            <a:spLocks noGrp="1"/>
          </p:cNvSpPr>
          <p:nvPr/>
        </p:nvSpPr>
        <p:spPr>
          <a:xfrm>
            <a:off x="609600" y="4686300"/>
            <a:ext cx="790575" cy="619125"/>
          </a:xfrm>
          <a:prstGeom prst="rect">
            <a:avLst/>
          </a:prstGeom>
          <a:noFill/>
          <a:ln w="0">
            <a:noFill/>
          </a:ln>
        </p:spPr>
        <p:txBody>
          <a:bodyPr>
            <a:noAutofit/>
          </a:bodyPr>
          <a:lstStyle/>
          <a:p>
            <a:pPr>
              <a:defRPr sz="3225" b="0">
                <a:solidFill>
                  <a:srgbClr val="176A88"/>
                </a:solidFill>
                <a:latin typeface="DejaVu Sans"/>
                <a:ea typeface="DejaVu Sans"/>
                <a:cs typeface="DejaVu Sans"/>
              </a:defRPr>
            </a:pPr>
            <a:r>
              <a:rPr sz="3225" b="0">
                <a:solidFill>
                  <a:srgbClr val="176A88"/>
                </a:solidFill>
                <a:latin typeface="DejaVu Sans"/>
                <a:ea typeface="DejaVu Sans"/>
                <a:cs typeface="DejaVu Sans"/>
              </a:rPr>
              <a:t>04</a:t>
            </a:r>
          </a:p>
        </p:txBody>
      </p:sp>
      <p:sp>
        <p:nvSpPr>
          <p:cNvPr id="13" name="Prostokąt 12">
            <a:extLst>
              <a:ext uri="{FF2B5EF4-FFF2-40B4-BE49-F238E27FC236}">
                <a16:creationId xmlns:a16="http://schemas.microsoft.com/office/drawing/2014/main" id="{00000003-000D-4000-8000-000000000000}"/>
              </a:ext>
            </a:extLst>
          </p:cNvPr>
          <p:cNvSpPr>
            <a:spLocks noGrp="1"/>
          </p:cNvSpPr>
          <p:nvPr/>
        </p:nvSpPr>
        <p:spPr>
          <a:xfrm>
            <a:off x="1647825" y="4686300"/>
            <a:ext cx="9525000" cy="381000"/>
          </a:xfrm>
          <a:prstGeom prst="rect">
            <a:avLst/>
          </a:prstGeom>
          <a:noFill/>
          <a:ln w="0">
            <a:noFill/>
          </a:ln>
        </p:spPr>
        <p:txBody>
          <a:bodyPr>
            <a:noAutofit/>
          </a:bodyPr>
          <a:lstStyle/>
          <a:p>
            <a:pPr>
              <a:defRPr sz="2175" b="1">
                <a:solidFill>
                  <a:srgbClr val="182C3B"/>
                </a:solidFill>
                <a:latin typeface="DejaVu Sans"/>
                <a:ea typeface="DejaVu Sans"/>
                <a:cs typeface="DejaVu Sans"/>
              </a:defRPr>
            </a:pPr>
            <a:r>
              <a:rPr sz="2175" b="1">
                <a:solidFill>
                  <a:srgbClr val="182C3B"/>
                </a:solidFill>
                <a:latin typeface="DejaVu Sans"/>
                <a:ea typeface="DejaVu Sans"/>
                <a:cs typeface="DejaVu Sans"/>
              </a:rPr>
              <a:t>Kolejka ma znaczenie</a:t>
            </a:r>
          </a:p>
        </p:txBody>
      </p:sp>
      <p:sp>
        <p:nvSpPr>
          <p:cNvPr id="14" name="Prostokąt 13">
            <a:extLst>
              <a:ext uri="{FF2B5EF4-FFF2-40B4-BE49-F238E27FC236}">
                <a16:creationId xmlns:a16="http://schemas.microsoft.com/office/drawing/2014/main" id="{00000003-000E-4000-8000-000000000000}"/>
              </a:ext>
            </a:extLst>
          </p:cNvPr>
          <p:cNvSpPr>
            <a:spLocks noGrp="1"/>
          </p:cNvSpPr>
          <p:nvPr/>
        </p:nvSpPr>
        <p:spPr>
          <a:xfrm>
            <a:off x="1647825" y="5095875"/>
            <a:ext cx="9715500" cy="514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Sprzeczne żądanie oczekujące może zatrzymać nowe zapytanie.</a:t>
            </a:r>
          </a:p>
        </p:txBody>
      </p:sp>
    </p:spTree>
    <p:extLst>
      <p:ext uri="{BB962C8B-B14F-4D97-AF65-F5344CB8AC3E}">
        <p14:creationId xmlns:p14="http://schemas.microsoft.com/office/powerpoint/2010/main" val="300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00000005-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05</a:t>
            </a:r>
          </a:p>
        </p:txBody>
      </p:sp>
      <p:sp>
        <p:nvSpPr>
          <p:cNvPr id="2" name="Prostokąt 1">
            <a:extLst>
              <a:ext uri="{FF2B5EF4-FFF2-40B4-BE49-F238E27FC236}">
                <a16:creationId xmlns:a16="http://schemas.microsoft.com/office/drawing/2014/main" id="{00000005-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Macierz konfliktów blokad tabel</a:t>
            </a:r>
          </a:p>
        </p:txBody>
      </p:sp>
      <p:graphicFrame>
        <p:nvGraphicFramePr>
          <p:cNvPr id="3" name="Tabela 2"/>
          <p:cNvGraphicFramePr/>
          <p:nvPr/>
        </p:nvGraphicFramePr>
        <p:xfrm>
          <a:off x="609600" y="1619250"/>
          <a:ext cx="10972800" cy="3795604"/>
        </p:xfrm>
        <a:graphic>
          <a:graphicData uri="http://schemas.openxmlformats.org/drawingml/2006/table">
            <a:tbl>
              <a:tblPr/>
              <a:tblGrid>
                <a:gridCol w="2590800">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gridCol w="1047750">
                  <a:extLst>
                    <a:ext uri="{9D8B030D-6E8A-4147-A177-3AD203B41FA5}">
                      <a16:colId xmlns:a16="http://schemas.microsoft.com/office/drawing/2014/main" val="20002"/>
                    </a:ext>
                  </a:extLst>
                </a:gridCol>
                <a:gridCol w="1047750">
                  <a:extLst>
                    <a:ext uri="{9D8B030D-6E8A-4147-A177-3AD203B41FA5}">
                      <a16:colId xmlns:a16="http://schemas.microsoft.com/office/drawing/2014/main" val="20003"/>
                    </a:ext>
                  </a:extLst>
                </a:gridCol>
                <a:gridCol w="1047750">
                  <a:extLst>
                    <a:ext uri="{9D8B030D-6E8A-4147-A177-3AD203B41FA5}">
                      <a16:colId xmlns:a16="http://schemas.microsoft.com/office/drawing/2014/main" val="20004"/>
                    </a:ext>
                  </a:extLst>
                </a:gridCol>
                <a:gridCol w="1047750">
                  <a:extLst>
                    <a:ext uri="{9D8B030D-6E8A-4147-A177-3AD203B41FA5}">
                      <a16:colId xmlns:a16="http://schemas.microsoft.com/office/drawing/2014/main" val="20005"/>
                    </a:ext>
                  </a:extLst>
                </a:gridCol>
                <a:gridCol w="1047750">
                  <a:extLst>
                    <a:ext uri="{9D8B030D-6E8A-4147-A177-3AD203B41FA5}">
                      <a16:colId xmlns:a16="http://schemas.microsoft.com/office/drawing/2014/main" val="20006"/>
                    </a:ext>
                  </a:extLst>
                </a:gridCol>
                <a:gridCol w="1047750">
                  <a:extLst>
                    <a:ext uri="{9D8B030D-6E8A-4147-A177-3AD203B41FA5}">
                      <a16:colId xmlns:a16="http://schemas.microsoft.com/office/drawing/2014/main" val="20007"/>
                    </a:ext>
                  </a:extLst>
                </a:gridCol>
                <a:gridCol w="1047750">
                  <a:extLst>
                    <a:ext uri="{9D8B030D-6E8A-4147-A177-3AD203B41FA5}">
                      <a16:colId xmlns:a16="http://schemas.microsoft.com/office/drawing/2014/main" val="20008"/>
                    </a:ext>
                  </a:extLst>
                </a:gridCol>
              </a:tblGrid>
              <a:tr h="391583">
                <a:tc>
                  <a:txBody>
                    <a:bodyPr/>
                    <a:lstStyle/>
                    <a:p>
                      <a:r>
                        <a:rPr sz="1875" b="1">
                          <a:solidFill>
                            <a:srgbClr val="FFFFFF"/>
                          </a:solidFill>
                          <a:latin typeface="DejaVu Sans"/>
                          <a:ea typeface="DejaVu Sans"/>
                          <a:cs typeface="DejaVu Sans"/>
                        </a:rPr>
                        <a:t>Żądany / trzymany</a:t>
                      </a:r>
                    </a:p>
                  </a:txBody>
                  <a:tcPr>
                    <a:solidFill>
                      <a:srgbClr val="182C3B"/>
                    </a:solidFill>
                  </a:tcPr>
                </a:tc>
                <a:tc>
                  <a:txBody>
                    <a:bodyPr/>
                    <a:lstStyle/>
                    <a:p>
                      <a:r>
                        <a:rPr sz="1875" b="1">
                          <a:solidFill>
                            <a:srgbClr val="FFFFFF"/>
                          </a:solidFill>
                          <a:latin typeface="DejaVu Sans"/>
                          <a:ea typeface="DejaVu Sans"/>
                          <a:cs typeface="DejaVu Sans"/>
                        </a:rPr>
                        <a:t>AS</a:t>
                      </a:r>
                    </a:p>
                  </a:txBody>
                  <a:tcPr>
                    <a:solidFill>
                      <a:srgbClr val="182C3B"/>
                    </a:solidFill>
                  </a:tcPr>
                </a:tc>
                <a:tc>
                  <a:txBody>
                    <a:bodyPr/>
                    <a:lstStyle/>
                    <a:p>
                      <a:r>
                        <a:rPr sz="1875" b="1">
                          <a:solidFill>
                            <a:srgbClr val="FFFFFF"/>
                          </a:solidFill>
                          <a:latin typeface="DejaVu Sans"/>
                          <a:ea typeface="DejaVu Sans"/>
                          <a:cs typeface="DejaVu Sans"/>
                        </a:rPr>
                        <a:t>RS</a:t>
                      </a:r>
                    </a:p>
                  </a:txBody>
                  <a:tcPr>
                    <a:solidFill>
                      <a:srgbClr val="182C3B"/>
                    </a:solidFill>
                  </a:tcPr>
                </a:tc>
                <a:tc>
                  <a:txBody>
                    <a:bodyPr/>
                    <a:lstStyle/>
                    <a:p>
                      <a:r>
                        <a:rPr sz="1875" b="1">
                          <a:solidFill>
                            <a:srgbClr val="FFFFFF"/>
                          </a:solidFill>
                          <a:latin typeface="DejaVu Sans"/>
                          <a:ea typeface="DejaVu Sans"/>
                          <a:cs typeface="DejaVu Sans"/>
                        </a:rPr>
                        <a:t>RX</a:t>
                      </a:r>
                    </a:p>
                  </a:txBody>
                  <a:tcPr>
                    <a:solidFill>
                      <a:srgbClr val="182C3B"/>
                    </a:solidFill>
                  </a:tcPr>
                </a:tc>
                <a:tc>
                  <a:txBody>
                    <a:bodyPr/>
                    <a:lstStyle/>
                    <a:p>
                      <a:r>
                        <a:rPr sz="1875" b="1">
                          <a:solidFill>
                            <a:srgbClr val="FFFFFF"/>
                          </a:solidFill>
                          <a:latin typeface="DejaVu Sans"/>
                          <a:ea typeface="DejaVu Sans"/>
                          <a:cs typeface="DejaVu Sans"/>
                        </a:rPr>
                        <a:t>SUX</a:t>
                      </a:r>
                    </a:p>
                  </a:txBody>
                  <a:tcPr>
                    <a:solidFill>
                      <a:srgbClr val="182C3B"/>
                    </a:solidFill>
                  </a:tcPr>
                </a:tc>
                <a:tc>
                  <a:txBody>
                    <a:bodyPr/>
                    <a:lstStyle/>
                    <a:p>
                      <a:r>
                        <a:rPr sz="1875" b="1">
                          <a:solidFill>
                            <a:srgbClr val="FFFFFF"/>
                          </a:solidFill>
                          <a:latin typeface="DejaVu Sans"/>
                          <a:ea typeface="DejaVu Sans"/>
                          <a:cs typeface="DejaVu Sans"/>
                        </a:rPr>
                        <a:t>S</a:t>
                      </a:r>
                    </a:p>
                  </a:txBody>
                  <a:tcPr>
                    <a:solidFill>
                      <a:srgbClr val="182C3B"/>
                    </a:solidFill>
                  </a:tcPr>
                </a:tc>
                <a:tc>
                  <a:txBody>
                    <a:bodyPr/>
                    <a:lstStyle/>
                    <a:p>
                      <a:r>
                        <a:rPr sz="1875" b="1">
                          <a:solidFill>
                            <a:srgbClr val="FFFFFF"/>
                          </a:solidFill>
                          <a:latin typeface="DejaVu Sans"/>
                          <a:ea typeface="DejaVu Sans"/>
                          <a:cs typeface="DejaVu Sans"/>
                        </a:rPr>
                        <a:t>SRX</a:t>
                      </a:r>
                    </a:p>
                  </a:txBody>
                  <a:tcPr>
                    <a:solidFill>
                      <a:srgbClr val="182C3B"/>
                    </a:solidFill>
                  </a:tcPr>
                </a:tc>
                <a:tc>
                  <a:txBody>
                    <a:bodyPr/>
                    <a:lstStyle/>
                    <a:p>
                      <a:r>
                        <a:rPr sz="1875" b="1">
                          <a:solidFill>
                            <a:srgbClr val="FFFFFF"/>
                          </a:solidFill>
                          <a:latin typeface="DejaVu Sans"/>
                          <a:ea typeface="DejaVu Sans"/>
                          <a:cs typeface="DejaVu Sans"/>
                        </a:rPr>
                        <a:t>X</a:t>
                      </a:r>
                    </a:p>
                  </a:txBody>
                  <a:tcPr>
                    <a:solidFill>
                      <a:srgbClr val="182C3B"/>
                    </a:solidFill>
                  </a:tcPr>
                </a:tc>
                <a:tc>
                  <a:txBody>
                    <a:bodyPr/>
                    <a:lstStyle/>
                    <a:p>
                      <a:r>
                        <a:rPr sz="1875" b="1">
                          <a:solidFill>
                            <a:srgbClr val="FFFFFF"/>
                          </a:solidFill>
                          <a:latin typeface="DejaVu Sans"/>
                          <a:ea typeface="DejaVu Sans"/>
                          <a:cs typeface="DejaVu Sans"/>
                        </a:rPr>
                        <a:t>AX</a:t>
                      </a:r>
                    </a:p>
                  </a:txBody>
                  <a:tcPr>
                    <a:solidFill>
                      <a:srgbClr val="182C3B"/>
                    </a:solidFill>
                  </a:tcPr>
                </a:tc>
                <a:extLst>
                  <a:ext uri="{0D108BD9-81ED-4DB2-BD59-A6C34878D82A}">
                    <a16:rowId xmlns:a16="http://schemas.microsoft.com/office/drawing/2014/main" val="10000"/>
                  </a:ext>
                </a:extLst>
              </a:tr>
              <a:tr h="391583">
                <a:tc>
                  <a:txBody>
                    <a:bodyPr/>
                    <a:lstStyle/>
                    <a:p>
                      <a:r>
                        <a:rPr sz="1875" b="0">
                          <a:solidFill>
                            <a:srgbClr val="182C3B"/>
                          </a:solidFill>
                          <a:latin typeface="DejaVu Sans"/>
                          <a:ea typeface="DejaVu Sans"/>
                          <a:cs typeface="DejaVu Sans"/>
                        </a:rPr>
                        <a:t>AS</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extLst>
                  <a:ext uri="{0D108BD9-81ED-4DB2-BD59-A6C34878D82A}">
                    <a16:rowId xmlns:a16="http://schemas.microsoft.com/office/drawing/2014/main" val="10001"/>
                  </a:ext>
                </a:extLst>
              </a:tr>
              <a:tr h="391583">
                <a:tc>
                  <a:txBody>
                    <a:bodyPr/>
                    <a:lstStyle/>
                    <a:p>
                      <a:r>
                        <a:rPr sz="1875" b="0">
                          <a:solidFill>
                            <a:srgbClr val="182C3B"/>
                          </a:solidFill>
                          <a:latin typeface="DejaVu Sans"/>
                          <a:ea typeface="DejaVu Sans"/>
                          <a:cs typeface="DejaVu Sans"/>
                        </a:rPr>
                        <a:t>RS</a:t>
                      </a:r>
                    </a:p>
                  </a:txBody>
                  <a:tcPr>
                    <a:solidFill>
                      <a:srgbClr val="EDF3F6"/>
                    </a:solidFill>
                  </a:tcPr>
                </a:tc>
                <a:tc>
                  <a:txBody>
                    <a:bodyPr/>
                    <a:lstStyle/>
                    <a:p>
                      <a:endParaRPr/>
                    </a:p>
                  </a:txBody>
                  <a:tcPr>
                    <a:solidFill>
                      <a:srgbClr val="EDF3F6"/>
                    </a:solidFill>
                  </a:tcPr>
                </a:tc>
                <a:tc>
                  <a:txBody>
                    <a:bodyPr/>
                    <a:lstStyle/>
                    <a:p>
                      <a:endParaRPr/>
                    </a:p>
                  </a:txBody>
                  <a:tcPr>
                    <a:solidFill>
                      <a:srgbClr val="EDF3F6"/>
                    </a:solidFill>
                  </a:tcPr>
                </a:tc>
                <a:tc>
                  <a:txBody>
                    <a:bodyPr/>
                    <a:lstStyle/>
                    <a:p>
                      <a:endParaRPr/>
                    </a:p>
                  </a:txBody>
                  <a:tcPr>
                    <a:solidFill>
                      <a:srgbClr val="EDF3F6"/>
                    </a:solidFill>
                  </a:tcPr>
                </a:tc>
                <a:tc>
                  <a:txBody>
                    <a:bodyPr/>
                    <a:lstStyle/>
                    <a:p>
                      <a:endParaRPr/>
                    </a:p>
                  </a:txBody>
                  <a:tcPr>
                    <a:solidFill>
                      <a:srgbClr val="EDF3F6"/>
                    </a:solidFill>
                  </a:tcPr>
                </a:tc>
                <a:tc>
                  <a:txBody>
                    <a:bodyPr/>
                    <a:lstStyle/>
                    <a:p>
                      <a:endParaRPr/>
                    </a:p>
                  </a:txBody>
                  <a:tcPr>
                    <a:solidFill>
                      <a:srgbClr val="EDF3F6"/>
                    </a:solidFill>
                  </a:tcPr>
                </a:tc>
                <a:tc>
                  <a:txBody>
                    <a:bodyPr/>
                    <a:lstStyle/>
                    <a:p>
                      <a:endParaRP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extLst>
                  <a:ext uri="{0D108BD9-81ED-4DB2-BD59-A6C34878D82A}">
                    <a16:rowId xmlns:a16="http://schemas.microsoft.com/office/drawing/2014/main" val="10002"/>
                  </a:ext>
                </a:extLst>
              </a:tr>
              <a:tr h="391583">
                <a:tc>
                  <a:txBody>
                    <a:bodyPr/>
                    <a:lstStyle/>
                    <a:p>
                      <a:r>
                        <a:rPr sz="1875" b="0">
                          <a:solidFill>
                            <a:srgbClr val="182C3B"/>
                          </a:solidFill>
                          <a:latin typeface="DejaVu Sans"/>
                          <a:ea typeface="DejaVu Sans"/>
                          <a:cs typeface="DejaVu Sans"/>
                        </a:rPr>
                        <a:t>RX</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extLst>
                  <a:ext uri="{0D108BD9-81ED-4DB2-BD59-A6C34878D82A}">
                    <a16:rowId xmlns:a16="http://schemas.microsoft.com/office/drawing/2014/main" val="10003"/>
                  </a:ext>
                </a:extLst>
              </a:tr>
              <a:tr h="391583">
                <a:tc>
                  <a:txBody>
                    <a:bodyPr/>
                    <a:lstStyle/>
                    <a:p>
                      <a:r>
                        <a:rPr sz="1875" b="0">
                          <a:solidFill>
                            <a:srgbClr val="182C3B"/>
                          </a:solidFill>
                          <a:latin typeface="DejaVu Sans"/>
                          <a:ea typeface="DejaVu Sans"/>
                          <a:cs typeface="DejaVu Sans"/>
                        </a:rPr>
                        <a:t>SUX</a:t>
                      </a:r>
                    </a:p>
                  </a:txBody>
                  <a:tcPr>
                    <a:solidFill>
                      <a:srgbClr val="EDF3F6"/>
                    </a:solidFill>
                  </a:tcPr>
                </a:tc>
                <a:tc>
                  <a:txBody>
                    <a:bodyPr/>
                    <a:lstStyle/>
                    <a:p>
                      <a:endParaRPr/>
                    </a:p>
                  </a:txBody>
                  <a:tcPr>
                    <a:solidFill>
                      <a:srgbClr val="EDF3F6"/>
                    </a:solidFill>
                  </a:tcPr>
                </a:tc>
                <a:tc>
                  <a:txBody>
                    <a:bodyPr/>
                    <a:lstStyle/>
                    <a:p>
                      <a:endParaRPr/>
                    </a:p>
                  </a:txBody>
                  <a:tcPr>
                    <a:solidFill>
                      <a:srgbClr val="EDF3F6"/>
                    </a:solidFill>
                  </a:tcPr>
                </a:tc>
                <a:tc>
                  <a:txBody>
                    <a:bodyPr/>
                    <a:lstStyle/>
                    <a:p>
                      <a:endParaRP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extLst>
                  <a:ext uri="{0D108BD9-81ED-4DB2-BD59-A6C34878D82A}">
                    <a16:rowId xmlns:a16="http://schemas.microsoft.com/office/drawing/2014/main" val="10004"/>
                  </a:ext>
                </a:extLst>
              </a:tr>
              <a:tr h="391583">
                <a:tc>
                  <a:txBody>
                    <a:bodyPr/>
                    <a:lstStyle/>
                    <a:p>
                      <a:r>
                        <a:rPr sz="1875" b="0">
                          <a:solidFill>
                            <a:srgbClr val="182C3B"/>
                          </a:solidFill>
                          <a:latin typeface="DejaVu Sans"/>
                          <a:ea typeface="DejaVu Sans"/>
                          <a:cs typeface="DejaVu Sans"/>
                        </a:rPr>
                        <a:t>S</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tc>
                  <a:txBody>
                    <a:bodyPr/>
                    <a:lstStyle/>
                    <a:p>
                      <a:endParaRP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extLst>
                  <a:ext uri="{0D108BD9-81ED-4DB2-BD59-A6C34878D82A}">
                    <a16:rowId xmlns:a16="http://schemas.microsoft.com/office/drawing/2014/main" val="10005"/>
                  </a:ext>
                </a:extLst>
              </a:tr>
              <a:tr h="391583">
                <a:tc>
                  <a:txBody>
                    <a:bodyPr/>
                    <a:lstStyle/>
                    <a:p>
                      <a:r>
                        <a:rPr sz="1875" b="0">
                          <a:solidFill>
                            <a:srgbClr val="182C3B"/>
                          </a:solidFill>
                          <a:latin typeface="DejaVu Sans"/>
                          <a:ea typeface="DejaVu Sans"/>
                          <a:cs typeface="DejaVu Sans"/>
                        </a:rPr>
                        <a:t>SRX</a:t>
                      </a:r>
                    </a:p>
                  </a:txBody>
                  <a:tcPr>
                    <a:solidFill>
                      <a:srgbClr val="EDF3F6"/>
                    </a:solidFill>
                  </a:tcPr>
                </a:tc>
                <a:tc>
                  <a:txBody>
                    <a:bodyPr/>
                    <a:lstStyle/>
                    <a:p>
                      <a:endParaRPr/>
                    </a:p>
                  </a:txBody>
                  <a:tcPr>
                    <a:solidFill>
                      <a:srgbClr val="EDF3F6"/>
                    </a:solidFill>
                  </a:tcPr>
                </a:tc>
                <a:tc>
                  <a:txBody>
                    <a:bodyPr/>
                    <a:lstStyle/>
                    <a:p>
                      <a:endParaRP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extLst>
                  <a:ext uri="{0D108BD9-81ED-4DB2-BD59-A6C34878D82A}">
                    <a16:rowId xmlns:a16="http://schemas.microsoft.com/office/drawing/2014/main" val="10006"/>
                  </a:ext>
                </a:extLst>
              </a:tr>
              <a:tr h="391583">
                <a:tc>
                  <a:txBody>
                    <a:bodyPr/>
                    <a:lstStyle/>
                    <a:p>
                      <a:r>
                        <a:rPr sz="1875" b="0">
                          <a:solidFill>
                            <a:srgbClr val="182C3B"/>
                          </a:solidFill>
                          <a:latin typeface="DejaVu Sans"/>
                          <a:ea typeface="DejaVu Sans"/>
                          <a:cs typeface="DejaVu Sans"/>
                        </a:rPr>
                        <a:t>X</a:t>
                      </a:r>
                    </a:p>
                  </a:txBody>
                  <a:tcPr>
                    <a:solidFill>
                      <a:srgbClr val="FFFFFF"/>
                    </a:solidFill>
                  </a:tcPr>
                </a:tc>
                <a:tc>
                  <a:txBody>
                    <a:bodyPr/>
                    <a:lstStyle/>
                    <a:p>
                      <a:endParaRP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tc>
                  <a:txBody>
                    <a:bodyPr/>
                    <a:lstStyle/>
                    <a:p>
                      <a:r>
                        <a:rPr sz="1875" b="0">
                          <a:solidFill>
                            <a:srgbClr val="182C3B"/>
                          </a:solidFill>
                          <a:latin typeface="DejaVu Sans"/>
                          <a:ea typeface="DejaVu Sans"/>
                          <a:cs typeface="DejaVu Sans"/>
                        </a:rPr>
                        <a:t>×</a:t>
                      </a:r>
                    </a:p>
                  </a:txBody>
                  <a:tcPr>
                    <a:solidFill>
                      <a:srgbClr val="FFFFFF"/>
                    </a:solidFill>
                  </a:tcPr>
                </a:tc>
                <a:extLst>
                  <a:ext uri="{0D108BD9-81ED-4DB2-BD59-A6C34878D82A}">
                    <a16:rowId xmlns:a16="http://schemas.microsoft.com/office/drawing/2014/main" val="10007"/>
                  </a:ext>
                </a:extLst>
              </a:tr>
              <a:tr h="391583">
                <a:tc>
                  <a:txBody>
                    <a:bodyPr/>
                    <a:lstStyle/>
                    <a:p>
                      <a:r>
                        <a:rPr sz="1875" b="0">
                          <a:solidFill>
                            <a:srgbClr val="182C3B"/>
                          </a:solidFill>
                          <a:latin typeface="DejaVu Sans"/>
                          <a:ea typeface="DejaVu Sans"/>
                          <a:cs typeface="DejaVu Sans"/>
                        </a:rPr>
                        <a:t>AX</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tc>
                  <a:txBody>
                    <a:bodyPr/>
                    <a:lstStyle/>
                    <a:p>
                      <a:r>
                        <a:rPr sz="1875" b="0">
                          <a:solidFill>
                            <a:srgbClr val="182C3B"/>
                          </a:solidFill>
                          <a:latin typeface="DejaVu Sans"/>
                          <a:ea typeface="DejaVu Sans"/>
                          <a:cs typeface="DejaVu Sans"/>
                        </a:rPr>
                        <a:t>×</a:t>
                      </a:r>
                    </a:p>
                  </a:txBody>
                  <a:tcPr>
                    <a:solidFill>
                      <a:srgbClr val="EDF3F6"/>
                    </a:solidFill>
                  </a:tcPr>
                </a:tc>
                <a:extLst>
                  <a:ext uri="{0D108BD9-81ED-4DB2-BD59-A6C34878D82A}">
                    <a16:rowId xmlns:a16="http://schemas.microsoft.com/office/drawing/2014/main" val="10008"/>
                  </a:ext>
                </a:extLst>
              </a:tr>
            </a:tbl>
          </a:graphicData>
        </a:graphic>
      </p:graphicFrame>
      <p:sp>
        <p:nvSpPr>
          <p:cNvPr id="4" name="Prostokąt 3">
            <a:extLst>
              <a:ext uri="{FF2B5EF4-FFF2-40B4-BE49-F238E27FC236}">
                <a16:creationId xmlns:a16="http://schemas.microsoft.com/office/drawing/2014/main" id="{00000005-0003-4000-8000-000000000000}"/>
              </a:ext>
            </a:extLst>
          </p:cNvPr>
          <p:cNvSpPr>
            <a:spLocks noGrp="1"/>
          </p:cNvSpPr>
          <p:nvPr/>
        </p:nvSpPr>
        <p:spPr>
          <a:xfrm>
            <a:off x="609600" y="5391150"/>
            <a:ext cx="10972800" cy="885825"/>
          </a:xfrm>
          <a:prstGeom prst="rect">
            <a:avLst/>
          </a:prstGeom>
          <a:noFill/>
          <a:ln w="0">
            <a:noFill/>
          </a:ln>
        </p:spPr>
        <p:txBody>
          <a:bodyPr>
            <a:noAutofit/>
          </a:bodyPr>
          <a:lstStyle/>
          <a:p>
            <a:pPr>
              <a:defRPr sz="1500" b="0">
                <a:solidFill>
                  <a:srgbClr val="526675"/>
                </a:solidFill>
                <a:latin typeface="DejaVu Sans"/>
                <a:ea typeface="DejaVu Sans"/>
                <a:cs typeface="DejaVu Sans"/>
              </a:defRPr>
            </a:pPr>
            <a:r>
              <a:rPr sz="1500" b="0">
                <a:solidFill>
                  <a:srgbClr val="526675"/>
                </a:solidFill>
                <a:latin typeface="DejaVu Sans"/>
                <a:ea typeface="DejaVu Sans"/>
                <a:cs typeface="DejaVu Sans"/>
              </a:rPr>
              <a:t>AS  ACCESS SHARE       RS  ROW SHARE       RX  ROW EXCLUSIVE</a:t>
            </a:r>
          </a:p>
          <a:p>
            <a:pPr>
              <a:defRPr sz="1500" b="0">
                <a:solidFill>
                  <a:srgbClr val="526675"/>
                </a:solidFill>
                <a:latin typeface="DejaVu Sans"/>
                <a:ea typeface="DejaVu Sans"/>
                <a:cs typeface="DejaVu Sans"/>
              </a:defRPr>
            </a:pPr>
            <a:r>
              <a:rPr sz="1500" b="0">
                <a:solidFill>
                  <a:srgbClr val="526675"/>
                </a:solidFill>
                <a:latin typeface="DejaVu Sans"/>
                <a:ea typeface="DejaVu Sans"/>
                <a:cs typeface="DejaVu Sans"/>
              </a:rPr>
              <a:t>SUX  SHARE UPDATE EXCLUSIVE       S  SHARE       SRX  SHARE ROW EXCLUSIVE</a:t>
            </a:r>
          </a:p>
          <a:p>
            <a:pPr>
              <a:defRPr sz="1500" b="0">
                <a:solidFill>
                  <a:srgbClr val="526675"/>
                </a:solidFill>
                <a:latin typeface="DejaVu Sans"/>
                <a:ea typeface="DejaVu Sans"/>
                <a:cs typeface="DejaVu Sans"/>
              </a:defRPr>
            </a:pPr>
            <a:r>
              <a:rPr sz="1500" b="0">
                <a:solidFill>
                  <a:srgbClr val="526675"/>
                </a:solidFill>
                <a:latin typeface="DejaVu Sans"/>
                <a:ea typeface="DejaVu Sans"/>
                <a:cs typeface="DejaVu Sans"/>
              </a:rPr>
              <a:t>X  EXCLUSIVE       AX  ACCESS EXCLUSIVE       ×  konflikt</a:t>
            </a:r>
          </a:p>
        </p:txBody>
      </p:sp>
    </p:spTree>
    <p:extLst>
      <p:ext uri="{BB962C8B-B14F-4D97-AF65-F5344CB8AC3E}">
        <p14:creationId xmlns:p14="http://schemas.microsoft.com/office/powerpoint/2010/main" val="50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rostokąt 6">
            <a:extLst>
              <a:ext uri="{FF2B5EF4-FFF2-40B4-BE49-F238E27FC236}">
                <a16:creationId xmlns:a16="http://schemas.microsoft.com/office/drawing/2014/main" id="{00000006-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06</a:t>
            </a:r>
          </a:p>
        </p:txBody>
      </p:sp>
      <p:sp>
        <p:nvSpPr>
          <p:cNvPr id="2" name="Prostokąt 1">
            <a:extLst>
              <a:ext uri="{FF2B5EF4-FFF2-40B4-BE49-F238E27FC236}">
                <a16:creationId xmlns:a16="http://schemas.microsoft.com/office/drawing/2014/main" id="{00000006-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ACCESS SHARE</a:t>
            </a:r>
          </a:p>
        </p:txBody>
      </p:sp>
      <p:sp>
        <p:nvSpPr>
          <p:cNvPr id="3" name="Prostokąt 2">
            <a:extLst>
              <a:ext uri="{FF2B5EF4-FFF2-40B4-BE49-F238E27FC236}">
                <a16:creationId xmlns:a16="http://schemas.microsoft.com/office/drawing/2014/main" id="{00000006-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W tym czasie zwykły UPDATE może działać, dopóki kolejka silnej blokady nie zatrzyma nowych żądań.</a:t>
            </a:r>
          </a:p>
        </p:txBody>
      </p:sp>
      <p:sp>
        <p:nvSpPr>
          <p:cNvPr id="4" name="Prostokąt 3">
            <a:extLst>
              <a:ext uri="{FF2B5EF4-FFF2-40B4-BE49-F238E27FC236}">
                <a16:creationId xmlns:a16="http://schemas.microsoft.com/office/drawing/2014/main" id="{00000006-0004-4000-8000-000000000000}"/>
              </a:ext>
            </a:extLst>
          </p:cNvPr>
          <p:cNvSpPr>
            <a:spLocks noGrp="1"/>
          </p:cNvSpPr>
          <p:nvPr/>
        </p:nvSpPr>
        <p:spPr>
          <a:xfrm>
            <a:off x="609600" y="1724025"/>
            <a:ext cx="4191000" cy="733425"/>
          </a:xfrm>
          <a:prstGeom prst="rect">
            <a:avLst/>
          </a:prstGeom>
          <a:noFill/>
          <a:ln w="0">
            <a:noFill/>
          </a:ln>
        </p:spPr>
        <p:txBody>
          <a:bodyPr>
            <a:noAutofit/>
          </a:bodyPr>
          <a:lstStyle/>
          <a:p>
            <a:pPr>
              <a:defRPr sz="2325" b="1">
                <a:solidFill>
                  <a:srgbClr val="176A88"/>
                </a:solidFill>
                <a:latin typeface="DejaVu Sans"/>
                <a:ea typeface="DejaVu Sans"/>
                <a:cs typeface="DejaVu Sans"/>
              </a:defRPr>
            </a:pPr>
            <a:r>
              <a:rPr sz="2325" b="1">
                <a:solidFill>
                  <a:srgbClr val="176A88"/>
                </a:solidFill>
                <a:latin typeface="DejaVu Sans"/>
                <a:ea typeface="DejaVu Sans"/>
                <a:cs typeface="DejaVu Sans"/>
              </a:rPr>
              <a:t>Zwykły odczyt tabeli</a:t>
            </a:r>
          </a:p>
        </p:txBody>
      </p:sp>
      <p:sp>
        <p:nvSpPr>
          <p:cNvPr id="5" name="Prostokąt 4">
            <a:extLst>
              <a:ext uri="{FF2B5EF4-FFF2-40B4-BE49-F238E27FC236}">
                <a16:creationId xmlns:a16="http://schemas.microsoft.com/office/drawing/2014/main" id="{00000006-0005-4000-8000-000000000000}"/>
              </a:ext>
            </a:extLst>
          </p:cNvPr>
          <p:cNvSpPr>
            <a:spLocks noGrp="1"/>
          </p:cNvSpPr>
          <p:nvPr/>
        </p:nvSpPr>
        <p:spPr>
          <a:xfrm>
            <a:off x="609600" y="2590800"/>
            <a:ext cx="4191000" cy="2724150"/>
          </a:xfrm>
          <a:prstGeom prst="rect">
            <a:avLst/>
          </a:prstGeom>
          <a:noFill/>
          <a:ln w="0">
            <a:noFill/>
          </a:ln>
        </p:spPr>
        <p:txBody>
          <a:bodyPr>
            <a:noAutofit/>
          </a:bodyPr>
          <a:lstStyle/>
          <a:p>
            <a:pPr>
              <a:defRPr sz="1950" b="0">
                <a:solidFill>
                  <a:srgbClr val="182C3B"/>
                </a:solidFill>
                <a:latin typeface="DejaVu Sans"/>
                <a:ea typeface="DejaVu Sans"/>
                <a:cs typeface="DejaVu Sans"/>
              </a:defRPr>
            </a:pPr>
            <a:r>
              <a:rPr sz="1950" b="0">
                <a:solidFill>
                  <a:srgbClr val="182C3B"/>
                </a:solidFill>
                <a:latin typeface="DejaVu Sans"/>
                <a:ea typeface="DejaVu Sans"/>
                <a:cs typeface="DejaVu Sans"/>
              </a:rPr>
              <a:t>SELECT i COPY ... TO</a:t>
            </a:r>
          </a:p>
          <a:p>
            <a:endParaRPr sz="1950" b="0">
              <a:solidFill>
                <a:srgbClr val="182C3B"/>
              </a:solidFill>
              <a:latin typeface="DejaVu Sans"/>
              <a:ea typeface="DejaVu Sans"/>
              <a:cs typeface="DejaVu Sans"/>
            </a:endParaRPr>
          </a:p>
          <a:p>
            <a:pPr>
              <a:defRPr sz="1950" b="0">
                <a:solidFill>
                  <a:srgbClr val="182C3B"/>
                </a:solidFill>
                <a:latin typeface="DejaVu Sans"/>
                <a:ea typeface="DejaVu Sans"/>
                <a:cs typeface="DejaVu Sans"/>
              </a:defRPr>
            </a:pPr>
            <a:r>
              <a:rPr sz="1950" b="0">
                <a:solidFill>
                  <a:srgbClr val="182C3B"/>
                </a:solidFill>
                <a:latin typeface="DejaVu Sans"/>
                <a:ea typeface="DejaVu Sans"/>
                <a:cs typeface="DejaVu Sans"/>
              </a:rPr>
              <a:t>Konflikt wyłącznie z ACCESS EXCLUSIVE.</a:t>
            </a:r>
          </a:p>
          <a:p>
            <a:endParaRPr sz="1950" b="0">
              <a:solidFill>
                <a:srgbClr val="182C3B"/>
              </a:solidFill>
              <a:latin typeface="DejaVu Sans"/>
              <a:ea typeface="DejaVu Sans"/>
              <a:cs typeface="DejaVu Sans"/>
            </a:endParaRPr>
          </a:p>
          <a:p>
            <a:pPr>
              <a:defRPr sz="1950" b="0">
                <a:solidFill>
                  <a:srgbClr val="182C3B"/>
                </a:solidFill>
                <a:latin typeface="DejaVu Sans"/>
                <a:ea typeface="DejaVu Sans"/>
                <a:cs typeface="DejaVu Sans"/>
              </a:defRPr>
            </a:pPr>
            <a:r>
              <a:rPr sz="1950" b="0">
                <a:solidFill>
                  <a:srgbClr val="182C3B"/>
                </a:solidFill>
                <a:latin typeface="DejaVu Sans"/>
                <a:ea typeface="DejaVu Sans"/>
                <a:cs typeface="DejaVu Sans"/>
              </a:rPr>
              <a:t>Otwarta transakcja po SELECT nadal trzyma blokadę.</a:t>
            </a:r>
          </a:p>
        </p:txBody>
      </p:sp>
      <p:sp>
        <p:nvSpPr>
          <p:cNvPr id="6" name="Prostokąt 5">
            <a:extLst>
              <a:ext uri="{FF2B5EF4-FFF2-40B4-BE49-F238E27FC236}">
                <a16:creationId xmlns:a16="http://schemas.microsoft.com/office/drawing/2014/main" id="{00000006-0006-4000-8000-000000000000}"/>
              </a:ext>
            </a:extLst>
          </p:cNvPr>
          <p:cNvSpPr>
            <a:spLocks noGrp="1"/>
          </p:cNvSpPr>
          <p:nvPr/>
        </p:nvSpPr>
        <p:spPr>
          <a:xfrm>
            <a:off x="5391150" y="1695450"/>
            <a:ext cx="6191250" cy="3705225"/>
          </a:xfrm>
          <a:prstGeom prst="rect">
            <a:avLst/>
          </a:prstGeom>
          <a:noFill/>
          <a:ln w="0">
            <a:noFill/>
          </a:ln>
        </p:spPr>
        <p:txBody>
          <a:bodyPr>
            <a:noAutofit/>
          </a:bodyPr>
          <a:lstStyle/>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Sesja A</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BEGIN;</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SELECT count(*) FROM orders;</a:t>
            </a:r>
          </a:p>
          <a:p>
            <a:endParaRPr sz="1725" b="0">
              <a:solidFill>
                <a:srgbClr val="182C3B"/>
              </a:solidFill>
              <a:latin typeface="DejaVu Sans Mono"/>
              <a:ea typeface="DejaVu Sans Mono"/>
              <a:cs typeface="DejaVu Sans Mono"/>
            </a:endParaRP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Sesja B: czeka</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ALTER TABLE orders</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ADD COLUMN kod_rabatu text;</a:t>
            </a:r>
          </a:p>
          <a:p>
            <a:endParaRPr sz="1725" b="0">
              <a:solidFill>
                <a:srgbClr val="182C3B"/>
              </a:solidFill>
              <a:latin typeface="DejaVu Sans Mono"/>
              <a:ea typeface="DejaVu Sans Mono"/>
              <a:cs typeface="DejaVu Sans Mono"/>
            </a:endParaRP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Sesja A: zwalnia blokadę</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COMMIT;</a:t>
            </a:r>
          </a:p>
        </p:txBody>
      </p:sp>
    </p:spTree>
    <p:extLst>
      <p:ext uri="{BB962C8B-B14F-4D97-AF65-F5344CB8AC3E}">
        <p14:creationId xmlns:p14="http://schemas.microsoft.com/office/powerpoint/2010/main" val="600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rostokąt 5">
            <a:extLst>
              <a:ext uri="{FF2B5EF4-FFF2-40B4-BE49-F238E27FC236}">
                <a16:creationId xmlns:a16="http://schemas.microsoft.com/office/drawing/2014/main" id="{00000007-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07</a:t>
            </a:r>
          </a:p>
        </p:txBody>
      </p:sp>
      <p:sp>
        <p:nvSpPr>
          <p:cNvPr id="2" name="Prostokąt 1">
            <a:extLst>
              <a:ext uri="{FF2B5EF4-FFF2-40B4-BE49-F238E27FC236}">
                <a16:creationId xmlns:a16="http://schemas.microsoft.com/office/drawing/2014/main" id="{00000007-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ROW SHARE</a:t>
            </a:r>
          </a:p>
        </p:txBody>
      </p:sp>
      <p:sp>
        <p:nvSpPr>
          <p:cNvPr id="3" name="Prostokąt 2">
            <a:extLst>
              <a:ext uri="{FF2B5EF4-FFF2-40B4-BE49-F238E27FC236}">
                <a16:creationId xmlns:a16="http://schemas.microsoft.com/office/drawing/2014/main" id="{00000007-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Na poziomie tabeli konflikty dotyczą EXCLUSIVE i ACCESS EXCLUSIVE.</a:t>
            </a:r>
          </a:p>
        </p:txBody>
      </p:sp>
      <p:sp>
        <p:nvSpPr>
          <p:cNvPr id="4" name="Prostokąt 3">
            <a:extLst>
              <a:ext uri="{FF2B5EF4-FFF2-40B4-BE49-F238E27FC236}">
                <a16:creationId xmlns:a16="http://schemas.microsoft.com/office/drawing/2014/main" id="{00000007-0004-4000-8000-000000000000}"/>
              </a:ext>
            </a:extLst>
          </p:cNvPr>
          <p:cNvSpPr>
            <a:spLocks noGrp="1"/>
          </p:cNvSpPr>
          <p:nvPr/>
        </p:nvSpPr>
        <p:spPr>
          <a:xfrm>
            <a:off x="609600" y="1533525"/>
            <a:ext cx="10972800" cy="685800"/>
          </a:xfrm>
          <a:prstGeom prst="rect">
            <a:avLst/>
          </a:prstGeom>
          <a:noFill/>
          <a:ln w="0">
            <a:noFill/>
          </a:ln>
        </p:spPr>
        <p:txBody>
          <a:bodyPr>
            <a:noAutofit/>
          </a:bodyPr>
          <a:lstStyle/>
          <a:p>
            <a:pPr>
              <a:defRPr sz="2025" b="0">
                <a:solidFill>
                  <a:srgbClr val="526675"/>
                </a:solidFill>
                <a:latin typeface="DejaVu Sans"/>
                <a:ea typeface="DejaVu Sans"/>
                <a:cs typeface="DejaVu Sans"/>
              </a:defRPr>
            </a:pPr>
            <a:r>
              <a:rPr sz="2025" b="0">
                <a:solidFill>
                  <a:srgbClr val="526675"/>
                </a:solidFill>
                <a:latin typeface="DejaVu Sans"/>
                <a:ea typeface="DejaVu Sans"/>
                <a:cs typeface="DejaVu Sans"/>
              </a:rPr>
              <a:t>SELECT z klauzulą FOR ... pobiera ROW SHARE na tabeli oraz blokadę wybranych wierszy.</a:t>
            </a:r>
          </a:p>
        </p:txBody>
      </p:sp>
      <p:graphicFrame>
        <p:nvGraphicFramePr>
          <p:cNvPr id="5" name="Tabela 4"/>
          <p:cNvGraphicFramePr/>
          <p:nvPr/>
        </p:nvGraphicFramePr>
        <p:xfrm>
          <a:off x="609600" y="2447925"/>
          <a:ext cx="10972800" cy="2809875"/>
        </p:xfrm>
        <a:graphic>
          <a:graphicData uri="http://schemas.openxmlformats.org/drawingml/2006/table">
            <a:tbl>
              <a:tblPr/>
              <a:tblGrid>
                <a:gridCol w="857250">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5619750">
                  <a:extLst>
                    <a:ext uri="{9D8B030D-6E8A-4147-A177-3AD203B41FA5}">
                      <a16:colId xmlns:a16="http://schemas.microsoft.com/office/drawing/2014/main" val="20002"/>
                    </a:ext>
                  </a:extLst>
                </a:gridCol>
                <a:gridCol w="3590925">
                  <a:extLst>
                    <a:ext uri="{9D8B030D-6E8A-4147-A177-3AD203B41FA5}">
                      <a16:colId xmlns:a16="http://schemas.microsoft.com/office/drawing/2014/main" val="20003"/>
                    </a:ext>
                  </a:extLst>
                </a:gridCol>
              </a:tblGrid>
              <a:tr h="561975">
                <a:tc>
                  <a:txBody>
                    <a:bodyPr/>
                    <a:lstStyle/>
                    <a:p>
                      <a:r>
                        <a:rPr sz="1725" b="1">
                          <a:solidFill>
                            <a:srgbClr val="FFFFFF"/>
                          </a:solidFill>
                          <a:latin typeface="DejaVu Sans"/>
                          <a:ea typeface="DejaVu Sans"/>
                          <a:cs typeface="DejaVu Sans"/>
                        </a:rPr>
                        <a:t>Krok</a:t>
                      </a:r>
                    </a:p>
                  </a:txBody>
                  <a:tcPr>
                    <a:solidFill>
                      <a:srgbClr val="182C3B"/>
                    </a:solidFill>
                  </a:tcPr>
                </a:tc>
                <a:tc>
                  <a:txBody>
                    <a:bodyPr/>
                    <a:lstStyle/>
                    <a:p>
                      <a:r>
                        <a:rPr sz="1725" b="1">
                          <a:solidFill>
                            <a:srgbClr val="FFFFFF"/>
                          </a:solidFill>
                          <a:latin typeface="DejaVu Sans"/>
                          <a:ea typeface="DejaVu Sans"/>
                          <a:cs typeface="DejaVu Sans"/>
                        </a:rPr>
                        <a:t>Sesja</a:t>
                      </a:r>
                    </a:p>
                  </a:txBody>
                  <a:tcPr>
                    <a:solidFill>
                      <a:srgbClr val="182C3B"/>
                    </a:solidFill>
                  </a:tcPr>
                </a:tc>
                <a:tc>
                  <a:txBody>
                    <a:bodyPr/>
                    <a:lstStyle/>
                    <a:p>
                      <a:r>
                        <a:rPr sz="1725" b="1">
                          <a:solidFill>
                            <a:srgbClr val="FFFFFF"/>
                          </a:solidFill>
                          <a:latin typeface="DejaVu Sans"/>
                          <a:ea typeface="DejaVu Sans"/>
                          <a:cs typeface="DejaVu Sans"/>
                        </a:rPr>
                        <a:t>Polecenie / działanie</a:t>
                      </a:r>
                    </a:p>
                  </a:txBody>
                  <a:tcPr>
                    <a:solidFill>
                      <a:srgbClr val="182C3B"/>
                    </a:solidFill>
                  </a:tcPr>
                </a:tc>
                <a:tc>
                  <a:txBody>
                    <a:bodyPr/>
                    <a:lstStyle/>
                    <a:p>
                      <a:r>
                        <a:rPr sz="1725" b="1">
                          <a:solidFill>
                            <a:srgbClr val="FFFFFF"/>
                          </a:solidFill>
                          <a:latin typeface="DejaVu Sans"/>
                          <a:ea typeface="DejaVu Sans"/>
                          <a:cs typeface="DejaVu Sans"/>
                        </a:rPr>
                        <a:t>Efekt</a:t>
                      </a:r>
                    </a:p>
                  </a:txBody>
                  <a:tcPr>
                    <a:solidFill>
                      <a:srgbClr val="182C3B"/>
                    </a:solidFill>
                  </a:tcPr>
                </a:tc>
                <a:extLst>
                  <a:ext uri="{0D108BD9-81ED-4DB2-BD59-A6C34878D82A}">
                    <a16:rowId xmlns:a16="http://schemas.microsoft.com/office/drawing/2014/main" val="10000"/>
                  </a:ext>
                </a:extLst>
              </a:tr>
              <a:tr h="561975">
                <a:tc>
                  <a:txBody>
                    <a:bodyPr/>
                    <a:lstStyle/>
                    <a:p>
                      <a:r>
                        <a:rPr sz="1725" b="0">
                          <a:solidFill>
                            <a:srgbClr val="182C3B"/>
                          </a:solidFill>
                          <a:latin typeface="DejaVu Sans"/>
                          <a:ea typeface="DejaVu Sans"/>
                          <a:cs typeface="DejaVu Sans"/>
                        </a:rPr>
                        <a:t>1</a:t>
                      </a:r>
                    </a:p>
                  </a:txBody>
                  <a:tcPr>
                    <a:solidFill>
                      <a:srgbClr val="FFFFFF"/>
                    </a:solidFill>
                  </a:tcPr>
                </a:tc>
                <a:tc>
                  <a:txBody>
                    <a:bodyPr/>
                    <a:lstStyle/>
                    <a:p>
                      <a:r>
                        <a:rPr sz="1725" b="0">
                          <a:solidFill>
                            <a:srgbClr val="182C3B"/>
                          </a:solidFill>
                          <a:latin typeface="DejaVu Sans"/>
                          <a:ea typeface="DejaVu Sans"/>
                          <a:cs typeface="DejaVu Sans"/>
                        </a:rPr>
                        <a:t>A</a:t>
                      </a:r>
                    </a:p>
                  </a:txBody>
                  <a:tcPr>
                    <a:solidFill>
                      <a:srgbClr val="FFFFFF"/>
                    </a:solidFill>
                  </a:tcPr>
                </a:tc>
                <a:tc>
                  <a:txBody>
                    <a:bodyPr/>
                    <a:lstStyle/>
                    <a:p>
                      <a:r>
                        <a:rPr sz="1725" b="0">
                          <a:solidFill>
                            <a:srgbClr val="182C3B"/>
                          </a:solidFill>
                          <a:latin typeface="DejaVu Sans"/>
                          <a:ea typeface="DejaVu Sans"/>
                          <a:cs typeface="DejaVu Sans"/>
                        </a:rPr>
                        <a:t>BEGIN; SELECT ... FOR UPDATE</a:t>
                      </a:r>
                    </a:p>
                  </a:txBody>
                  <a:tcPr>
                    <a:solidFill>
                      <a:srgbClr val="FFFFFF"/>
                    </a:solidFill>
                  </a:tcPr>
                </a:tc>
                <a:tc>
                  <a:txBody>
                    <a:bodyPr/>
                    <a:lstStyle/>
                    <a:p>
                      <a:r>
                        <a:rPr sz="1725" b="0">
                          <a:solidFill>
                            <a:srgbClr val="182C3B"/>
                          </a:solidFill>
                          <a:latin typeface="DejaVu Sans"/>
                          <a:ea typeface="DejaVu Sans"/>
                          <a:cs typeface="DejaVu Sans"/>
                        </a:rPr>
                        <a:t>ROW SHARE na products</a:t>
                      </a:r>
                    </a:p>
                  </a:txBody>
                  <a:tcPr>
                    <a:solidFill>
                      <a:srgbClr val="FFFFFF"/>
                    </a:solidFill>
                  </a:tcPr>
                </a:tc>
                <a:extLst>
                  <a:ext uri="{0D108BD9-81ED-4DB2-BD59-A6C34878D82A}">
                    <a16:rowId xmlns:a16="http://schemas.microsoft.com/office/drawing/2014/main" val="10001"/>
                  </a:ext>
                </a:extLst>
              </a:tr>
              <a:tr h="561975">
                <a:tc>
                  <a:txBody>
                    <a:bodyPr/>
                    <a:lstStyle/>
                    <a:p>
                      <a:r>
                        <a:rPr sz="1725" b="0">
                          <a:solidFill>
                            <a:srgbClr val="182C3B"/>
                          </a:solidFill>
                          <a:latin typeface="DejaVu Sans"/>
                          <a:ea typeface="DejaVu Sans"/>
                          <a:cs typeface="DejaVu Sans"/>
                        </a:rPr>
                        <a:t>2</a:t>
                      </a:r>
                    </a:p>
                  </a:txBody>
                  <a:tcPr>
                    <a:solidFill>
                      <a:srgbClr val="EDF3F6"/>
                    </a:solidFill>
                  </a:tcPr>
                </a:tc>
                <a:tc>
                  <a:txBody>
                    <a:bodyPr/>
                    <a:lstStyle/>
                    <a:p>
                      <a:r>
                        <a:rPr sz="1725" b="0">
                          <a:solidFill>
                            <a:srgbClr val="182C3B"/>
                          </a:solidFill>
                          <a:latin typeface="DejaVu Sans"/>
                          <a:ea typeface="DejaVu Sans"/>
                          <a:cs typeface="DejaVu Sans"/>
                        </a:rPr>
                        <a:t>B</a:t>
                      </a:r>
                    </a:p>
                  </a:txBody>
                  <a:tcPr>
                    <a:solidFill>
                      <a:srgbClr val="EDF3F6"/>
                    </a:solidFill>
                  </a:tcPr>
                </a:tc>
                <a:tc>
                  <a:txBody>
                    <a:bodyPr/>
                    <a:lstStyle/>
                    <a:p>
                      <a:r>
                        <a:rPr sz="1725" b="0">
                          <a:solidFill>
                            <a:srgbClr val="182C3B"/>
                          </a:solidFill>
                          <a:latin typeface="DejaVu Sans"/>
                          <a:ea typeface="DejaVu Sans"/>
                          <a:cs typeface="DejaVu Sans"/>
                        </a:rPr>
                        <a:t>Zwykły SELECT</a:t>
                      </a:r>
                    </a:p>
                  </a:txBody>
                  <a:tcPr>
                    <a:solidFill>
                      <a:srgbClr val="EDF3F6"/>
                    </a:solidFill>
                  </a:tcPr>
                </a:tc>
                <a:tc>
                  <a:txBody>
                    <a:bodyPr/>
                    <a:lstStyle/>
                    <a:p>
                      <a:r>
                        <a:rPr sz="1725" b="0">
                          <a:solidFill>
                            <a:srgbClr val="182C3B"/>
                          </a:solidFill>
                          <a:latin typeface="DejaVu Sans"/>
                          <a:ea typeface="DejaVu Sans"/>
                          <a:cs typeface="DejaVu Sans"/>
                        </a:rPr>
                        <a:t>Działa</a:t>
                      </a:r>
                    </a:p>
                  </a:txBody>
                  <a:tcPr>
                    <a:solidFill>
                      <a:srgbClr val="EDF3F6"/>
                    </a:solidFill>
                  </a:tcPr>
                </a:tc>
                <a:extLst>
                  <a:ext uri="{0D108BD9-81ED-4DB2-BD59-A6C34878D82A}">
                    <a16:rowId xmlns:a16="http://schemas.microsoft.com/office/drawing/2014/main" val="10002"/>
                  </a:ext>
                </a:extLst>
              </a:tr>
              <a:tr h="561975">
                <a:tc>
                  <a:txBody>
                    <a:bodyPr/>
                    <a:lstStyle/>
                    <a:p>
                      <a:r>
                        <a:rPr sz="1725" b="0">
                          <a:solidFill>
                            <a:srgbClr val="182C3B"/>
                          </a:solidFill>
                          <a:latin typeface="DejaVu Sans"/>
                          <a:ea typeface="DejaVu Sans"/>
                          <a:cs typeface="DejaVu Sans"/>
                        </a:rPr>
                        <a:t>3</a:t>
                      </a:r>
                    </a:p>
                  </a:txBody>
                  <a:tcPr>
                    <a:solidFill>
                      <a:srgbClr val="FFFFFF"/>
                    </a:solidFill>
                  </a:tcPr>
                </a:tc>
                <a:tc>
                  <a:txBody>
                    <a:bodyPr/>
                    <a:lstStyle/>
                    <a:p>
                      <a:r>
                        <a:rPr sz="1725" b="0">
                          <a:solidFill>
                            <a:srgbClr val="182C3B"/>
                          </a:solidFill>
                          <a:latin typeface="DejaVu Sans"/>
                          <a:ea typeface="DejaVu Sans"/>
                          <a:cs typeface="DejaVu Sans"/>
                        </a:rPr>
                        <a:t>B</a:t>
                      </a:r>
                    </a:p>
                  </a:txBody>
                  <a:tcPr>
                    <a:solidFill>
                      <a:srgbClr val="FFFFFF"/>
                    </a:solidFill>
                  </a:tcPr>
                </a:tc>
                <a:tc>
                  <a:txBody>
                    <a:bodyPr/>
                    <a:lstStyle/>
                    <a:p>
                      <a:r>
                        <a:rPr sz="1725" b="0">
                          <a:solidFill>
                            <a:srgbClr val="182C3B"/>
                          </a:solidFill>
                          <a:latin typeface="DejaVu Sans"/>
                          <a:ea typeface="DejaVu Sans"/>
                          <a:cs typeface="DejaVu Sans"/>
                        </a:rPr>
                        <a:t>LOCK TABLE ... IN EXCLUSIVE MODE</a:t>
                      </a:r>
                    </a:p>
                  </a:txBody>
                  <a:tcPr>
                    <a:solidFill>
                      <a:srgbClr val="FFFFFF"/>
                    </a:solidFill>
                  </a:tcPr>
                </a:tc>
                <a:tc>
                  <a:txBody>
                    <a:bodyPr/>
                    <a:lstStyle/>
                    <a:p>
                      <a:r>
                        <a:rPr sz="1725" b="0">
                          <a:solidFill>
                            <a:srgbClr val="182C3B"/>
                          </a:solidFill>
                          <a:latin typeface="DejaVu Sans"/>
                          <a:ea typeface="DejaVu Sans"/>
                          <a:cs typeface="DejaVu Sans"/>
                        </a:rPr>
                        <a:t>Czeka na A</a:t>
                      </a:r>
                    </a:p>
                  </a:txBody>
                  <a:tcPr>
                    <a:solidFill>
                      <a:srgbClr val="FFFFFF"/>
                    </a:solidFill>
                  </a:tcPr>
                </a:tc>
                <a:extLst>
                  <a:ext uri="{0D108BD9-81ED-4DB2-BD59-A6C34878D82A}">
                    <a16:rowId xmlns:a16="http://schemas.microsoft.com/office/drawing/2014/main" val="10003"/>
                  </a:ext>
                </a:extLst>
              </a:tr>
              <a:tr h="561975">
                <a:tc>
                  <a:txBody>
                    <a:bodyPr/>
                    <a:lstStyle/>
                    <a:p>
                      <a:r>
                        <a:rPr sz="1725" b="0">
                          <a:solidFill>
                            <a:srgbClr val="182C3B"/>
                          </a:solidFill>
                          <a:latin typeface="DejaVu Sans"/>
                          <a:ea typeface="DejaVu Sans"/>
                          <a:cs typeface="DejaVu Sans"/>
                        </a:rPr>
                        <a:t>4</a:t>
                      </a:r>
                    </a:p>
                  </a:txBody>
                  <a:tcPr>
                    <a:solidFill>
                      <a:srgbClr val="EDF3F6"/>
                    </a:solidFill>
                  </a:tcPr>
                </a:tc>
                <a:tc>
                  <a:txBody>
                    <a:bodyPr/>
                    <a:lstStyle/>
                    <a:p>
                      <a:r>
                        <a:rPr sz="1725" b="0">
                          <a:solidFill>
                            <a:srgbClr val="182C3B"/>
                          </a:solidFill>
                          <a:latin typeface="DejaVu Sans"/>
                          <a:ea typeface="DejaVu Sans"/>
                          <a:cs typeface="DejaVu Sans"/>
                        </a:rPr>
                        <a:t>A</a:t>
                      </a:r>
                    </a:p>
                  </a:txBody>
                  <a:tcPr>
                    <a:solidFill>
                      <a:srgbClr val="EDF3F6"/>
                    </a:solidFill>
                  </a:tcPr>
                </a:tc>
                <a:tc>
                  <a:txBody>
                    <a:bodyPr/>
                    <a:lstStyle/>
                    <a:p>
                      <a:r>
                        <a:rPr sz="1725" b="0">
                          <a:solidFill>
                            <a:srgbClr val="182C3B"/>
                          </a:solidFill>
                          <a:latin typeface="DejaVu Sans"/>
                          <a:ea typeface="DejaVu Sans"/>
                          <a:cs typeface="DejaVu Sans"/>
                        </a:rPr>
                        <a:t>COMMIT</a:t>
                      </a:r>
                    </a:p>
                  </a:txBody>
                  <a:tcPr>
                    <a:solidFill>
                      <a:srgbClr val="EDF3F6"/>
                    </a:solidFill>
                  </a:tcPr>
                </a:tc>
                <a:tc>
                  <a:txBody>
                    <a:bodyPr/>
                    <a:lstStyle/>
                    <a:p>
                      <a:r>
                        <a:rPr sz="1725" b="0">
                          <a:solidFill>
                            <a:srgbClr val="182C3B"/>
                          </a:solidFill>
                          <a:latin typeface="DejaVu Sans"/>
                          <a:ea typeface="DejaVu Sans"/>
                          <a:cs typeface="DejaVu Sans"/>
                        </a:rPr>
                        <a:t>B otrzymuje blokadę</a:t>
                      </a:r>
                    </a:p>
                  </a:txBody>
                  <a:tcPr>
                    <a:solidFill>
                      <a:srgbClr val="EDF3F6"/>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00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rostokąt 9">
            <a:extLst>
              <a:ext uri="{FF2B5EF4-FFF2-40B4-BE49-F238E27FC236}">
                <a16:creationId xmlns:a16="http://schemas.microsoft.com/office/drawing/2014/main" id="{00000008-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08</a:t>
            </a:r>
          </a:p>
        </p:txBody>
      </p:sp>
      <p:sp>
        <p:nvSpPr>
          <p:cNvPr id="2" name="Prostokąt 1">
            <a:extLst>
              <a:ext uri="{FF2B5EF4-FFF2-40B4-BE49-F238E27FC236}">
                <a16:creationId xmlns:a16="http://schemas.microsoft.com/office/drawing/2014/main" id="{00000008-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ROW EXCLUSIVE</a:t>
            </a:r>
          </a:p>
        </p:txBody>
      </p:sp>
      <p:sp>
        <p:nvSpPr>
          <p:cNvPr id="3" name="Prostokąt 2">
            <a:extLst>
              <a:ext uri="{FF2B5EF4-FFF2-40B4-BE49-F238E27FC236}">
                <a16:creationId xmlns:a16="http://schemas.microsoft.com/office/drawing/2014/main" id="{00000008-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Konflikt tego samego wiersza lub wartości unikalnej może nadal zatrzymać zapis.</a:t>
            </a:r>
          </a:p>
        </p:txBody>
      </p:sp>
      <p:sp>
        <p:nvSpPr>
          <p:cNvPr id="4" name="Prostokąt 3">
            <a:extLst>
              <a:ext uri="{FF2B5EF4-FFF2-40B4-BE49-F238E27FC236}">
                <a16:creationId xmlns:a16="http://schemas.microsoft.com/office/drawing/2014/main" id="{00000008-0004-4000-8000-000000000000}"/>
              </a:ext>
            </a:extLst>
          </p:cNvPr>
          <p:cNvSpPr>
            <a:spLocks noGrp="1"/>
          </p:cNvSpPr>
          <p:nvPr/>
        </p:nvSpPr>
        <p:spPr>
          <a:xfrm>
            <a:off x="609600" y="1752600"/>
            <a:ext cx="5191125" cy="666750"/>
          </a:xfrm>
          <a:prstGeom prst="rect">
            <a:avLst/>
          </a:prstGeom>
          <a:noFill/>
          <a:ln w="0">
            <a:noFill/>
          </a:ln>
        </p:spPr>
        <p:txBody>
          <a:bodyPr>
            <a:noAutofit/>
          </a:bodyPr>
          <a:lstStyle/>
          <a:p>
            <a:pPr>
              <a:defRPr sz="2400" b="1">
                <a:solidFill>
                  <a:srgbClr val="176A88"/>
                </a:solidFill>
                <a:latin typeface="DejaVu Sans"/>
                <a:ea typeface="DejaVu Sans"/>
                <a:cs typeface="DejaVu Sans"/>
              </a:defRPr>
            </a:pPr>
            <a:r>
              <a:rPr sz="2400" b="1">
                <a:solidFill>
                  <a:srgbClr val="176A88"/>
                </a:solidFill>
                <a:latin typeface="DejaVu Sans"/>
                <a:ea typeface="DejaVu Sans"/>
                <a:cs typeface="DejaVu Sans"/>
              </a:rPr>
              <a:t>Zapisy do tej samej tabeli</a:t>
            </a:r>
          </a:p>
        </p:txBody>
      </p:sp>
      <p:sp>
        <p:nvSpPr>
          <p:cNvPr id="5" name="Prostokąt 4">
            <a:extLst>
              <a:ext uri="{FF2B5EF4-FFF2-40B4-BE49-F238E27FC236}">
                <a16:creationId xmlns:a16="http://schemas.microsoft.com/office/drawing/2014/main" id="{00000008-0005-4000-8000-000000000000}"/>
              </a:ext>
            </a:extLst>
          </p:cNvPr>
          <p:cNvSpPr>
            <a:spLocks noGrp="1"/>
          </p:cNvSpPr>
          <p:nvPr/>
        </p:nvSpPr>
        <p:spPr>
          <a:xfrm>
            <a:off x="609600" y="2562225"/>
            <a:ext cx="5191125" cy="1400175"/>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INSERT, UPDATE, DELETE i COPY ... FROM pobierają ROW EXCLUSIVE.</a:t>
            </a:r>
          </a:p>
        </p:txBody>
      </p:sp>
      <p:sp>
        <p:nvSpPr>
          <p:cNvPr id="6" name="Prostokąt 5">
            <a:extLst>
              <a:ext uri="{FF2B5EF4-FFF2-40B4-BE49-F238E27FC236}">
                <a16:creationId xmlns:a16="http://schemas.microsoft.com/office/drawing/2014/main" id="{00000008-0006-4000-8000-000000000000}"/>
              </a:ext>
            </a:extLst>
          </p:cNvPr>
          <p:cNvSpPr>
            <a:spLocks noGrp="1"/>
          </p:cNvSpPr>
          <p:nvPr/>
        </p:nvSpPr>
        <p:spPr>
          <a:xfrm>
            <a:off x="609600" y="4105275"/>
            <a:ext cx="5191125" cy="1276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Ten tryb nie koliduje sam ze sobą. Równoległe DML pozostaje możliwe.</a:t>
            </a:r>
          </a:p>
        </p:txBody>
      </p:sp>
      <p:sp>
        <p:nvSpPr>
          <p:cNvPr id="7" name="Prostokąt 6">
            <a:extLst>
              <a:ext uri="{FF2B5EF4-FFF2-40B4-BE49-F238E27FC236}">
                <a16:creationId xmlns:a16="http://schemas.microsoft.com/office/drawing/2014/main" id="{00000008-0007-4000-8000-000000000000}"/>
              </a:ext>
            </a:extLst>
          </p:cNvPr>
          <p:cNvSpPr>
            <a:spLocks noGrp="1"/>
          </p:cNvSpPr>
          <p:nvPr/>
        </p:nvSpPr>
        <p:spPr>
          <a:xfrm>
            <a:off x="6324600" y="1752600"/>
            <a:ext cx="5191125" cy="666750"/>
          </a:xfrm>
          <a:prstGeom prst="rect">
            <a:avLst/>
          </a:prstGeom>
          <a:noFill/>
          <a:ln w="0">
            <a:noFill/>
          </a:ln>
        </p:spPr>
        <p:txBody>
          <a:bodyPr>
            <a:noAutofit/>
          </a:bodyPr>
          <a:lstStyle/>
          <a:p>
            <a:pPr>
              <a:defRPr sz="2100" b="1">
                <a:solidFill>
                  <a:srgbClr val="176A88"/>
                </a:solidFill>
                <a:latin typeface="DejaVu Sans"/>
                <a:ea typeface="DejaVu Sans"/>
                <a:cs typeface="DejaVu Sans"/>
              </a:defRPr>
            </a:pPr>
            <a:r>
              <a:rPr sz="2100" b="1">
                <a:solidFill>
                  <a:srgbClr val="176A88"/>
                </a:solidFill>
                <a:latin typeface="DejaVu Sans"/>
                <a:ea typeface="DejaVu Sans"/>
                <a:cs typeface="DejaVu Sans"/>
              </a:rPr>
              <a:t>Konflikty z silniejszymi trybami</a:t>
            </a:r>
          </a:p>
        </p:txBody>
      </p:sp>
      <p:sp>
        <p:nvSpPr>
          <p:cNvPr id="8" name="Prostokąt 7">
            <a:extLst>
              <a:ext uri="{FF2B5EF4-FFF2-40B4-BE49-F238E27FC236}">
                <a16:creationId xmlns:a16="http://schemas.microsoft.com/office/drawing/2014/main" id="{00000008-0008-4000-8000-000000000000}"/>
              </a:ext>
            </a:extLst>
          </p:cNvPr>
          <p:cNvSpPr>
            <a:spLocks noGrp="1"/>
          </p:cNvSpPr>
          <p:nvPr/>
        </p:nvSpPr>
        <p:spPr>
          <a:xfrm>
            <a:off x="6324600" y="2562225"/>
            <a:ext cx="5191125" cy="1400175"/>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SHARE</a:t>
            </a:r>
          </a:p>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SHARE ROW EXCLUSIVE</a:t>
            </a:r>
          </a:p>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EXCLUSIVE</a:t>
            </a:r>
          </a:p>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ACCESS EXCLUSIVE</a:t>
            </a:r>
          </a:p>
        </p:txBody>
      </p:sp>
      <p:sp>
        <p:nvSpPr>
          <p:cNvPr id="9" name="Prostokąt 8">
            <a:extLst>
              <a:ext uri="{FF2B5EF4-FFF2-40B4-BE49-F238E27FC236}">
                <a16:creationId xmlns:a16="http://schemas.microsoft.com/office/drawing/2014/main" id="{00000008-0009-4000-8000-000000000000}"/>
              </a:ext>
            </a:extLst>
          </p:cNvPr>
          <p:cNvSpPr>
            <a:spLocks noGrp="1"/>
          </p:cNvSpPr>
          <p:nvPr/>
        </p:nvSpPr>
        <p:spPr>
          <a:xfrm>
            <a:off x="6324600" y="4105275"/>
            <a:ext cx="5191125" cy="1276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CREATE INDEX bez CONCURRENTLY czeka na otwartą transakcję zapisującą dane.</a:t>
            </a:r>
          </a:p>
        </p:txBody>
      </p:sp>
    </p:spTree>
    <p:extLst>
      <p:ext uri="{BB962C8B-B14F-4D97-AF65-F5344CB8AC3E}">
        <p14:creationId xmlns:p14="http://schemas.microsoft.com/office/powerpoint/2010/main" val="800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rostokąt 6">
            <a:extLst>
              <a:ext uri="{FF2B5EF4-FFF2-40B4-BE49-F238E27FC236}">
                <a16:creationId xmlns:a16="http://schemas.microsoft.com/office/drawing/2014/main" id="{00000009-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09</a:t>
            </a:r>
          </a:p>
        </p:txBody>
      </p:sp>
      <p:sp>
        <p:nvSpPr>
          <p:cNvPr id="2" name="Prostokąt 1">
            <a:extLst>
              <a:ext uri="{FF2B5EF4-FFF2-40B4-BE49-F238E27FC236}">
                <a16:creationId xmlns:a16="http://schemas.microsoft.com/office/drawing/2014/main" id="{00000009-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SHARE UPDATE EXCLUSIVE</a:t>
            </a:r>
          </a:p>
        </p:txBody>
      </p:sp>
      <p:sp>
        <p:nvSpPr>
          <p:cNvPr id="3" name="Prostokąt 2">
            <a:extLst>
              <a:ext uri="{FF2B5EF4-FFF2-40B4-BE49-F238E27FC236}">
                <a16:creationId xmlns:a16="http://schemas.microsoft.com/office/drawing/2014/main" id="{00000009-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VACUUM nie działa w bloku transakcji. W ćwiczeniu blokadę utrzymuje ANALYZE.</a:t>
            </a:r>
          </a:p>
        </p:txBody>
      </p:sp>
      <p:sp>
        <p:nvSpPr>
          <p:cNvPr id="4" name="Prostokąt 3">
            <a:extLst>
              <a:ext uri="{FF2B5EF4-FFF2-40B4-BE49-F238E27FC236}">
                <a16:creationId xmlns:a16="http://schemas.microsoft.com/office/drawing/2014/main" id="{00000009-0004-4000-8000-000000000000}"/>
              </a:ext>
            </a:extLst>
          </p:cNvPr>
          <p:cNvSpPr>
            <a:spLocks noGrp="1"/>
          </p:cNvSpPr>
          <p:nvPr/>
        </p:nvSpPr>
        <p:spPr>
          <a:xfrm>
            <a:off x="609600" y="1724025"/>
            <a:ext cx="4191000" cy="733425"/>
          </a:xfrm>
          <a:prstGeom prst="rect">
            <a:avLst/>
          </a:prstGeom>
          <a:noFill/>
          <a:ln w="0">
            <a:noFill/>
          </a:ln>
        </p:spPr>
        <p:txBody>
          <a:bodyPr>
            <a:noAutofit/>
          </a:bodyPr>
          <a:lstStyle/>
          <a:p>
            <a:pPr>
              <a:defRPr sz="2325" b="1">
                <a:solidFill>
                  <a:srgbClr val="176A88"/>
                </a:solidFill>
                <a:latin typeface="DejaVu Sans"/>
                <a:ea typeface="DejaVu Sans"/>
                <a:cs typeface="DejaVu Sans"/>
              </a:defRPr>
            </a:pPr>
            <a:r>
              <a:rPr sz="2325" b="1">
                <a:solidFill>
                  <a:srgbClr val="176A88"/>
                </a:solidFill>
                <a:latin typeface="DejaVu Sans"/>
                <a:ea typeface="DejaVu Sans"/>
                <a:cs typeface="DejaVu Sans"/>
              </a:rPr>
              <a:t>Utrzymanie bez blokowania DML</a:t>
            </a:r>
          </a:p>
        </p:txBody>
      </p:sp>
      <p:sp>
        <p:nvSpPr>
          <p:cNvPr id="5" name="Prostokąt 4">
            <a:extLst>
              <a:ext uri="{FF2B5EF4-FFF2-40B4-BE49-F238E27FC236}">
                <a16:creationId xmlns:a16="http://schemas.microsoft.com/office/drawing/2014/main" id="{00000009-0005-4000-8000-000000000000}"/>
              </a:ext>
            </a:extLst>
          </p:cNvPr>
          <p:cNvSpPr>
            <a:spLocks noGrp="1"/>
          </p:cNvSpPr>
          <p:nvPr/>
        </p:nvSpPr>
        <p:spPr>
          <a:xfrm>
            <a:off x="609600" y="2590800"/>
            <a:ext cx="4191000" cy="2724150"/>
          </a:xfrm>
          <a:prstGeom prst="rect">
            <a:avLst/>
          </a:prstGeom>
          <a:noFill/>
          <a:ln w="0">
            <a:noFill/>
          </a:ln>
        </p:spPr>
        <p:txBody>
          <a:bodyPr>
            <a:noAutofit/>
          </a:bodyPr>
          <a:lstStyle/>
          <a:p>
            <a:pPr>
              <a:defRPr sz="1950" b="0">
                <a:solidFill>
                  <a:srgbClr val="182C3B"/>
                </a:solidFill>
                <a:latin typeface="DejaVu Sans"/>
                <a:ea typeface="DejaVu Sans"/>
                <a:cs typeface="DejaVu Sans"/>
              </a:defRPr>
            </a:pPr>
            <a:r>
              <a:rPr sz="1950" b="0">
                <a:solidFill>
                  <a:srgbClr val="182C3B"/>
                </a:solidFill>
                <a:latin typeface="DejaVu Sans"/>
                <a:ea typeface="DejaVu Sans"/>
                <a:cs typeface="DejaVu Sans"/>
              </a:rPr>
              <a:t>VACUUM, ANALYZE i CREATE INDEX CONCURRENTLY.</a:t>
            </a:r>
          </a:p>
          <a:p>
            <a:endParaRPr sz="1950" b="0">
              <a:solidFill>
                <a:srgbClr val="182C3B"/>
              </a:solidFill>
              <a:latin typeface="DejaVu Sans"/>
              <a:ea typeface="DejaVu Sans"/>
              <a:cs typeface="DejaVu Sans"/>
            </a:endParaRPr>
          </a:p>
          <a:p>
            <a:pPr>
              <a:defRPr sz="1950" b="0">
                <a:solidFill>
                  <a:srgbClr val="182C3B"/>
                </a:solidFill>
                <a:latin typeface="DejaVu Sans"/>
                <a:ea typeface="DejaVu Sans"/>
                <a:cs typeface="DejaVu Sans"/>
              </a:defRPr>
            </a:pPr>
            <a:r>
              <a:rPr sz="1950" b="0">
                <a:solidFill>
                  <a:srgbClr val="182C3B"/>
                </a:solidFill>
                <a:latin typeface="DejaVu Sans"/>
                <a:ea typeface="DejaVu Sans"/>
                <a:cs typeface="DejaVu Sans"/>
              </a:rPr>
              <a:t>Koliduje sam ze sobą oraz z SHARE i silniejszymi trybami.</a:t>
            </a:r>
          </a:p>
          <a:p>
            <a:endParaRPr sz="1950" b="0">
              <a:solidFill>
                <a:srgbClr val="182C3B"/>
              </a:solidFill>
              <a:latin typeface="DejaVu Sans"/>
              <a:ea typeface="DejaVu Sans"/>
              <a:cs typeface="DejaVu Sans"/>
            </a:endParaRPr>
          </a:p>
          <a:p>
            <a:pPr>
              <a:defRPr sz="1950" b="0">
                <a:solidFill>
                  <a:srgbClr val="182C3B"/>
                </a:solidFill>
                <a:latin typeface="DejaVu Sans"/>
                <a:ea typeface="DejaVu Sans"/>
                <a:cs typeface="DejaVu Sans"/>
              </a:defRPr>
            </a:pPr>
            <a:r>
              <a:rPr sz="1950" b="0">
                <a:solidFill>
                  <a:srgbClr val="182C3B"/>
                </a:solidFill>
                <a:latin typeface="DejaVu Sans"/>
                <a:ea typeface="DejaVu Sans"/>
                <a:cs typeface="DejaVu Sans"/>
              </a:rPr>
              <a:t>Dwie takie operacje na tej samej tabeli muszą się skoordynować.</a:t>
            </a:r>
          </a:p>
        </p:txBody>
      </p:sp>
      <p:sp>
        <p:nvSpPr>
          <p:cNvPr id="6" name="Prostokąt 5">
            <a:extLst>
              <a:ext uri="{FF2B5EF4-FFF2-40B4-BE49-F238E27FC236}">
                <a16:creationId xmlns:a16="http://schemas.microsoft.com/office/drawing/2014/main" id="{00000009-0006-4000-8000-000000000000}"/>
              </a:ext>
            </a:extLst>
          </p:cNvPr>
          <p:cNvSpPr>
            <a:spLocks noGrp="1"/>
          </p:cNvSpPr>
          <p:nvPr/>
        </p:nvSpPr>
        <p:spPr>
          <a:xfrm>
            <a:off x="5391150" y="1695450"/>
            <a:ext cx="6191250" cy="3705225"/>
          </a:xfrm>
          <a:prstGeom prst="rect">
            <a:avLst/>
          </a:prstGeom>
          <a:noFill/>
          <a:ln w="0">
            <a:noFill/>
          </a:ln>
        </p:spPr>
        <p:txBody>
          <a:bodyPr>
            <a:noAutofit/>
          </a:bodyPr>
          <a:lstStyle/>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Sesja A</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BEGIN;</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ANALYZE orders;</a:t>
            </a:r>
          </a:p>
          <a:p>
            <a:endParaRPr sz="1725" b="0">
              <a:solidFill>
                <a:srgbClr val="182C3B"/>
              </a:solidFill>
              <a:latin typeface="DejaVu Sans Mono"/>
              <a:ea typeface="DejaVu Sans Mono"/>
              <a:cs typeface="DejaVu Sans Mono"/>
            </a:endParaRP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Sesja B: czeka</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ALTER TABLE orders SET</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(autovacuum_vacuum_scale_factor</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 0.05);</a:t>
            </a:r>
          </a:p>
          <a:p>
            <a:endParaRPr sz="1725" b="0">
              <a:solidFill>
                <a:srgbClr val="182C3B"/>
              </a:solidFill>
              <a:latin typeface="DejaVu Sans Mono"/>
              <a:ea typeface="DejaVu Sans Mono"/>
              <a:cs typeface="DejaVu Sans Mono"/>
            </a:endParaRP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Sesja A</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COMMIT;</a:t>
            </a:r>
          </a:p>
        </p:txBody>
      </p:sp>
    </p:spTree>
    <p:extLst>
      <p:ext uri="{BB962C8B-B14F-4D97-AF65-F5344CB8AC3E}">
        <p14:creationId xmlns:p14="http://schemas.microsoft.com/office/powerpoint/2010/main" val="900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rostokąt 5">
            <a:extLst>
              <a:ext uri="{FF2B5EF4-FFF2-40B4-BE49-F238E27FC236}">
                <a16:creationId xmlns:a16="http://schemas.microsoft.com/office/drawing/2014/main" id="{0000000A-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10</a:t>
            </a:r>
          </a:p>
        </p:txBody>
      </p:sp>
      <p:sp>
        <p:nvSpPr>
          <p:cNvPr id="2" name="Prostokąt 1">
            <a:extLst>
              <a:ext uri="{FF2B5EF4-FFF2-40B4-BE49-F238E27FC236}">
                <a16:creationId xmlns:a16="http://schemas.microsoft.com/office/drawing/2014/main" id="{0000000A-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SHARE: odczyty działają, zapisy czekają</a:t>
            </a:r>
          </a:p>
        </p:txBody>
      </p:sp>
      <p:sp>
        <p:nvSpPr>
          <p:cNvPr id="3" name="Prostokąt 2">
            <a:extLst>
              <a:ext uri="{FF2B5EF4-FFF2-40B4-BE49-F238E27FC236}">
                <a16:creationId xmlns:a16="http://schemas.microsoft.com/office/drawing/2014/main" id="{0000000A-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W transakcji blokada trwa także po zakończeniu budowy indeksu, aż do COMMIT.</a:t>
            </a:r>
          </a:p>
        </p:txBody>
      </p:sp>
      <p:sp>
        <p:nvSpPr>
          <p:cNvPr id="4" name="Prostokąt 3">
            <a:extLst>
              <a:ext uri="{FF2B5EF4-FFF2-40B4-BE49-F238E27FC236}">
                <a16:creationId xmlns:a16="http://schemas.microsoft.com/office/drawing/2014/main" id="{0000000A-0004-4000-8000-000000000000}"/>
              </a:ext>
            </a:extLst>
          </p:cNvPr>
          <p:cNvSpPr>
            <a:spLocks noGrp="1"/>
          </p:cNvSpPr>
          <p:nvPr/>
        </p:nvSpPr>
        <p:spPr>
          <a:xfrm>
            <a:off x="609600" y="1533525"/>
            <a:ext cx="10972800" cy="685800"/>
          </a:xfrm>
          <a:prstGeom prst="rect">
            <a:avLst/>
          </a:prstGeom>
          <a:noFill/>
          <a:ln w="0">
            <a:noFill/>
          </a:ln>
        </p:spPr>
        <p:txBody>
          <a:bodyPr>
            <a:noAutofit/>
          </a:bodyPr>
          <a:lstStyle/>
          <a:p>
            <a:pPr>
              <a:defRPr sz="2025" b="0">
                <a:solidFill>
                  <a:srgbClr val="526675"/>
                </a:solidFill>
                <a:latin typeface="DejaVu Sans"/>
                <a:ea typeface="DejaVu Sans"/>
                <a:cs typeface="DejaVu Sans"/>
              </a:defRPr>
            </a:pPr>
            <a:r>
              <a:rPr sz="2025" b="0">
                <a:solidFill>
                  <a:srgbClr val="526675"/>
                </a:solidFill>
                <a:latin typeface="DejaVu Sans"/>
                <a:ea typeface="DejaVu Sans"/>
                <a:cs typeface="DejaVu Sans"/>
              </a:rPr>
              <a:t>CREATE INDEX bez CONCURRENTLY pobiera SHARE. Kilka blokad SHARE może współistnieć.</a:t>
            </a:r>
          </a:p>
        </p:txBody>
      </p:sp>
      <p:graphicFrame>
        <p:nvGraphicFramePr>
          <p:cNvPr id="5" name="Tabela 4"/>
          <p:cNvGraphicFramePr/>
          <p:nvPr/>
        </p:nvGraphicFramePr>
        <p:xfrm>
          <a:off x="609600" y="2447925"/>
          <a:ext cx="10972800" cy="2809875"/>
        </p:xfrm>
        <a:graphic>
          <a:graphicData uri="http://schemas.openxmlformats.org/drawingml/2006/table">
            <a:tbl>
              <a:tblPr/>
              <a:tblGrid>
                <a:gridCol w="857250">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5619750">
                  <a:extLst>
                    <a:ext uri="{9D8B030D-6E8A-4147-A177-3AD203B41FA5}">
                      <a16:colId xmlns:a16="http://schemas.microsoft.com/office/drawing/2014/main" val="20002"/>
                    </a:ext>
                  </a:extLst>
                </a:gridCol>
                <a:gridCol w="3590925">
                  <a:extLst>
                    <a:ext uri="{9D8B030D-6E8A-4147-A177-3AD203B41FA5}">
                      <a16:colId xmlns:a16="http://schemas.microsoft.com/office/drawing/2014/main" val="20003"/>
                    </a:ext>
                  </a:extLst>
                </a:gridCol>
              </a:tblGrid>
              <a:tr h="561975">
                <a:tc>
                  <a:txBody>
                    <a:bodyPr/>
                    <a:lstStyle/>
                    <a:p>
                      <a:r>
                        <a:rPr sz="1725" b="1">
                          <a:solidFill>
                            <a:srgbClr val="FFFFFF"/>
                          </a:solidFill>
                          <a:latin typeface="DejaVu Sans"/>
                          <a:ea typeface="DejaVu Sans"/>
                          <a:cs typeface="DejaVu Sans"/>
                        </a:rPr>
                        <a:t>Krok</a:t>
                      </a:r>
                    </a:p>
                  </a:txBody>
                  <a:tcPr>
                    <a:solidFill>
                      <a:srgbClr val="182C3B"/>
                    </a:solidFill>
                  </a:tcPr>
                </a:tc>
                <a:tc>
                  <a:txBody>
                    <a:bodyPr/>
                    <a:lstStyle/>
                    <a:p>
                      <a:r>
                        <a:rPr sz="1725" b="1">
                          <a:solidFill>
                            <a:srgbClr val="FFFFFF"/>
                          </a:solidFill>
                          <a:latin typeface="DejaVu Sans"/>
                          <a:ea typeface="DejaVu Sans"/>
                          <a:cs typeface="DejaVu Sans"/>
                        </a:rPr>
                        <a:t>Sesja</a:t>
                      </a:r>
                    </a:p>
                  </a:txBody>
                  <a:tcPr>
                    <a:solidFill>
                      <a:srgbClr val="182C3B"/>
                    </a:solidFill>
                  </a:tcPr>
                </a:tc>
                <a:tc>
                  <a:txBody>
                    <a:bodyPr/>
                    <a:lstStyle/>
                    <a:p>
                      <a:r>
                        <a:rPr sz="1725" b="1">
                          <a:solidFill>
                            <a:srgbClr val="FFFFFF"/>
                          </a:solidFill>
                          <a:latin typeface="DejaVu Sans"/>
                          <a:ea typeface="DejaVu Sans"/>
                          <a:cs typeface="DejaVu Sans"/>
                        </a:rPr>
                        <a:t>Polecenie / działanie</a:t>
                      </a:r>
                    </a:p>
                  </a:txBody>
                  <a:tcPr>
                    <a:solidFill>
                      <a:srgbClr val="182C3B"/>
                    </a:solidFill>
                  </a:tcPr>
                </a:tc>
                <a:tc>
                  <a:txBody>
                    <a:bodyPr/>
                    <a:lstStyle/>
                    <a:p>
                      <a:r>
                        <a:rPr sz="1725" b="1">
                          <a:solidFill>
                            <a:srgbClr val="FFFFFF"/>
                          </a:solidFill>
                          <a:latin typeface="DejaVu Sans"/>
                          <a:ea typeface="DejaVu Sans"/>
                          <a:cs typeface="DejaVu Sans"/>
                        </a:rPr>
                        <a:t>Efekt</a:t>
                      </a:r>
                    </a:p>
                  </a:txBody>
                  <a:tcPr>
                    <a:solidFill>
                      <a:srgbClr val="182C3B"/>
                    </a:solidFill>
                  </a:tcPr>
                </a:tc>
                <a:extLst>
                  <a:ext uri="{0D108BD9-81ED-4DB2-BD59-A6C34878D82A}">
                    <a16:rowId xmlns:a16="http://schemas.microsoft.com/office/drawing/2014/main" val="10000"/>
                  </a:ext>
                </a:extLst>
              </a:tr>
              <a:tr h="561975">
                <a:tc>
                  <a:txBody>
                    <a:bodyPr/>
                    <a:lstStyle/>
                    <a:p>
                      <a:r>
                        <a:rPr sz="1725" b="0">
                          <a:solidFill>
                            <a:srgbClr val="182C3B"/>
                          </a:solidFill>
                          <a:latin typeface="DejaVu Sans"/>
                          <a:ea typeface="DejaVu Sans"/>
                          <a:cs typeface="DejaVu Sans"/>
                        </a:rPr>
                        <a:t>1</a:t>
                      </a:r>
                    </a:p>
                  </a:txBody>
                  <a:tcPr>
                    <a:solidFill>
                      <a:srgbClr val="FFFFFF"/>
                    </a:solidFill>
                  </a:tcPr>
                </a:tc>
                <a:tc>
                  <a:txBody>
                    <a:bodyPr/>
                    <a:lstStyle/>
                    <a:p>
                      <a:r>
                        <a:rPr sz="1725" b="0">
                          <a:solidFill>
                            <a:srgbClr val="182C3B"/>
                          </a:solidFill>
                          <a:latin typeface="DejaVu Sans"/>
                          <a:ea typeface="DejaVu Sans"/>
                          <a:cs typeface="DejaVu Sans"/>
                        </a:rPr>
                        <a:t>A</a:t>
                      </a:r>
                    </a:p>
                  </a:txBody>
                  <a:tcPr>
                    <a:solidFill>
                      <a:srgbClr val="FFFFFF"/>
                    </a:solidFill>
                  </a:tcPr>
                </a:tc>
                <a:tc>
                  <a:txBody>
                    <a:bodyPr/>
                    <a:lstStyle/>
                    <a:p>
                      <a:r>
                        <a:rPr sz="1725" b="0">
                          <a:solidFill>
                            <a:srgbClr val="182C3B"/>
                          </a:solidFill>
                          <a:latin typeface="DejaVu Sans"/>
                          <a:ea typeface="DejaVu Sans"/>
                          <a:cs typeface="DejaVu Sans"/>
                        </a:rPr>
                        <a:t>BEGIN; CREATE INDEX ... ON orders(total)</a:t>
                      </a:r>
                    </a:p>
                  </a:txBody>
                  <a:tcPr>
                    <a:solidFill>
                      <a:srgbClr val="FFFFFF"/>
                    </a:solidFill>
                  </a:tcPr>
                </a:tc>
                <a:tc>
                  <a:txBody>
                    <a:bodyPr/>
                    <a:lstStyle/>
                    <a:p>
                      <a:r>
                        <a:rPr sz="1725" b="0">
                          <a:solidFill>
                            <a:srgbClr val="182C3B"/>
                          </a:solidFill>
                          <a:latin typeface="DejaVu Sans"/>
                          <a:ea typeface="DejaVu Sans"/>
                          <a:cs typeface="DejaVu Sans"/>
                        </a:rPr>
                        <a:t>SHARE na orders</a:t>
                      </a:r>
                    </a:p>
                  </a:txBody>
                  <a:tcPr>
                    <a:solidFill>
                      <a:srgbClr val="FFFFFF"/>
                    </a:solidFill>
                  </a:tcPr>
                </a:tc>
                <a:extLst>
                  <a:ext uri="{0D108BD9-81ED-4DB2-BD59-A6C34878D82A}">
                    <a16:rowId xmlns:a16="http://schemas.microsoft.com/office/drawing/2014/main" val="10001"/>
                  </a:ext>
                </a:extLst>
              </a:tr>
              <a:tr h="561975">
                <a:tc>
                  <a:txBody>
                    <a:bodyPr/>
                    <a:lstStyle/>
                    <a:p>
                      <a:r>
                        <a:rPr sz="1725" b="0">
                          <a:solidFill>
                            <a:srgbClr val="182C3B"/>
                          </a:solidFill>
                          <a:latin typeface="DejaVu Sans"/>
                          <a:ea typeface="DejaVu Sans"/>
                          <a:cs typeface="DejaVu Sans"/>
                        </a:rPr>
                        <a:t>2</a:t>
                      </a:r>
                    </a:p>
                  </a:txBody>
                  <a:tcPr>
                    <a:solidFill>
                      <a:srgbClr val="EDF3F6"/>
                    </a:solidFill>
                  </a:tcPr>
                </a:tc>
                <a:tc>
                  <a:txBody>
                    <a:bodyPr/>
                    <a:lstStyle/>
                    <a:p>
                      <a:r>
                        <a:rPr sz="1725" b="0">
                          <a:solidFill>
                            <a:srgbClr val="182C3B"/>
                          </a:solidFill>
                          <a:latin typeface="DejaVu Sans"/>
                          <a:ea typeface="DejaVu Sans"/>
                          <a:cs typeface="DejaVu Sans"/>
                        </a:rPr>
                        <a:t>B</a:t>
                      </a:r>
                    </a:p>
                  </a:txBody>
                  <a:tcPr>
                    <a:solidFill>
                      <a:srgbClr val="EDF3F6"/>
                    </a:solidFill>
                  </a:tcPr>
                </a:tc>
                <a:tc>
                  <a:txBody>
                    <a:bodyPr/>
                    <a:lstStyle/>
                    <a:p>
                      <a:r>
                        <a:rPr sz="1725" b="0">
                          <a:solidFill>
                            <a:srgbClr val="182C3B"/>
                          </a:solidFill>
                          <a:latin typeface="DejaVu Sans"/>
                          <a:ea typeface="DejaVu Sans"/>
                          <a:cs typeface="DejaVu Sans"/>
                        </a:rPr>
                        <a:t>SELECT count(*) FROM orders</a:t>
                      </a:r>
                    </a:p>
                  </a:txBody>
                  <a:tcPr>
                    <a:solidFill>
                      <a:srgbClr val="EDF3F6"/>
                    </a:solidFill>
                  </a:tcPr>
                </a:tc>
                <a:tc>
                  <a:txBody>
                    <a:bodyPr/>
                    <a:lstStyle/>
                    <a:p>
                      <a:r>
                        <a:rPr sz="1725" b="0">
                          <a:solidFill>
                            <a:srgbClr val="182C3B"/>
                          </a:solidFill>
                          <a:latin typeface="DejaVu Sans"/>
                          <a:ea typeface="DejaVu Sans"/>
                          <a:cs typeface="DejaVu Sans"/>
                        </a:rPr>
                        <a:t>Działa</a:t>
                      </a:r>
                    </a:p>
                  </a:txBody>
                  <a:tcPr>
                    <a:solidFill>
                      <a:srgbClr val="EDF3F6"/>
                    </a:solidFill>
                  </a:tcPr>
                </a:tc>
                <a:extLst>
                  <a:ext uri="{0D108BD9-81ED-4DB2-BD59-A6C34878D82A}">
                    <a16:rowId xmlns:a16="http://schemas.microsoft.com/office/drawing/2014/main" val="10002"/>
                  </a:ext>
                </a:extLst>
              </a:tr>
              <a:tr h="561975">
                <a:tc>
                  <a:txBody>
                    <a:bodyPr/>
                    <a:lstStyle/>
                    <a:p>
                      <a:r>
                        <a:rPr sz="1725" b="0">
                          <a:solidFill>
                            <a:srgbClr val="182C3B"/>
                          </a:solidFill>
                          <a:latin typeface="DejaVu Sans"/>
                          <a:ea typeface="DejaVu Sans"/>
                          <a:cs typeface="DejaVu Sans"/>
                        </a:rPr>
                        <a:t>3</a:t>
                      </a:r>
                    </a:p>
                  </a:txBody>
                  <a:tcPr>
                    <a:solidFill>
                      <a:srgbClr val="FFFFFF"/>
                    </a:solidFill>
                  </a:tcPr>
                </a:tc>
                <a:tc>
                  <a:txBody>
                    <a:bodyPr/>
                    <a:lstStyle/>
                    <a:p>
                      <a:r>
                        <a:rPr sz="1725" b="0">
                          <a:solidFill>
                            <a:srgbClr val="182C3B"/>
                          </a:solidFill>
                          <a:latin typeface="DejaVu Sans"/>
                          <a:ea typeface="DejaVu Sans"/>
                          <a:cs typeface="DejaVu Sans"/>
                        </a:rPr>
                        <a:t>B</a:t>
                      </a:r>
                    </a:p>
                  </a:txBody>
                  <a:tcPr>
                    <a:solidFill>
                      <a:srgbClr val="FFFFFF"/>
                    </a:solidFill>
                  </a:tcPr>
                </a:tc>
                <a:tc>
                  <a:txBody>
                    <a:bodyPr/>
                    <a:lstStyle/>
                    <a:p>
                      <a:r>
                        <a:rPr sz="1725" b="0">
                          <a:solidFill>
                            <a:srgbClr val="182C3B"/>
                          </a:solidFill>
                          <a:latin typeface="DejaVu Sans"/>
                          <a:ea typeface="DejaVu Sans"/>
                          <a:cs typeface="DejaVu Sans"/>
                        </a:rPr>
                        <a:t>INSERT INTO orders ...</a:t>
                      </a:r>
                    </a:p>
                  </a:txBody>
                  <a:tcPr>
                    <a:solidFill>
                      <a:srgbClr val="FFFFFF"/>
                    </a:solidFill>
                  </a:tcPr>
                </a:tc>
                <a:tc>
                  <a:txBody>
                    <a:bodyPr/>
                    <a:lstStyle/>
                    <a:p>
                      <a:r>
                        <a:rPr sz="1725" b="0">
                          <a:solidFill>
                            <a:srgbClr val="182C3B"/>
                          </a:solidFill>
                          <a:latin typeface="DejaVu Sans"/>
                          <a:ea typeface="DejaVu Sans"/>
                          <a:cs typeface="DejaVu Sans"/>
                        </a:rPr>
                        <a:t>Czeka</a:t>
                      </a:r>
                    </a:p>
                  </a:txBody>
                  <a:tcPr>
                    <a:solidFill>
                      <a:srgbClr val="FFFFFF"/>
                    </a:solidFill>
                  </a:tcPr>
                </a:tc>
                <a:extLst>
                  <a:ext uri="{0D108BD9-81ED-4DB2-BD59-A6C34878D82A}">
                    <a16:rowId xmlns:a16="http://schemas.microsoft.com/office/drawing/2014/main" val="10003"/>
                  </a:ext>
                </a:extLst>
              </a:tr>
              <a:tr h="561975">
                <a:tc>
                  <a:txBody>
                    <a:bodyPr/>
                    <a:lstStyle/>
                    <a:p>
                      <a:r>
                        <a:rPr sz="1725" b="0">
                          <a:solidFill>
                            <a:srgbClr val="182C3B"/>
                          </a:solidFill>
                          <a:latin typeface="DejaVu Sans"/>
                          <a:ea typeface="DejaVu Sans"/>
                          <a:cs typeface="DejaVu Sans"/>
                        </a:rPr>
                        <a:t>4</a:t>
                      </a:r>
                    </a:p>
                  </a:txBody>
                  <a:tcPr>
                    <a:solidFill>
                      <a:srgbClr val="EDF3F6"/>
                    </a:solidFill>
                  </a:tcPr>
                </a:tc>
                <a:tc>
                  <a:txBody>
                    <a:bodyPr/>
                    <a:lstStyle/>
                    <a:p>
                      <a:r>
                        <a:rPr sz="1725" b="0">
                          <a:solidFill>
                            <a:srgbClr val="182C3B"/>
                          </a:solidFill>
                          <a:latin typeface="DejaVu Sans"/>
                          <a:ea typeface="DejaVu Sans"/>
                          <a:cs typeface="DejaVu Sans"/>
                        </a:rPr>
                        <a:t>A</a:t>
                      </a:r>
                    </a:p>
                  </a:txBody>
                  <a:tcPr>
                    <a:solidFill>
                      <a:srgbClr val="EDF3F6"/>
                    </a:solidFill>
                  </a:tcPr>
                </a:tc>
                <a:tc>
                  <a:txBody>
                    <a:bodyPr/>
                    <a:lstStyle/>
                    <a:p>
                      <a:r>
                        <a:rPr sz="1725" b="0">
                          <a:solidFill>
                            <a:srgbClr val="182C3B"/>
                          </a:solidFill>
                          <a:latin typeface="DejaVu Sans"/>
                          <a:ea typeface="DejaVu Sans"/>
                          <a:cs typeface="DejaVu Sans"/>
                        </a:rPr>
                        <a:t>COMMIT</a:t>
                      </a:r>
                    </a:p>
                  </a:txBody>
                  <a:tcPr>
                    <a:solidFill>
                      <a:srgbClr val="EDF3F6"/>
                    </a:solidFill>
                  </a:tcPr>
                </a:tc>
                <a:tc>
                  <a:txBody>
                    <a:bodyPr/>
                    <a:lstStyle/>
                    <a:p>
                      <a:r>
                        <a:rPr sz="1725" b="0">
                          <a:solidFill>
                            <a:srgbClr val="182C3B"/>
                          </a:solidFill>
                          <a:latin typeface="DejaVu Sans"/>
                          <a:ea typeface="DejaVu Sans"/>
                          <a:cs typeface="DejaVu Sans"/>
                        </a:rPr>
                        <a:t>INSERT może się zakończyć</a:t>
                      </a:r>
                    </a:p>
                  </a:txBody>
                  <a:tcPr>
                    <a:solidFill>
                      <a:srgbClr val="EDF3F6"/>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00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rostokąt 9">
            <a:extLst>
              <a:ext uri="{FF2B5EF4-FFF2-40B4-BE49-F238E27FC236}">
                <a16:creationId xmlns:a16="http://schemas.microsoft.com/office/drawing/2014/main" id="{0000000B-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11</a:t>
            </a:r>
          </a:p>
        </p:txBody>
      </p:sp>
      <p:sp>
        <p:nvSpPr>
          <p:cNvPr id="2" name="Prostokąt 1">
            <a:extLst>
              <a:ext uri="{FF2B5EF4-FFF2-40B4-BE49-F238E27FC236}">
                <a16:creationId xmlns:a16="http://schemas.microsoft.com/office/drawing/2014/main" id="{0000000B-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SHARE ROW EXCLUSIVE</a:t>
            </a:r>
          </a:p>
        </p:txBody>
      </p:sp>
      <p:sp>
        <p:nvSpPr>
          <p:cNvPr id="3" name="Prostokąt 2">
            <a:extLst>
              <a:ext uri="{FF2B5EF4-FFF2-40B4-BE49-F238E27FC236}">
                <a16:creationId xmlns:a16="http://schemas.microsoft.com/office/drawing/2014/main" id="{0000000B-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ADD FOREIGN KEY pobiera SHARE ROW EXCLUSIVE na tabeli podrzędnej i wskazywanej. NOT VALID nadal wymaga blokady.</a:t>
            </a:r>
          </a:p>
        </p:txBody>
      </p:sp>
      <p:sp>
        <p:nvSpPr>
          <p:cNvPr id="4" name="Prostokąt 3">
            <a:extLst>
              <a:ext uri="{FF2B5EF4-FFF2-40B4-BE49-F238E27FC236}">
                <a16:creationId xmlns:a16="http://schemas.microsoft.com/office/drawing/2014/main" id="{0000000B-0004-4000-8000-000000000000}"/>
              </a:ext>
            </a:extLst>
          </p:cNvPr>
          <p:cNvSpPr>
            <a:spLocks noGrp="1"/>
          </p:cNvSpPr>
          <p:nvPr/>
        </p:nvSpPr>
        <p:spPr>
          <a:xfrm>
            <a:off x="609600" y="1752600"/>
            <a:ext cx="5191125" cy="666750"/>
          </a:xfrm>
          <a:prstGeom prst="rect">
            <a:avLst/>
          </a:prstGeom>
          <a:noFill/>
          <a:ln w="0">
            <a:noFill/>
          </a:ln>
        </p:spPr>
        <p:txBody>
          <a:bodyPr>
            <a:noAutofit/>
          </a:bodyPr>
          <a:lstStyle/>
          <a:p>
            <a:pPr>
              <a:defRPr sz="2400" b="1">
                <a:solidFill>
                  <a:srgbClr val="176A88"/>
                </a:solidFill>
                <a:latin typeface="DejaVu Sans"/>
                <a:ea typeface="DejaVu Sans"/>
                <a:cs typeface="DejaVu Sans"/>
              </a:defRPr>
            </a:pPr>
            <a:r>
              <a:rPr sz="2400" b="1">
                <a:solidFill>
                  <a:srgbClr val="176A88"/>
                </a:solidFill>
                <a:latin typeface="DejaVu Sans"/>
                <a:ea typeface="DejaVu Sans"/>
                <a:cs typeface="DejaVu Sans"/>
              </a:rPr>
              <a:t>Zmiana reguł zapisu</a:t>
            </a:r>
          </a:p>
        </p:txBody>
      </p:sp>
      <p:sp>
        <p:nvSpPr>
          <p:cNvPr id="5" name="Prostokąt 4">
            <a:extLst>
              <a:ext uri="{FF2B5EF4-FFF2-40B4-BE49-F238E27FC236}">
                <a16:creationId xmlns:a16="http://schemas.microsoft.com/office/drawing/2014/main" id="{0000000B-0005-4000-8000-000000000000}"/>
              </a:ext>
            </a:extLst>
          </p:cNvPr>
          <p:cNvSpPr>
            <a:spLocks noGrp="1"/>
          </p:cNvSpPr>
          <p:nvPr/>
        </p:nvSpPr>
        <p:spPr>
          <a:xfrm>
            <a:off x="609600" y="2562225"/>
            <a:ext cx="5191125" cy="1400175"/>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CREATE TRIGGER</a:t>
            </a:r>
          </a:p>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ADD FOREIGN KEY</a:t>
            </a:r>
          </a:p>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ENABLE / DISABLE TRIGGER</a:t>
            </a:r>
          </a:p>
        </p:txBody>
      </p:sp>
      <p:sp>
        <p:nvSpPr>
          <p:cNvPr id="6" name="Prostokąt 5">
            <a:extLst>
              <a:ext uri="{FF2B5EF4-FFF2-40B4-BE49-F238E27FC236}">
                <a16:creationId xmlns:a16="http://schemas.microsoft.com/office/drawing/2014/main" id="{0000000B-0006-4000-8000-000000000000}"/>
              </a:ext>
            </a:extLst>
          </p:cNvPr>
          <p:cNvSpPr>
            <a:spLocks noGrp="1"/>
          </p:cNvSpPr>
          <p:nvPr/>
        </p:nvSpPr>
        <p:spPr>
          <a:xfrm>
            <a:off x="609600" y="4105275"/>
            <a:ext cx="5191125" cy="1276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Dopuszcza odczyty, blokuje DML i koliduje sam ze sobą.</a:t>
            </a:r>
          </a:p>
        </p:txBody>
      </p:sp>
      <p:sp>
        <p:nvSpPr>
          <p:cNvPr id="7" name="Prostokąt 6">
            <a:extLst>
              <a:ext uri="{FF2B5EF4-FFF2-40B4-BE49-F238E27FC236}">
                <a16:creationId xmlns:a16="http://schemas.microsoft.com/office/drawing/2014/main" id="{0000000B-0007-4000-8000-000000000000}"/>
              </a:ext>
            </a:extLst>
          </p:cNvPr>
          <p:cNvSpPr>
            <a:spLocks noGrp="1"/>
          </p:cNvSpPr>
          <p:nvPr/>
        </p:nvSpPr>
        <p:spPr>
          <a:xfrm>
            <a:off x="6324600" y="1752600"/>
            <a:ext cx="5191125" cy="666750"/>
          </a:xfrm>
          <a:prstGeom prst="rect">
            <a:avLst/>
          </a:prstGeom>
          <a:noFill/>
          <a:ln w="0">
            <a:noFill/>
          </a:ln>
        </p:spPr>
        <p:txBody>
          <a:bodyPr>
            <a:noAutofit/>
          </a:bodyPr>
          <a:lstStyle/>
          <a:p>
            <a:pPr>
              <a:defRPr sz="2400" b="1">
                <a:solidFill>
                  <a:srgbClr val="176A88"/>
                </a:solidFill>
                <a:latin typeface="DejaVu Sans"/>
                <a:ea typeface="DejaVu Sans"/>
                <a:cs typeface="DejaVu Sans"/>
              </a:defRPr>
            </a:pPr>
            <a:r>
              <a:rPr sz="2400" b="1">
                <a:solidFill>
                  <a:srgbClr val="176A88"/>
                </a:solidFill>
                <a:latin typeface="DejaVu Sans"/>
                <a:ea typeface="DejaVu Sans"/>
                <a:cs typeface="DejaVu Sans"/>
              </a:rPr>
              <a:t>Klucz obcy w dwóch etapach</a:t>
            </a:r>
          </a:p>
        </p:txBody>
      </p:sp>
      <p:sp>
        <p:nvSpPr>
          <p:cNvPr id="8" name="Prostokąt 7">
            <a:extLst>
              <a:ext uri="{FF2B5EF4-FFF2-40B4-BE49-F238E27FC236}">
                <a16:creationId xmlns:a16="http://schemas.microsoft.com/office/drawing/2014/main" id="{0000000B-0008-4000-8000-000000000000}"/>
              </a:ext>
            </a:extLst>
          </p:cNvPr>
          <p:cNvSpPr>
            <a:spLocks noGrp="1"/>
          </p:cNvSpPr>
          <p:nvPr/>
        </p:nvSpPr>
        <p:spPr>
          <a:xfrm>
            <a:off x="6324600" y="2562225"/>
            <a:ext cx="5191125" cy="1400175"/>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1. ADD CONSTRAINT ... NOT VALID</a:t>
            </a:r>
          </a:p>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Krótki etap bez sprawdzania istniejących danych.</a:t>
            </a:r>
          </a:p>
        </p:txBody>
      </p:sp>
      <p:sp>
        <p:nvSpPr>
          <p:cNvPr id="9" name="Prostokąt 8">
            <a:extLst>
              <a:ext uri="{FF2B5EF4-FFF2-40B4-BE49-F238E27FC236}">
                <a16:creationId xmlns:a16="http://schemas.microsoft.com/office/drawing/2014/main" id="{0000000B-0009-4000-8000-000000000000}"/>
              </a:ext>
            </a:extLst>
          </p:cNvPr>
          <p:cNvSpPr>
            <a:spLocks noGrp="1"/>
          </p:cNvSpPr>
          <p:nvPr/>
        </p:nvSpPr>
        <p:spPr>
          <a:xfrm>
            <a:off x="6324600" y="4105275"/>
            <a:ext cx="5191125" cy="1276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2. VALIDATE CONSTRAINT</a:t>
            </a:r>
          </a:p>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Na tabeli walidowanej: SHARE UPDATE EXCLUSIVE.</a:t>
            </a:r>
          </a:p>
        </p:txBody>
      </p:sp>
    </p:spTree>
    <p:extLst>
      <p:ext uri="{BB962C8B-B14F-4D97-AF65-F5344CB8AC3E}">
        <p14:creationId xmlns:p14="http://schemas.microsoft.com/office/powerpoint/2010/main" val="1100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rostokąt 6">
            <a:extLst>
              <a:ext uri="{FF2B5EF4-FFF2-40B4-BE49-F238E27FC236}">
                <a16:creationId xmlns:a16="http://schemas.microsoft.com/office/drawing/2014/main" id="{0000000C-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12</a:t>
            </a:r>
          </a:p>
        </p:txBody>
      </p:sp>
      <p:sp>
        <p:nvSpPr>
          <p:cNvPr id="2" name="Prostokąt 1">
            <a:extLst>
              <a:ext uri="{FF2B5EF4-FFF2-40B4-BE49-F238E27FC236}">
                <a16:creationId xmlns:a16="http://schemas.microsoft.com/office/drawing/2014/main" id="{0000000C-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EXCLUSIVE</a:t>
            </a:r>
          </a:p>
        </p:txBody>
      </p:sp>
      <p:sp>
        <p:nvSpPr>
          <p:cNvPr id="3" name="Prostokąt 2">
            <a:extLst>
              <a:ext uri="{FF2B5EF4-FFF2-40B4-BE49-F238E27FC236}">
                <a16:creationId xmlns:a16="http://schemas.microsoft.com/office/drawing/2014/main" id="{0000000C-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CONCURRENTLY wymaga odpowiedniego unikalnego indeksu. Chroni odczyty, ale nie gwarantuje szybszego odświeżenia.</a:t>
            </a:r>
          </a:p>
        </p:txBody>
      </p:sp>
      <p:sp>
        <p:nvSpPr>
          <p:cNvPr id="4" name="Prostokąt 3">
            <a:extLst>
              <a:ext uri="{FF2B5EF4-FFF2-40B4-BE49-F238E27FC236}">
                <a16:creationId xmlns:a16="http://schemas.microsoft.com/office/drawing/2014/main" id="{0000000C-0004-4000-8000-000000000000}"/>
              </a:ext>
            </a:extLst>
          </p:cNvPr>
          <p:cNvSpPr>
            <a:spLocks noGrp="1"/>
          </p:cNvSpPr>
          <p:nvPr/>
        </p:nvSpPr>
        <p:spPr>
          <a:xfrm>
            <a:off x="609600" y="1724025"/>
            <a:ext cx="4191000" cy="733425"/>
          </a:xfrm>
          <a:prstGeom prst="rect">
            <a:avLst/>
          </a:prstGeom>
          <a:noFill/>
          <a:ln w="0">
            <a:noFill/>
          </a:ln>
        </p:spPr>
        <p:txBody>
          <a:bodyPr>
            <a:noAutofit/>
          </a:bodyPr>
          <a:lstStyle/>
          <a:p>
            <a:pPr>
              <a:defRPr sz="2325" b="1">
                <a:solidFill>
                  <a:srgbClr val="176A88"/>
                </a:solidFill>
                <a:latin typeface="DejaVu Sans"/>
                <a:ea typeface="DejaVu Sans"/>
                <a:cs typeface="DejaVu Sans"/>
              </a:defRPr>
            </a:pPr>
            <a:r>
              <a:rPr sz="2325" b="1">
                <a:solidFill>
                  <a:srgbClr val="176A88"/>
                </a:solidFill>
                <a:latin typeface="DejaVu Sans"/>
                <a:ea typeface="DejaVu Sans"/>
                <a:cs typeface="DejaVu Sans"/>
              </a:rPr>
              <a:t>Pozostają zwykłe odczyty</a:t>
            </a:r>
          </a:p>
        </p:txBody>
      </p:sp>
      <p:sp>
        <p:nvSpPr>
          <p:cNvPr id="5" name="Prostokąt 4">
            <a:extLst>
              <a:ext uri="{FF2B5EF4-FFF2-40B4-BE49-F238E27FC236}">
                <a16:creationId xmlns:a16="http://schemas.microsoft.com/office/drawing/2014/main" id="{0000000C-0005-4000-8000-000000000000}"/>
              </a:ext>
            </a:extLst>
          </p:cNvPr>
          <p:cNvSpPr>
            <a:spLocks noGrp="1"/>
          </p:cNvSpPr>
          <p:nvPr/>
        </p:nvSpPr>
        <p:spPr>
          <a:xfrm>
            <a:off x="609600" y="2590800"/>
            <a:ext cx="4191000" cy="2724150"/>
          </a:xfrm>
          <a:prstGeom prst="rect">
            <a:avLst/>
          </a:prstGeom>
          <a:noFill/>
          <a:ln w="0">
            <a:noFill/>
          </a:ln>
        </p:spPr>
        <p:txBody>
          <a:bodyPr>
            <a:noAutofit/>
          </a:bodyPr>
          <a:lstStyle/>
          <a:p>
            <a:pPr>
              <a:defRPr sz="1950" b="0">
                <a:solidFill>
                  <a:srgbClr val="182C3B"/>
                </a:solidFill>
                <a:latin typeface="DejaVu Sans"/>
                <a:ea typeface="DejaVu Sans"/>
                <a:cs typeface="DejaVu Sans"/>
              </a:defRPr>
            </a:pPr>
            <a:r>
              <a:rPr sz="1950" b="0">
                <a:solidFill>
                  <a:srgbClr val="182C3B"/>
                </a:solidFill>
                <a:latin typeface="DejaVu Sans"/>
                <a:ea typeface="DejaVu Sans"/>
                <a:cs typeface="DejaVu Sans"/>
              </a:rPr>
              <a:t>Koliduje ze wszystkimi trybami poza ACCESS SHARE.</a:t>
            </a:r>
          </a:p>
          <a:p>
            <a:endParaRPr sz="1950" b="0">
              <a:solidFill>
                <a:srgbClr val="182C3B"/>
              </a:solidFill>
              <a:latin typeface="DejaVu Sans"/>
              <a:ea typeface="DejaVu Sans"/>
              <a:cs typeface="DejaVu Sans"/>
            </a:endParaRPr>
          </a:p>
          <a:p>
            <a:pPr>
              <a:defRPr sz="1950" b="0">
                <a:solidFill>
                  <a:srgbClr val="182C3B"/>
                </a:solidFill>
                <a:latin typeface="DejaVu Sans"/>
                <a:ea typeface="DejaVu Sans"/>
                <a:cs typeface="DejaVu Sans"/>
              </a:defRPr>
            </a:pPr>
            <a:r>
              <a:rPr sz="1950" b="0">
                <a:solidFill>
                  <a:srgbClr val="182C3B"/>
                </a:solidFill>
                <a:latin typeface="DejaVu Sans"/>
                <a:ea typeface="DejaVu Sans"/>
                <a:cs typeface="DejaVu Sans"/>
              </a:rPr>
              <a:t>REFRESH MATERIALIZED VIEW CONCURRENTLY pozwala nadal czytać widok.</a:t>
            </a:r>
          </a:p>
          <a:p>
            <a:endParaRPr sz="1950" b="0">
              <a:solidFill>
                <a:srgbClr val="182C3B"/>
              </a:solidFill>
              <a:latin typeface="DejaVu Sans"/>
              <a:ea typeface="DejaVu Sans"/>
              <a:cs typeface="DejaVu Sans"/>
            </a:endParaRPr>
          </a:p>
          <a:p>
            <a:pPr>
              <a:defRPr sz="1950" b="0">
                <a:solidFill>
                  <a:srgbClr val="182C3B"/>
                </a:solidFill>
                <a:latin typeface="DejaVu Sans"/>
                <a:ea typeface="DejaVu Sans"/>
                <a:cs typeface="DejaVu Sans"/>
              </a:defRPr>
            </a:pPr>
            <a:r>
              <a:rPr sz="1950" b="0">
                <a:solidFill>
                  <a:srgbClr val="182C3B"/>
                </a:solidFill>
                <a:latin typeface="DejaVu Sans"/>
                <a:ea typeface="DejaVu Sans"/>
                <a:cs typeface="DejaVu Sans"/>
              </a:rPr>
              <a:t>Drugie odświeżenie tego samego widoku czeka.</a:t>
            </a:r>
          </a:p>
        </p:txBody>
      </p:sp>
      <p:sp>
        <p:nvSpPr>
          <p:cNvPr id="6" name="Prostokąt 5">
            <a:extLst>
              <a:ext uri="{FF2B5EF4-FFF2-40B4-BE49-F238E27FC236}">
                <a16:creationId xmlns:a16="http://schemas.microsoft.com/office/drawing/2014/main" id="{0000000C-0006-4000-8000-000000000000}"/>
              </a:ext>
            </a:extLst>
          </p:cNvPr>
          <p:cNvSpPr>
            <a:spLocks noGrp="1"/>
          </p:cNvSpPr>
          <p:nvPr/>
        </p:nvSpPr>
        <p:spPr>
          <a:xfrm>
            <a:off x="5391150" y="1695450"/>
            <a:ext cx="6191250" cy="3705225"/>
          </a:xfrm>
          <a:prstGeom prst="rect">
            <a:avLst/>
          </a:prstGeom>
          <a:noFill/>
          <a:ln w="0">
            <a:noFill/>
          </a:ln>
        </p:spPr>
        <p:txBody>
          <a:bodyPr>
            <a:noAutofit/>
          </a:bodyPr>
          <a:lstStyle/>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Sesja A</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BEGIN;</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REFRESH MATERIALIZED VIEW</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CONCURRENTLY mv_sprzedaz;</a:t>
            </a:r>
          </a:p>
          <a:p>
            <a:endParaRPr sz="1725" b="0">
              <a:solidFill>
                <a:srgbClr val="182C3B"/>
              </a:solidFill>
              <a:latin typeface="DejaVu Sans Mono"/>
              <a:ea typeface="DejaVu Sans Mono"/>
              <a:cs typeface="DejaVu Sans Mono"/>
            </a:endParaRP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Sesja B: działa</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SELECT * FROM mv_sprzedaz;</a:t>
            </a:r>
          </a:p>
          <a:p>
            <a:endParaRPr sz="1725" b="0">
              <a:solidFill>
                <a:srgbClr val="182C3B"/>
              </a:solidFill>
              <a:latin typeface="DejaVu Sans Mono"/>
              <a:ea typeface="DejaVu Sans Mono"/>
              <a:cs typeface="DejaVu Sans Mono"/>
            </a:endParaRP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Sesja A</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COMMIT;</a:t>
            </a:r>
          </a:p>
        </p:txBody>
      </p:sp>
    </p:spTree>
    <p:extLst>
      <p:ext uri="{BB962C8B-B14F-4D97-AF65-F5344CB8AC3E}">
        <p14:creationId xmlns:p14="http://schemas.microsoft.com/office/powerpoint/2010/main" val="1200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rostokąt 6">
            <a:extLst>
              <a:ext uri="{FF2B5EF4-FFF2-40B4-BE49-F238E27FC236}">
                <a16:creationId xmlns:a16="http://schemas.microsoft.com/office/drawing/2014/main" id="{0000000D-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13</a:t>
            </a:r>
          </a:p>
        </p:txBody>
      </p:sp>
      <p:sp>
        <p:nvSpPr>
          <p:cNvPr id="2" name="Prostokąt 1">
            <a:extLst>
              <a:ext uri="{FF2B5EF4-FFF2-40B4-BE49-F238E27FC236}">
                <a16:creationId xmlns:a16="http://schemas.microsoft.com/office/drawing/2014/main" id="{0000000D-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ACCESS EXCLUSIVE</a:t>
            </a:r>
          </a:p>
        </p:txBody>
      </p:sp>
      <p:sp>
        <p:nvSpPr>
          <p:cNvPr id="3" name="Prostokąt 2">
            <a:extLst>
              <a:ext uri="{FF2B5EF4-FFF2-40B4-BE49-F238E27FC236}">
                <a16:creationId xmlns:a16="http://schemas.microsoft.com/office/drawing/2014/main" id="{0000000D-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Domyślny tryb LOCK TABLE. Migracje wymagają kontroli czasu oczekiwania przez lock_timeout.</a:t>
            </a:r>
          </a:p>
        </p:txBody>
      </p:sp>
      <p:sp>
        <p:nvSpPr>
          <p:cNvPr id="4" name="Prostokąt 3">
            <a:extLst>
              <a:ext uri="{FF2B5EF4-FFF2-40B4-BE49-F238E27FC236}">
                <a16:creationId xmlns:a16="http://schemas.microsoft.com/office/drawing/2014/main" id="{0000000D-0004-4000-8000-000000000000}"/>
              </a:ext>
            </a:extLst>
          </p:cNvPr>
          <p:cNvSpPr>
            <a:spLocks noGrp="1"/>
          </p:cNvSpPr>
          <p:nvPr/>
        </p:nvSpPr>
        <p:spPr>
          <a:xfrm>
            <a:off x="609600" y="1762125"/>
            <a:ext cx="10858500" cy="1666875"/>
          </a:xfrm>
          <a:prstGeom prst="rect">
            <a:avLst/>
          </a:prstGeom>
          <a:noFill/>
          <a:ln w="0">
            <a:noFill/>
          </a:ln>
        </p:spPr>
        <p:txBody>
          <a:bodyPr>
            <a:noAutofit/>
          </a:bodyPr>
          <a:lstStyle/>
          <a:p>
            <a:pPr>
              <a:defRPr sz="4125" b="1">
                <a:solidFill>
                  <a:srgbClr val="176A88"/>
                </a:solidFill>
                <a:latin typeface="DejaVu Sans"/>
                <a:ea typeface="DejaVu Sans"/>
                <a:cs typeface="DejaVu Sans"/>
              </a:defRPr>
            </a:pPr>
            <a:r>
              <a:rPr sz="4125" b="1">
                <a:solidFill>
                  <a:srgbClr val="176A88"/>
                </a:solidFill>
                <a:latin typeface="DejaVu Sans"/>
                <a:ea typeface="DejaVu Sans"/>
                <a:cs typeface="DejaVu Sans"/>
              </a:rPr>
              <a:t>Blokuje każdy inny tryb</a:t>
            </a:r>
          </a:p>
          <a:p>
            <a:pPr>
              <a:defRPr sz="4125" b="1">
                <a:solidFill>
                  <a:srgbClr val="176A88"/>
                </a:solidFill>
                <a:latin typeface="DejaVu Sans"/>
                <a:ea typeface="DejaVu Sans"/>
                <a:cs typeface="DejaVu Sans"/>
              </a:defRPr>
            </a:pPr>
            <a:r>
              <a:rPr sz="4125" b="1">
                <a:solidFill>
                  <a:srgbClr val="176A88"/>
                </a:solidFill>
                <a:latin typeface="DejaVu Sans"/>
                <a:ea typeface="DejaVu Sans"/>
                <a:cs typeface="DejaVu Sans"/>
              </a:rPr>
              <a:t>na tym samym obiekcie</a:t>
            </a:r>
          </a:p>
        </p:txBody>
      </p:sp>
      <p:sp>
        <p:nvSpPr>
          <p:cNvPr id="5" name="Prostokąt 4">
            <a:extLst>
              <a:ext uri="{FF2B5EF4-FFF2-40B4-BE49-F238E27FC236}">
                <a16:creationId xmlns:a16="http://schemas.microsoft.com/office/drawing/2014/main" id="{0000000D-0005-4000-8000-000000000000}"/>
              </a:ext>
            </a:extLst>
          </p:cNvPr>
          <p:cNvSpPr>
            <a:spLocks noGrp="1"/>
          </p:cNvSpPr>
          <p:nvPr/>
        </p:nvSpPr>
        <p:spPr>
          <a:xfrm>
            <a:off x="609600" y="3619500"/>
            <a:ext cx="10477500" cy="514350"/>
          </a:xfrm>
          <a:prstGeom prst="rect">
            <a:avLst/>
          </a:prstGeom>
          <a:noFill/>
          <a:ln w="0">
            <a:noFill/>
          </a:ln>
        </p:spPr>
        <p:txBody>
          <a:bodyPr>
            <a:noAutofit/>
          </a:bodyPr>
          <a:lstStyle/>
          <a:p>
            <a:pPr>
              <a:defRPr sz="2475" b="0">
                <a:solidFill>
                  <a:srgbClr val="182C3B"/>
                </a:solidFill>
                <a:latin typeface="DejaVu Sans"/>
                <a:ea typeface="DejaVu Sans"/>
                <a:cs typeface="DejaVu Sans"/>
              </a:defRPr>
            </a:pPr>
            <a:r>
              <a:rPr sz="2475" b="0">
                <a:solidFill>
                  <a:srgbClr val="182C3B"/>
                </a:solidFill>
                <a:latin typeface="DejaVu Sans"/>
                <a:ea typeface="DejaVu Sans"/>
                <a:cs typeface="DejaVu Sans"/>
              </a:rPr>
              <a:t>Także zwykły SELECT musi czekać.</a:t>
            </a:r>
          </a:p>
        </p:txBody>
      </p:sp>
      <p:sp>
        <p:nvSpPr>
          <p:cNvPr id="6" name="Prostokąt 5">
            <a:extLst>
              <a:ext uri="{FF2B5EF4-FFF2-40B4-BE49-F238E27FC236}">
                <a16:creationId xmlns:a16="http://schemas.microsoft.com/office/drawing/2014/main" id="{0000000D-0006-4000-8000-000000000000}"/>
              </a:ext>
            </a:extLst>
          </p:cNvPr>
          <p:cNvSpPr>
            <a:spLocks noGrp="1"/>
          </p:cNvSpPr>
          <p:nvPr/>
        </p:nvSpPr>
        <p:spPr>
          <a:xfrm>
            <a:off x="609600" y="4505325"/>
            <a:ext cx="10972800" cy="857250"/>
          </a:xfrm>
          <a:prstGeom prst="rect">
            <a:avLst/>
          </a:prstGeom>
          <a:noFill/>
          <a:ln w="0">
            <a:noFill/>
          </a:ln>
        </p:spPr>
        <p:txBody>
          <a:bodyPr>
            <a:noAutofit/>
          </a:bodyPr>
          <a:lstStyle/>
          <a:p>
            <a:pPr>
              <a:defRPr sz="1950" b="0">
                <a:solidFill>
                  <a:srgbClr val="526675"/>
                </a:solidFill>
                <a:latin typeface="DejaVu Sans"/>
                <a:ea typeface="DejaVu Sans"/>
                <a:cs typeface="DejaVu Sans"/>
              </a:defRPr>
            </a:pPr>
            <a:r>
              <a:rPr sz="1950" b="0">
                <a:solidFill>
                  <a:srgbClr val="526675"/>
                </a:solidFill>
                <a:latin typeface="DejaVu Sans"/>
                <a:ea typeface="DejaVu Sans"/>
                <a:cs typeface="DejaVu Sans"/>
              </a:rPr>
              <a:t>Przykłady: TRUNCATE, VACUUM FULL, większość ALTER TABLE,</a:t>
            </a:r>
          </a:p>
          <a:p>
            <a:pPr>
              <a:defRPr sz="1950" b="0">
                <a:solidFill>
                  <a:srgbClr val="526675"/>
                </a:solidFill>
                <a:latin typeface="DejaVu Sans"/>
                <a:ea typeface="DejaVu Sans"/>
                <a:cs typeface="DejaVu Sans"/>
              </a:defRPr>
            </a:pPr>
            <a:r>
              <a:rPr sz="1950" b="0">
                <a:solidFill>
                  <a:srgbClr val="526675"/>
                </a:solidFill>
                <a:latin typeface="DejaVu Sans"/>
                <a:ea typeface="DejaVu Sans"/>
                <a:cs typeface="DejaVu Sans"/>
              </a:rPr>
              <a:t>REFRESH MATERIALIZED VIEW bez CONCURRENTLY.</a:t>
            </a:r>
          </a:p>
        </p:txBody>
      </p:sp>
    </p:spTree>
    <p:extLst>
      <p:ext uri="{BB962C8B-B14F-4D97-AF65-F5344CB8AC3E}">
        <p14:creationId xmlns:p14="http://schemas.microsoft.com/office/powerpoint/2010/main" val="1300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rostokąt 9">
            <a:extLst>
              <a:ext uri="{FF2B5EF4-FFF2-40B4-BE49-F238E27FC236}">
                <a16:creationId xmlns:a16="http://schemas.microsoft.com/office/drawing/2014/main" id="{0000000E-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14</a:t>
            </a:r>
          </a:p>
        </p:txBody>
      </p:sp>
      <p:sp>
        <p:nvSpPr>
          <p:cNvPr id="2" name="Prostokąt 1">
            <a:extLst>
              <a:ext uri="{FF2B5EF4-FFF2-40B4-BE49-F238E27FC236}">
                <a16:creationId xmlns:a16="http://schemas.microsoft.com/office/drawing/2014/main" id="{0000000E-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Blokada tabeli a blokada wiersza</a:t>
            </a:r>
          </a:p>
        </p:txBody>
      </p:sp>
      <p:sp>
        <p:nvSpPr>
          <p:cNvPr id="3" name="Prostokąt 2">
            <a:extLst>
              <a:ext uri="{FF2B5EF4-FFF2-40B4-BE49-F238E27FC236}">
                <a16:creationId xmlns:a16="http://schemas.microsoft.com/office/drawing/2014/main" id="{0000000E-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max_locks_per_transaction nie jest limitem liczby wierszy, które transakcja może zablokować.</a:t>
            </a:r>
          </a:p>
        </p:txBody>
      </p:sp>
      <p:sp>
        <p:nvSpPr>
          <p:cNvPr id="4" name="Prostokąt 3">
            <a:extLst>
              <a:ext uri="{FF2B5EF4-FFF2-40B4-BE49-F238E27FC236}">
                <a16:creationId xmlns:a16="http://schemas.microsoft.com/office/drawing/2014/main" id="{0000000E-0004-4000-8000-000000000000}"/>
              </a:ext>
            </a:extLst>
          </p:cNvPr>
          <p:cNvSpPr>
            <a:spLocks noGrp="1"/>
          </p:cNvSpPr>
          <p:nvPr/>
        </p:nvSpPr>
        <p:spPr>
          <a:xfrm>
            <a:off x="609600" y="1752600"/>
            <a:ext cx="5191125" cy="666750"/>
          </a:xfrm>
          <a:prstGeom prst="rect">
            <a:avLst/>
          </a:prstGeom>
          <a:noFill/>
          <a:ln w="0">
            <a:noFill/>
          </a:ln>
        </p:spPr>
        <p:txBody>
          <a:bodyPr>
            <a:noAutofit/>
          </a:bodyPr>
          <a:lstStyle/>
          <a:p>
            <a:pPr>
              <a:defRPr sz="2400" b="1">
                <a:solidFill>
                  <a:srgbClr val="176A88"/>
                </a:solidFill>
                <a:latin typeface="DejaVu Sans"/>
                <a:ea typeface="DejaVu Sans"/>
                <a:cs typeface="DejaVu Sans"/>
              </a:defRPr>
            </a:pPr>
            <a:r>
              <a:rPr sz="2400" b="1">
                <a:solidFill>
                  <a:srgbClr val="176A88"/>
                </a:solidFill>
                <a:latin typeface="DejaVu Sans"/>
                <a:ea typeface="DejaVu Sans"/>
                <a:cs typeface="DejaVu Sans"/>
              </a:rPr>
              <a:t>Poziom tabeli</a:t>
            </a:r>
          </a:p>
        </p:txBody>
      </p:sp>
      <p:sp>
        <p:nvSpPr>
          <p:cNvPr id="5" name="Prostokąt 4">
            <a:extLst>
              <a:ext uri="{FF2B5EF4-FFF2-40B4-BE49-F238E27FC236}">
                <a16:creationId xmlns:a16="http://schemas.microsoft.com/office/drawing/2014/main" id="{0000000E-0005-4000-8000-000000000000}"/>
              </a:ext>
            </a:extLst>
          </p:cNvPr>
          <p:cNvSpPr>
            <a:spLocks noGrp="1"/>
          </p:cNvSpPr>
          <p:nvPr/>
        </p:nvSpPr>
        <p:spPr>
          <a:xfrm>
            <a:off x="609600" y="2562225"/>
            <a:ext cx="5191125" cy="1400175"/>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Określa zgodność operacji na całej relacji.</a:t>
            </a:r>
          </a:p>
        </p:txBody>
      </p:sp>
      <p:sp>
        <p:nvSpPr>
          <p:cNvPr id="6" name="Prostokąt 5">
            <a:extLst>
              <a:ext uri="{FF2B5EF4-FFF2-40B4-BE49-F238E27FC236}">
                <a16:creationId xmlns:a16="http://schemas.microsoft.com/office/drawing/2014/main" id="{0000000E-0006-4000-8000-000000000000}"/>
              </a:ext>
            </a:extLst>
          </p:cNvPr>
          <p:cNvSpPr>
            <a:spLocks noGrp="1"/>
          </p:cNvSpPr>
          <p:nvPr/>
        </p:nvSpPr>
        <p:spPr>
          <a:xfrm>
            <a:off x="609600" y="4105275"/>
            <a:ext cx="5191125" cy="1276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RowShareLock w pg_locks nie wskazuje, które wiersze sesja zablokowała.</a:t>
            </a:r>
          </a:p>
        </p:txBody>
      </p:sp>
      <p:sp>
        <p:nvSpPr>
          <p:cNvPr id="7" name="Prostokąt 6">
            <a:extLst>
              <a:ext uri="{FF2B5EF4-FFF2-40B4-BE49-F238E27FC236}">
                <a16:creationId xmlns:a16="http://schemas.microsoft.com/office/drawing/2014/main" id="{0000000E-0007-4000-8000-000000000000}"/>
              </a:ext>
            </a:extLst>
          </p:cNvPr>
          <p:cNvSpPr>
            <a:spLocks noGrp="1"/>
          </p:cNvSpPr>
          <p:nvPr/>
        </p:nvSpPr>
        <p:spPr>
          <a:xfrm>
            <a:off x="6324600" y="1752600"/>
            <a:ext cx="5191125" cy="666750"/>
          </a:xfrm>
          <a:prstGeom prst="rect">
            <a:avLst/>
          </a:prstGeom>
          <a:noFill/>
          <a:ln w="0">
            <a:noFill/>
          </a:ln>
        </p:spPr>
        <p:txBody>
          <a:bodyPr>
            <a:noAutofit/>
          </a:bodyPr>
          <a:lstStyle/>
          <a:p>
            <a:pPr>
              <a:defRPr sz="2400" b="1">
                <a:solidFill>
                  <a:srgbClr val="176A88"/>
                </a:solidFill>
                <a:latin typeface="DejaVu Sans"/>
                <a:ea typeface="DejaVu Sans"/>
                <a:cs typeface="DejaVu Sans"/>
              </a:defRPr>
            </a:pPr>
            <a:r>
              <a:rPr sz="2400" b="1">
                <a:solidFill>
                  <a:srgbClr val="176A88"/>
                </a:solidFill>
                <a:latin typeface="DejaVu Sans"/>
                <a:ea typeface="DejaVu Sans"/>
                <a:cs typeface="DejaVu Sans"/>
              </a:rPr>
              <a:t>Poziom wiersza</a:t>
            </a:r>
          </a:p>
        </p:txBody>
      </p:sp>
      <p:sp>
        <p:nvSpPr>
          <p:cNvPr id="8" name="Prostokąt 7">
            <a:extLst>
              <a:ext uri="{FF2B5EF4-FFF2-40B4-BE49-F238E27FC236}">
                <a16:creationId xmlns:a16="http://schemas.microsoft.com/office/drawing/2014/main" id="{0000000E-0008-4000-8000-000000000000}"/>
              </a:ext>
            </a:extLst>
          </p:cNvPr>
          <p:cNvSpPr>
            <a:spLocks noGrp="1"/>
          </p:cNvSpPr>
          <p:nvPr/>
        </p:nvSpPr>
        <p:spPr>
          <a:xfrm>
            <a:off x="6324600" y="2562225"/>
            <a:ext cx="5191125" cy="1400175"/>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Informacje trafiają do nagłówka krotki, m.in. pola xmax.</a:t>
            </a:r>
          </a:p>
        </p:txBody>
      </p:sp>
      <p:sp>
        <p:nvSpPr>
          <p:cNvPr id="9" name="Prostokąt 8">
            <a:extLst>
              <a:ext uri="{FF2B5EF4-FFF2-40B4-BE49-F238E27FC236}">
                <a16:creationId xmlns:a16="http://schemas.microsoft.com/office/drawing/2014/main" id="{0000000E-0009-4000-8000-000000000000}"/>
              </a:ext>
            </a:extLst>
          </p:cNvPr>
          <p:cNvSpPr>
            <a:spLocks noGrp="1"/>
          </p:cNvSpPr>
          <p:nvPr/>
        </p:nvSpPr>
        <p:spPr>
          <a:xfrm>
            <a:off x="6324600" y="4105275"/>
            <a:ext cx="5191125" cy="1276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Przy współdzieleniu pojawia się MultiXact. Oczekiwanie często widać jako ShareLock na transactionid.</a:t>
            </a:r>
          </a:p>
        </p:txBody>
      </p:sp>
    </p:spTree>
    <p:extLst>
      <p:ext uri="{BB962C8B-B14F-4D97-AF65-F5344CB8AC3E}">
        <p14:creationId xmlns:p14="http://schemas.microsoft.com/office/powerpoint/2010/main" val="1400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0000000F-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15</a:t>
            </a:r>
          </a:p>
        </p:txBody>
      </p:sp>
      <p:sp>
        <p:nvSpPr>
          <p:cNvPr id="2" name="Prostokąt 1">
            <a:extLst>
              <a:ext uri="{FF2B5EF4-FFF2-40B4-BE49-F238E27FC236}">
                <a16:creationId xmlns:a16="http://schemas.microsoft.com/office/drawing/2014/main" id="{0000000F-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Macierz konfliktów blokad wierszy</a:t>
            </a:r>
          </a:p>
        </p:txBody>
      </p:sp>
      <p:graphicFrame>
        <p:nvGraphicFramePr>
          <p:cNvPr id="3" name="Tabela 2"/>
          <p:cNvGraphicFramePr/>
          <p:nvPr/>
        </p:nvGraphicFramePr>
        <p:xfrm>
          <a:off x="609600" y="1781175"/>
          <a:ext cx="10972800" cy="3154680"/>
        </p:xfrm>
        <a:graphic>
          <a:graphicData uri="http://schemas.openxmlformats.org/drawingml/2006/table">
            <a:tbl>
              <a:tblPr/>
              <a:tblGrid>
                <a:gridCol w="26289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666875">
                  <a:extLst>
                    <a:ext uri="{9D8B030D-6E8A-4147-A177-3AD203B41FA5}">
                      <a16:colId xmlns:a16="http://schemas.microsoft.com/office/drawing/2014/main" val="20002"/>
                    </a:ext>
                  </a:extLst>
                </a:gridCol>
                <a:gridCol w="2771775">
                  <a:extLst>
                    <a:ext uri="{9D8B030D-6E8A-4147-A177-3AD203B41FA5}">
                      <a16:colId xmlns:a16="http://schemas.microsoft.com/office/drawing/2014/main" val="20003"/>
                    </a:ext>
                  </a:extLst>
                </a:gridCol>
                <a:gridCol w="2095500">
                  <a:extLst>
                    <a:ext uri="{9D8B030D-6E8A-4147-A177-3AD203B41FA5}">
                      <a16:colId xmlns:a16="http://schemas.microsoft.com/office/drawing/2014/main" val="20004"/>
                    </a:ext>
                  </a:extLst>
                </a:gridCol>
              </a:tblGrid>
              <a:tr h="628650">
                <a:tc>
                  <a:txBody>
                    <a:bodyPr/>
                    <a:lstStyle/>
                    <a:p>
                      <a:r>
                        <a:rPr sz="1800" b="1">
                          <a:solidFill>
                            <a:srgbClr val="FFFFFF"/>
                          </a:solidFill>
                          <a:latin typeface="DejaVu Sans"/>
                          <a:ea typeface="DejaVu Sans"/>
                          <a:cs typeface="DejaVu Sans"/>
                        </a:rPr>
                        <a:t>Żądany / trzymany</a:t>
                      </a:r>
                    </a:p>
                  </a:txBody>
                  <a:tcPr>
                    <a:solidFill>
                      <a:srgbClr val="182C3B"/>
                    </a:solidFill>
                  </a:tcPr>
                </a:tc>
                <a:tc>
                  <a:txBody>
                    <a:bodyPr/>
                    <a:lstStyle/>
                    <a:p>
                      <a:r>
                        <a:rPr sz="1800" b="1">
                          <a:solidFill>
                            <a:srgbClr val="FFFFFF"/>
                          </a:solidFill>
                          <a:latin typeface="DejaVu Sans"/>
                          <a:ea typeface="DejaVu Sans"/>
                          <a:cs typeface="DejaVu Sans"/>
                        </a:rPr>
                        <a:t>KEY SHARE</a:t>
                      </a:r>
                    </a:p>
                  </a:txBody>
                  <a:tcPr>
                    <a:solidFill>
                      <a:srgbClr val="182C3B"/>
                    </a:solidFill>
                  </a:tcPr>
                </a:tc>
                <a:tc>
                  <a:txBody>
                    <a:bodyPr/>
                    <a:lstStyle/>
                    <a:p>
                      <a:r>
                        <a:rPr sz="1800" b="1">
                          <a:solidFill>
                            <a:srgbClr val="FFFFFF"/>
                          </a:solidFill>
                          <a:latin typeface="DejaVu Sans"/>
                          <a:ea typeface="DejaVu Sans"/>
                          <a:cs typeface="DejaVu Sans"/>
                        </a:rPr>
                        <a:t>SHARE</a:t>
                      </a:r>
                    </a:p>
                  </a:txBody>
                  <a:tcPr>
                    <a:solidFill>
                      <a:srgbClr val="182C3B"/>
                    </a:solidFill>
                  </a:tcPr>
                </a:tc>
                <a:tc>
                  <a:txBody>
                    <a:bodyPr/>
                    <a:lstStyle/>
                    <a:p>
                      <a:r>
                        <a:rPr sz="1800" b="1">
                          <a:solidFill>
                            <a:srgbClr val="FFFFFF"/>
                          </a:solidFill>
                          <a:latin typeface="DejaVu Sans"/>
                          <a:ea typeface="DejaVu Sans"/>
                          <a:cs typeface="DejaVu Sans"/>
                        </a:rPr>
                        <a:t>NO KEY UPDATE</a:t>
                      </a:r>
                    </a:p>
                  </a:txBody>
                  <a:tcPr>
                    <a:solidFill>
                      <a:srgbClr val="182C3B"/>
                    </a:solidFill>
                  </a:tcPr>
                </a:tc>
                <a:tc>
                  <a:txBody>
                    <a:bodyPr/>
                    <a:lstStyle/>
                    <a:p>
                      <a:r>
                        <a:rPr sz="1800" b="1">
                          <a:solidFill>
                            <a:srgbClr val="FFFFFF"/>
                          </a:solidFill>
                          <a:latin typeface="DejaVu Sans"/>
                          <a:ea typeface="DejaVu Sans"/>
                          <a:cs typeface="DejaVu Sans"/>
                        </a:rPr>
                        <a:t>UPDATE</a:t>
                      </a:r>
                    </a:p>
                  </a:txBody>
                  <a:tcPr>
                    <a:solidFill>
                      <a:srgbClr val="182C3B"/>
                    </a:solidFill>
                  </a:tcPr>
                </a:tc>
                <a:extLst>
                  <a:ext uri="{0D108BD9-81ED-4DB2-BD59-A6C34878D82A}">
                    <a16:rowId xmlns:a16="http://schemas.microsoft.com/office/drawing/2014/main" val="10000"/>
                  </a:ext>
                </a:extLst>
              </a:tr>
              <a:tr h="628650">
                <a:tc>
                  <a:txBody>
                    <a:bodyPr/>
                    <a:lstStyle/>
                    <a:p>
                      <a:r>
                        <a:rPr sz="1800" b="0">
                          <a:solidFill>
                            <a:srgbClr val="182C3B"/>
                          </a:solidFill>
                          <a:latin typeface="DejaVu Sans"/>
                          <a:ea typeface="DejaVu Sans"/>
                          <a:cs typeface="DejaVu Sans"/>
                        </a:rPr>
                        <a:t>KEY SHARE</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r>
                        <a:rPr sz="1800" b="0">
                          <a:solidFill>
                            <a:srgbClr val="182C3B"/>
                          </a:solidFill>
                          <a:latin typeface="DejaVu Sans"/>
                          <a:ea typeface="DejaVu Sans"/>
                          <a:cs typeface="DejaVu Sans"/>
                        </a:rPr>
                        <a:t>×</a:t>
                      </a:r>
                    </a:p>
                  </a:txBody>
                  <a:tcPr>
                    <a:solidFill>
                      <a:srgbClr val="FFFFFF"/>
                    </a:solidFill>
                  </a:tcPr>
                </a:tc>
                <a:extLst>
                  <a:ext uri="{0D108BD9-81ED-4DB2-BD59-A6C34878D82A}">
                    <a16:rowId xmlns:a16="http://schemas.microsoft.com/office/drawing/2014/main" val="10001"/>
                  </a:ext>
                </a:extLst>
              </a:tr>
              <a:tr h="628650">
                <a:tc>
                  <a:txBody>
                    <a:bodyPr/>
                    <a:lstStyle/>
                    <a:p>
                      <a:r>
                        <a:rPr sz="1800" b="0">
                          <a:solidFill>
                            <a:srgbClr val="182C3B"/>
                          </a:solidFill>
                          <a:latin typeface="DejaVu Sans"/>
                          <a:ea typeface="DejaVu Sans"/>
                          <a:cs typeface="DejaVu Sans"/>
                        </a:rPr>
                        <a:t>SHARE</a:t>
                      </a:r>
                    </a:p>
                  </a:txBody>
                  <a:tcPr>
                    <a:solidFill>
                      <a:srgbClr val="EDF3F6"/>
                    </a:solidFill>
                  </a:tcPr>
                </a:tc>
                <a:tc>
                  <a:txBody>
                    <a:bodyPr/>
                    <a:lstStyle/>
                    <a:p>
                      <a:endParaRPr/>
                    </a:p>
                  </a:txBody>
                  <a:tcPr>
                    <a:solidFill>
                      <a:srgbClr val="EDF3F6"/>
                    </a:solidFill>
                  </a:tcPr>
                </a:tc>
                <a:tc>
                  <a:txBody>
                    <a:bodyPr/>
                    <a:lstStyle/>
                    <a:p>
                      <a:endParaRPr/>
                    </a:p>
                  </a:txBody>
                  <a:tcPr>
                    <a:solidFill>
                      <a:srgbClr val="EDF3F6"/>
                    </a:solidFill>
                  </a:tcPr>
                </a:tc>
                <a:tc>
                  <a:txBody>
                    <a:bodyPr/>
                    <a:lstStyle/>
                    <a:p>
                      <a:r>
                        <a:rPr sz="1800" b="0">
                          <a:solidFill>
                            <a:srgbClr val="182C3B"/>
                          </a:solidFill>
                          <a:latin typeface="DejaVu Sans"/>
                          <a:ea typeface="DejaVu Sans"/>
                          <a:cs typeface="DejaVu Sans"/>
                        </a:rPr>
                        <a:t>×</a:t>
                      </a:r>
                    </a:p>
                  </a:txBody>
                  <a:tcPr>
                    <a:solidFill>
                      <a:srgbClr val="EDF3F6"/>
                    </a:solidFill>
                  </a:tcPr>
                </a:tc>
                <a:tc>
                  <a:txBody>
                    <a:bodyPr/>
                    <a:lstStyle/>
                    <a:p>
                      <a:r>
                        <a:rPr sz="1800" b="0">
                          <a:solidFill>
                            <a:srgbClr val="182C3B"/>
                          </a:solidFill>
                          <a:latin typeface="DejaVu Sans"/>
                          <a:ea typeface="DejaVu Sans"/>
                          <a:cs typeface="DejaVu Sans"/>
                        </a:rPr>
                        <a:t>×</a:t>
                      </a:r>
                    </a:p>
                  </a:txBody>
                  <a:tcPr>
                    <a:solidFill>
                      <a:srgbClr val="EDF3F6"/>
                    </a:solidFill>
                  </a:tcPr>
                </a:tc>
                <a:extLst>
                  <a:ext uri="{0D108BD9-81ED-4DB2-BD59-A6C34878D82A}">
                    <a16:rowId xmlns:a16="http://schemas.microsoft.com/office/drawing/2014/main" val="10002"/>
                  </a:ext>
                </a:extLst>
              </a:tr>
              <a:tr h="628650">
                <a:tc>
                  <a:txBody>
                    <a:bodyPr/>
                    <a:lstStyle/>
                    <a:p>
                      <a:r>
                        <a:rPr sz="1800" b="0">
                          <a:solidFill>
                            <a:srgbClr val="182C3B"/>
                          </a:solidFill>
                          <a:latin typeface="DejaVu Sans"/>
                          <a:ea typeface="DejaVu Sans"/>
                          <a:cs typeface="DejaVu Sans"/>
                        </a:rPr>
                        <a:t>NO KEY UPDATE</a:t>
                      </a:r>
                    </a:p>
                  </a:txBody>
                  <a:tcPr>
                    <a:solidFill>
                      <a:srgbClr val="FFFFFF"/>
                    </a:solidFill>
                  </a:tcPr>
                </a:tc>
                <a:tc>
                  <a:txBody>
                    <a:bodyPr/>
                    <a:lstStyle/>
                    <a:p>
                      <a:endParaRPr/>
                    </a:p>
                  </a:txBody>
                  <a:tcPr>
                    <a:solidFill>
                      <a:srgbClr val="FFFFFF"/>
                    </a:solidFill>
                  </a:tcPr>
                </a:tc>
                <a:tc>
                  <a:txBody>
                    <a:bodyPr/>
                    <a:lstStyle/>
                    <a:p>
                      <a:r>
                        <a:rPr sz="1800" b="0">
                          <a:solidFill>
                            <a:srgbClr val="182C3B"/>
                          </a:solidFill>
                          <a:latin typeface="DejaVu Sans"/>
                          <a:ea typeface="DejaVu Sans"/>
                          <a:cs typeface="DejaVu Sans"/>
                        </a:rPr>
                        <a:t>×</a:t>
                      </a:r>
                    </a:p>
                  </a:txBody>
                  <a:tcPr>
                    <a:solidFill>
                      <a:srgbClr val="FFFFFF"/>
                    </a:solidFill>
                  </a:tcPr>
                </a:tc>
                <a:tc>
                  <a:txBody>
                    <a:bodyPr/>
                    <a:lstStyle/>
                    <a:p>
                      <a:r>
                        <a:rPr sz="1800" b="0">
                          <a:solidFill>
                            <a:srgbClr val="182C3B"/>
                          </a:solidFill>
                          <a:latin typeface="DejaVu Sans"/>
                          <a:ea typeface="DejaVu Sans"/>
                          <a:cs typeface="DejaVu Sans"/>
                        </a:rPr>
                        <a:t>×</a:t>
                      </a:r>
                    </a:p>
                  </a:txBody>
                  <a:tcPr>
                    <a:solidFill>
                      <a:srgbClr val="FFFFFF"/>
                    </a:solidFill>
                  </a:tcPr>
                </a:tc>
                <a:tc>
                  <a:txBody>
                    <a:bodyPr/>
                    <a:lstStyle/>
                    <a:p>
                      <a:r>
                        <a:rPr sz="1800" b="0">
                          <a:solidFill>
                            <a:srgbClr val="182C3B"/>
                          </a:solidFill>
                          <a:latin typeface="DejaVu Sans"/>
                          <a:ea typeface="DejaVu Sans"/>
                          <a:cs typeface="DejaVu Sans"/>
                        </a:rPr>
                        <a:t>×</a:t>
                      </a:r>
                    </a:p>
                  </a:txBody>
                  <a:tcPr>
                    <a:solidFill>
                      <a:srgbClr val="FFFFFF"/>
                    </a:solidFill>
                  </a:tcPr>
                </a:tc>
                <a:extLst>
                  <a:ext uri="{0D108BD9-81ED-4DB2-BD59-A6C34878D82A}">
                    <a16:rowId xmlns:a16="http://schemas.microsoft.com/office/drawing/2014/main" val="10003"/>
                  </a:ext>
                </a:extLst>
              </a:tr>
              <a:tr h="628650">
                <a:tc>
                  <a:txBody>
                    <a:bodyPr/>
                    <a:lstStyle/>
                    <a:p>
                      <a:r>
                        <a:rPr sz="1800" b="0">
                          <a:solidFill>
                            <a:srgbClr val="182C3B"/>
                          </a:solidFill>
                          <a:latin typeface="DejaVu Sans"/>
                          <a:ea typeface="DejaVu Sans"/>
                          <a:cs typeface="DejaVu Sans"/>
                        </a:rPr>
                        <a:t>UPDATE</a:t>
                      </a:r>
                    </a:p>
                  </a:txBody>
                  <a:tcPr>
                    <a:solidFill>
                      <a:srgbClr val="EDF3F6"/>
                    </a:solidFill>
                  </a:tcPr>
                </a:tc>
                <a:tc>
                  <a:txBody>
                    <a:bodyPr/>
                    <a:lstStyle/>
                    <a:p>
                      <a:r>
                        <a:rPr sz="1800" b="0">
                          <a:solidFill>
                            <a:srgbClr val="182C3B"/>
                          </a:solidFill>
                          <a:latin typeface="DejaVu Sans"/>
                          <a:ea typeface="DejaVu Sans"/>
                          <a:cs typeface="DejaVu Sans"/>
                        </a:rPr>
                        <a:t>×</a:t>
                      </a:r>
                    </a:p>
                  </a:txBody>
                  <a:tcPr>
                    <a:solidFill>
                      <a:srgbClr val="EDF3F6"/>
                    </a:solidFill>
                  </a:tcPr>
                </a:tc>
                <a:tc>
                  <a:txBody>
                    <a:bodyPr/>
                    <a:lstStyle/>
                    <a:p>
                      <a:r>
                        <a:rPr sz="1800" b="0">
                          <a:solidFill>
                            <a:srgbClr val="182C3B"/>
                          </a:solidFill>
                          <a:latin typeface="DejaVu Sans"/>
                          <a:ea typeface="DejaVu Sans"/>
                          <a:cs typeface="DejaVu Sans"/>
                        </a:rPr>
                        <a:t>×</a:t>
                      </a:r>
                    </a:p>
                  </a:txBody>
                  <a:tcPr>
                    <a:solidFill>
                      <a:srgbClr val="EDF3F6"/>
                    </a:solidFill>
                  </a:tcPr>
                </a:tc>
                <a:tc>
                  <a:txBody>
                    <a:bodyPr/>
                    <a:lstStyle/>
                    <a:p>
                      <a:r>
                        <a:rPr sz="1800" b="0">
                          <a:solidFill>
                            <a:srgbClr val="182C3B"/>
                          </a:solidFill>
                          <a:latin typeface="DejaVu Sans"/>
                          <a:ea typeface="DejaVu Sans"/>
                          <a:cs typeface="DejaVu Sans"/>
                        </a:rPr>
                        <a:t>×</a:t>
                      </a:r>
                    </a:p>
                  </a:txBody>
                  <a:tcPr>
                    <a:solidFill>
                      <a:srgbClr val="EDF3F6"/>
                    </a:solidFill>
                  </a:tcPr>
                </a:tc>
                <a:tc>
                  <a:txBody>
                    <a:bodyPr/>
                    <a:lstStyle/>
                    <a:p>
                      <a:r>
                        <a:rPr sz="1800" b="0">
                          <a:solidFill>
                            <a:srgbClr val="182C3B"/>
                          </a:solidFill>
                          <a:latin typeface="DejaVu Sans"/>
                          <a:ea typeface="DejaVu Sans"/>
                          <a:cs typeface="DejaVu Sans"/>
                        </a:rPr>
                        <a:t>×</a:t>
                      </a:r>
                    </a:p>
                  </a:txBody>
                  <a:tcPr>
                    <a:solidFill>
                      <a:srgbClr val="EDF3F6"/>
                    </a:solidFill>
                  </a:tcPr>
                </a:tc>
                <a:extLst>
                  <a:ext uri="{0D108BD9-81ED-4DB2-BD59-A6C34878D82A}">
                    <a16:rowId xmlns:a16="http://schemas.microsoft.com/office/drawing/2014/main" val="10004"/>
                  </a:ext>
                </a:extLst>
              </a:tr>
            </a:tbl>
          </a:graphicData>
        </a:graphic>
      </p:graphicFrame>
      <p:sp>
        <p:nvSpPr>
          <p:cNvPr id="4" name="Prostokąt 3">
            <a:extLst>
              <a:ext uri="{FF2B5EF4-FFF2-40B4-BE49-F238E27FC236}">
                <a16:creationId xmlns:a16="http://schemas.microsoft.com/office/drawing/2014/main" id="{0000000F-0003-4000-8000-000000000000}"/>
              </a:ext>
            </a:extLst>
          </p:cNvPr>
          <p:cNvSpPr>
            <a:spLocks noGrp="1"/>
          </p:cNvSpPr>
          <p:nvPr/>
        </p:nvSpPr>
        <p:spPr>
          <a:xfrm>
            <a:off x="609600" y="5286375"/>
            <a:ext cx="10972800" cy="942975"/>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Wszystkie nazwy poprzedza FOR. Symbol × oznacza konflikt.</a:t>
            </a:r>
          </a:p>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KEY SHARE współistnieje z NO KEY UPDATE, dlatego sprawdzenie FK może towarzyszyć zwykłej aktualizacji.</a:t>
            </a:r>
          </a:p>
        </p:txBody>
      </p:sp>
    </p:spTree>
    <p:extLst>
      <p:ext uri="{BB962C8B-B14F-4D97-AF65-F5344CB8AC3E}">
        <p14:creationId xmlns:p14="http://schemas.microsoft.com/office/powerpoint/2010/main" val="1500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rostokąt 5">
            <a:extLst>
              <a:ext uri="{FF2B5EF4-FFF2-40B4-BE49-F238E27FC236}">
                <a16:creationId xmlns:a16="http://schemas.microsoft.com/office/drawing/2014/main" id="{00000010-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16</a:t>
            </a:r>
          </a:p>
        </p:txBody>
      </p:sp>
      <p:sp>
        <p:nvSpPr>
          <p:cNvPr id="2" name="Prostokąt 1">
            <a:extLst>
              <a:ext uri="{FF2B5EF4-FFF2-40B4-BE49-F238E27FC236}">
                <a16:creationId xmlns:a16="http://schemas.microsoft.com/office/drawing/2014/main" id="{00000010-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FOR KEY SHARE</a:t>
            </a:r>
          </a:p>
        </p:txBody>
      </p:sp>
      <p:sp>
        <p:nvSpPr>
          <p:cNvPr id="3" name="Prostokąt 2">
            <a:extLst>
              <a:ext uri="{FF2B5EF4-FFF2-40B4-BE49-F238E27FC236}">
                <a16:creationId xmlns:a16="http://schemas.microsoft.com/office/drawing/2014/main" id="{00000010-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Konflikt wyłącznie z FOR UPDATE. Zwykła zmiana ceny lub stanu może działać równolegle.</a:t>
            </a:r>
          </a:p>
        </p:txBody>
      </p:sp>
      <p:sp>
        <p:nvSpPr>
          <p:cNvPr id="4" name="Prostokąt 3">
            <a:extLst>
              <a:ext uri="{FF2B5EF4-FFF2-40B4-BE49-F238E27FC236}">
                <a16:creationId xmlns:a16="http://schemas.microsoft.com/office/drawing/2014/main" id="{00000010-0004-4000-8000-000000000000}"/>
              </a:ext>
            </a:extLst>
          </p:cNvPr>
          <p:cNvSpPr>
            <a:spLocks noGrp="1"/>
          </p:cNvSpPr>
          <p:nvPr/>
        </p:nvSpPr>
        <p:spPr>
          <a:xfrm>
            <a:off x="609600" y="1533525"/>
            <a:ext cx="10972800" cy="685800"/>
          </a:xfrm>
          <a:prstGeom prst="rect">
            <a:avLst/>
          </a:prstGeom>
          <a:noFill/>
          <a:ln w="0">
            <a:noFill/>
          </a:ln>
        </p:spPr>
        <p:txBody>
          <a:bodyPr>
            <a:noAutofit/>
          </a:bodyPr>
          <a:lstStyle/>
          <a:p>
            <a:pPr>
              <a:defRPr sz="2025" b="0">
                <a:solidFill>
                  <a:srgbClr val="526675"/>
                </a:solidFill>
                <a:latin typeface="DejaVu Sans"/>
                <a:ea typeface="DejaVu Sans"/>
                <a:cs typeface="DejaVu Sans"/>
              </a:defRPr>
            </a:pPr>
            <a:r>
              <a:rPr sz="2025" b="0">
                <a:solidFill>
                  <a:srgbClr val="526675"/>
                </a:solidFill>
                <a:latin typeface="DejaVu Sans"/>
                <a:ea typeface="DejaVu Sans"/>
                <a:cs typeface="DejaVu Sans"/>
              </a:rPr>
              <a:t>Sprawdzenie klucza obcego chroni wiersz nadrzędny przed usunięciem lub zmianą klucza.</a:t>
            </a:r>
          </a:p>
        </p:txBody>
      </p:sp>
      <p:graphicFrame>
        <p:nvGraphicFramePr>
          <p:cNvPr id="5" name="Tabela 4"/>
          <p:cNvGraphicFramePr/>
          <p:nvPr/>
        </p:nvGraphicFramePr>
        <p:xfrm>
          <a:off x="609600" y="2447925"/>
          <a:ext cx="10972800" cy="2809875"/>
        </p:xfrm>
        <a:graphic>
          <a:graphicData uri="http://schemas.openxmlformats.org/drawingml/2006/table">
            <a:tbl>
              <a:tblPr/>
              <a:tblGrid>
                <a:gridCol w="857250">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5619750">
                  <a:extLst>
                    <a:ext uri="{9D8B030D-6E8A-4147-A177-3AD203B41FA5}">
                      <a16:colId xmlns:a16="http://schemas.microsoft.com/office/drawing/2014/main" val="20002"/>
                    </a:ext>
                  </a:extLst>
                </a:gridCol>
                <a:gridCol w="3590925">
                  <a:extLst>
                    <a:ext uri="{9D8B030D-6E8A-4147-A177-3AD203B41FA5}">
                      <a16:colId xmlns:a16="http://schemas.microsoft.com/office/drawing/2014/main" val="20003"/>
                    </a:ext>
                  </a:extLst>
                </a:gridCol>
              </a:tblGrid>
              <a:tr h="561975">
                <a:tc>
                  <a:txBody>
                    <a:bodyPr/>
                    <a:lstStyle/>
                    <a:p>
                      <a:r>
                        <a:rPr sz="1725" b="1">
                          <a:solidFill>
                            <a:srgbClr val="FFFFFF"/>
                          </a:solidFill>
                          <a:latin typeface="DejaVu Sans"/>
                          <a:ea typeface="DejaVu Sans"/>
                          <a:cs typeface="DejaVu Sans"/>
                        </a:rPr>
                        <a:t>Krok</a:t>
                      </a:r>
                    </a:p>
                  </a:txBody>
                  <a:tcPr>
                    <a:solidFill>
                      <a:srgbClr val="182C3B"/>
                    </a:solidFill>
                  </a:tcPr>
                </a:tc>
                <a:tc>
                  <a:txBody>
                    <a:bodyPr/>
                    <a:lstStyle/>
                    <a:p>
                      <a:r>
                        <a:rPr sz="1725" b="1">
                          <a:solidFill>
                            <a:srgbClr val="FFFFFF"/>
                          </a:solidFill>
                          <a:latin typeface="DejaVu Sans"/>
                          <a:ea typeface="DejaVu Sans"/>
                          <a:cs typeface="DejaVu Sans"/>
                        </a:rPr>
                        <a:t>Sesja</a:t>
                      </a:r>
                    </a:p>
                  </a:txBody>
                  <a:tcPr>
                    <a:solidFill>
                      <a:srgbClr val="182C3B"/>
                    </a:solidFill>
                  </a:tcPr>
                </a:tc>
                <a:tc>
                  <a:txBody>
                    <a:bodyPr/>
                    <a:lstStyle/>
                    <a:p>
                      <a:r>
                        <a:rPr sz="1725" b="1">
                          <a:solidFill>
                            <a:srgbClr val="FFFFFF"/>
                          </a:solidFill>
                          <a:latin typeface="DejaVu Sans"/>
                          <a:ea typeface="DejaVu Sans"/>
                          <a:cs typeface="DejaVu Sans"/>
                        </a:rPr>
                        <a:t>Polecenie / działanie</a:t>
                      </a:r>
                    </a:p>
                  </a:txBody>
                  <a:tcPr>
                    <a:solidFill>
                      <a:srgbClr val="182C3B"/>
                    </a:solidFill>
                  </a:tcPr>
                </a:tc>
                <a:tc>
                  <a:txBody>
                    <a:bodyPr/>
                    <a:lstStyle/>
                    <a:p>
                      <a:r>
                        <a:rPr sz="1725" b="1">
                          <a:solidFill>
                            <a:srgbClr val="FFFFFF"/>
                          </a:solidFill>
                          <a:latin typeface="DejaVu Sans"/>
                          <a:ea typeface="DejaVu Sans"/>
                          <a:cs typeface="DejaVu Sans"/>
                        </a:rPr>
                        <a:t>Efekt</a:t>
                      </a:r>
                    </a:p>
                  </a:txBody>
                  <a:tcPr>
                    <a:solidFill>
                      <a:srgbClr val="182C3B"/>
                    </a:solidFill>
                  </a:tcPr>
                </a:tc>
                <a:extLst>
                  <a:ext uri="{0D108BD9-81ED-4DB2-BD59-A6C34878D82A}">
                    <a16:rowId xmlns:a16="http://schemas.microsoft.com/office/drawing/2014/main" val="10000"/>
                  </a:ext>
                </a:extLst>
              </a:tr>
              <a:tr h="561975">
                <a:tc>
                  <a:txBody>
                    <a:bodyPr/>
                    <a:lstStyle/>
                    <a:p>
                      <a:r>
                        <a:rPr sz="1725" b="0">
                          <a:solidFill>
                            <a:srgbClr val="182C3B"/>
                          </a:solidFill>
                          <a:latin typeface="DejaVu Sans"/>
                          <a:ea typeface="DejaVu Sans"/>
                          <a:cs typeface="DejaVu Sans"/>
                        </a:rPr>
                        <a:t>1</a:t>
                      </a:r>
                    </a:p>
                  </a:txBody>
                  <a:tcPr>
                    <a:solidFill>
                      <a:srgbClr val="FFFFFF"/>
                    </a:solidFill>
                  </a:tcPr>
                </a:tc>
                <a:tc>
                  <a:txBody>
                    <a:bodyPr/>
                    <a:lstStyle/>
                    <a:p>
                      <a:r>
                        <a:rPr sz="1725" b="0">
                          <a:solidFill>
                            <a:srgbClr val="182C3B"/>
                          </a:solidFill>
                          <a:latin typeface="DejaVu Sans"/>
                          <a:ea typeface="DejaVu Sans"/>
                          <a:cs typeface="DejaVu Sans"/>
                        </a:rPr>
                        <a:t>A</a:t>
                      </a:r>
                    </a:p>
                  </a:txBody>
                  <a:tcPr>
                    <a:solidFill>
                      <a:srgbClr val="FFFFFF"/>
                    </a:solidFill>
                  </a:tcPr>
                </a:tc>
                <a:tc>
                  <a:txBody>
                    <a:bodyPr/>
                    <a:lstStyle/>
                    <a:p>
                      <a:r>
                        <a:rPr sz="1725" b="0">
                          <a:solidFill>
                            <a:srgbClr val="182C3B"/>
                          </a:solidFill>
                          <a:latin typeface="DejaVu Sans"/>
                          <a:ea typeface="DejaVu Sans"/>
                          <a:cs typeface="DejaVu Sans"/>
                        </a:rPr>
                        <a:t>BEGIN; INSERT INTO order_items ...</a:t>
                      </a:r>
                    </a:p>
                  </a:txBody>
                  <a:tcPr>
                    <a:solidFill>
                      <a:srgbClr val="FFFFFF"/>
                    </a:solidFill>
                  </a:tcPr>
                </a:tc>
                <a:tc>
                  <a:txBody>
                    <a:bodyPr/>
                    <a:lstStyle/>
                    <a:p>
                      <a:r>
                        <a:rPr sz="1725" b="0">
                          <a:solidFill>
                            <a:srgbClr val="182C3B"/>
                          </a:solidFill>
                          <a:latin typeface="DejaVu Sans"/>
                          <a:ea typeface="DejaVu Sans"/>
                          <a:cs typeface="DejaVu Sans"/>
                        </a:rPr>
                        <a:t>KEY SHARE na produkcie</a:t>
                      </a:r>
                    </a:p>
                  </a:txBody>
                  <a:tcPr>
                    <a:solidFill>
                      <a:srgbClr val="FFFFFF"/>
                    </a:solidFill>
                  </a:tcPr>
                </a:tc>
                <a:extLst>
                  <a:ext uri="{0D108BD9-81ED-4DB2-BD59-A6C34878D82A}">
                    <a16:rowId xmlns:a16="http://schemas.microsoft.com/office/drawing/2014/main" val="10001"/>
                  </a:ext>
                </a:extLst>
              </a:tr>
              <a:tr h="561975">
                <a:tc>
                  <a:txBody>
                    <a:bodyPr/>
                    <a:lstStyle/>
                    <a:p>
                      <a:r>
                        <a:rPr sz="1725" b="0">
                          <a:solidFill>
                            <a:srgbClr val="182C3B"/>
                          </a:solidFill>
                          <a:latin typeface="DejaVu Sans"/>
                          <a:ea typeface="DejaVu Sans"/>
                          <a:cs typeface="DejaVu Sans"/>
                        </a:rPr>
                        <a:t>2</a:t>
                      </a:r>
                    </a:p>
                  </a:txBody>
                  <a:tcPr>
                    <a:solidFill>
                      <a:srgbClr val="EDF3F6"/>
                    </a:solidFill>
                  </a:tcPr>
                </a:tc>
                <a:tc>
                  <a:txBody>
                    <a:bodyPr/>
                    <a:lstStyle/>
                    <a:p>
                      <a:r>
                        <a:rPr sz="1725" b="0">
                          <a:solidFill>
                            <a:srgbClr val="182C3B"/>
                          </a:solidFill>
                          <a:latin typeface="DejaVu Sans"/>
                          <a:ea typeface="DejaVu Sans"/>
                          <a:cs typeface="DejaVu Sans"/>
                        </a:rPr>
                        <a:t>B</a:t>
                      </a:r>
                    </a:p>
                  </a:txBody>
                  <a:tcPr>
                    <a:solidFill>
                      <a:srgbClr val="EDF3F6"/>
                    </a:solidFill>
                  </a:tcPr>
                </a:tc>
                <a:tc>
                  <a:txBody>
                    <a:bodyPr/>
                    <a:lstStyle/>
                    <a:p>
                      <a:r>
                        <a:rPr sz="1725" b="0">
                          <a:solidFill>
                            <a:srgbClr val="182C3B"/>
                          </a:solidFill>
                          <a:latin typeface="DejaVu Sans"/>
                          <a:ea typeface="DejaVu Sans"/>
                          <a:cs typeface="DejaVu Sans"/>
                        </a:rPr>
                        <a:t>UPDATE products SET stock = stock - 2 ...</a:t>
                      </a:r>
                    </a:p>
                  </a:txBody>
                  <a:tcPr>
                    <a:solidFill>
                      <a:srgbClr val="EDF3F6"/>
                    </a:solidFill>
                  </a:tcPr>
                </a:tc>
                <a:tc>
                  <a:txBody>
                    <a:bodyPr/>
                    <a:lstStyle/>
                    <a:p>
                      <a:r>
                        <a:rPr sz="1725" b="0">
                          <a:solidFill>
                            <a:srgbClr val="182C3B"/>
                          </a:solidFill>
                          <a:latin typeface="DejaVu Sans"/>
                          <a:ea typeface="DejaVu Sans"/>
                          <a:cs typeface="DejaVu Sans"/>
                        </a:rPr>
                        <a:t>Działa</a:t>
                      </a:r>
                    </a:p>
                  </a:txBody>
                  <a:tcPr>
                    <a:solidFill>
                      <a:srgbClr val="EDF3F6"/>
                    </a:solidFill>
                  </a:tcPr>
                </a:tc>
                <a:extLst>
                  <a:ext uri="{0D108BD9-81ED-4DB2-BD59-A6C34878D82A}">
                    <a16:rowId xmlns:a16="http://schemas.microsoft.com/office/drawing/2014/main" val="10002"/>
                  </a:ext>
                </a:extLst>
              </a:tr>
              <a:tr h="561975">
                <a:tc>
                  <a:txBody>
                    <a:bodyPr/>
                    <a:lstStyle/>
                    <a:p>
                      <a:r>
                        <a:rPr sz="1725" b="0">
                          <a:solidFill>
                            <a:srgbClr val="182C3B"/>
                          </a:solidFill>
                          <a:latin typeface="DejaVu Sans"/>
                          <a:ea typeface="DejaVu Sans"/>
                          <a:cs typeface="DejaVu Sans"/>
                        </a:rPr>
                        <a:t>3</a:t>
                      </a:r>
                    </a:p>
                  </a:txBody>
                  <a:tcPr>
                    <a:solidFill>
                      <a:srgbClr val="FFFFFF"/>
                    </a:solidFill>
                  </a:tcPr>
                </a:tc>
                <a:tc>
                  <a:txBody>
                    <a:bodyPr/>
                    <a:lstStyle/>
                    <a:p>
                      <a:r>
                        <a:rPr sz="1725" b="0">
                          <a:solidFill>
                            <a:srgbClr val="182C3B"/>
                          </a:solidFill>
                          <a:latin typeface="DejaVu Sans"/>
                          <a:ea typeface="DejaVu Sans"/>
                          <a:cs typeface="DejaVu Sans"/>
                        </a:rPr>
                        <a:t>B</a:t>
                      </a:r>
                    </a:p>
                  </a:txBody>
                  <a:tcPr>
                    <a:solidFill>
                      <a:srgbClr val="FFFFFF"/>
                    </a:solidFill>
                  </a:tcPr>
                </a:tc>
                <a:tc>
                  <a:txBody>
                    <a:bodyPr/>
                    <a:lstStyle/>
                    <a:p>
                      <a:r>
                        <a:rPr sz="1725" b="0">
                          <a:solidFill>
                            <a:srgbClr val="182C3B"/>
                          </a:solidFill>
                          <a:latin typeface="DejaVu Sans"/>
                          <a:ea typeface="DejaVu Sans"/>
                          <a:cs typeface="DejaVu Sans"/>
                        </a:rPr>
                        <a:t>DELETE FROM products ...</a:t>
                      </a:r>
                    </a:p>
                  </a:txBody>
                  <a:tcPr>
                    <a:solidFill>
                      <a:srgbClr val="FFFFFF"/>
                    </a:solidFill>
                  </a:tcPr>
                </a:tc>
                <a:tc>
                  <a:txBody>
                    <a:bodyPr/>
                    <a:lstStyle/>
                    <a:p>
                      <a:r>
                        <a:rPr sz="1725" b="0">
                          <a:solidFill>
                            <a:srgbClr val="182C3B"/>
                          </a:solidFill>
                          <a:latin typeface="DejaVu Sans"/>
                          <a:ea typeface="DejaVu Sans"/>
                          <a:cs typeface="DejaVu Sans"/>
                        </a:rPr>
                        <a:t>Czeka na A</a:t>
                      </a:r>
                    </a:p>
                  </a:txBody>
                  <a:tcPr>
                    <a:solidFill>
                      <a:srgbClr val="FFFFFF"/>
                    </a:solidFill>
                  </a:tcPr>
                </a:tc>
                <a:extLst>
                  <a:ext uri="{0D108BD9-81ED-4DB2-BD59-A6C34878D82A}">
                    <a16:rowId xmlns:a16="http://schemas.microsoft.com/office/drawing/2014/main" val="10003"/>
                  </a:ext>
                </a:extLst>
              </a:tr>
              <a:tr h="561975">
                <a:tc>
                  <a:txBody>
                    <a:bodyPr/>
                    <a:lstStyle/>
                    <a:p>
                      <a:r>
                        <a:rPr sz="1725" b="0">
                          <a:solidFill>
                            <a:srgbClr val="182C3B"/>
                          </a:solidFill>
                          <a:latin typeface="DejaVu Sans"/>
                          <a:ea typeface="DejaVu Sans"/>
                          <a:cs typeface="DejaVu Sans"/>
                        </a:rPr>
                        <a:t>4</a:t>
                      </a:r>
                    </a:p>
                  </a:txBody>
                  <a:tcPr>
                    <a:solidFill>
                      <a:srgbClr val="EDF3F6"/>
                    </a:solidFill>
                  </a:tcPr>
                </a:tc>
                <a:tc>
                  <a:txBody>
                    <a:bodyPr/>
                    <a:lstStyle/>
                    <a:p>
                      <a:r>
                        <a:rPr sz="1725" b="0">
                          <a:solidFill>
                            <a:srgbClr val="182C3B"/>
                          </a:solidFill>
                          <a:latin typeface="DejaVu Sans"/>
                          <a:ea typeface="DejaVu Sans"/>
                          <a:cs typeface="DejaVu Sans"/>
                        </a:rPr>
                        <a:t>A</a:t>
                      </a:r>
                    </a:p>
                  </a:txBody>
                  <a:tcPr>
                    <a:solidFill>
                      <a:srgbClr val="EDF3F6"/>
                    </a:solidFill>
                  </a:tcPr>
                </a:tc>
                <a:tc>
                  <a:txBody>
                    <a:bodyPr/>
                    <a:lstStyle/>
                    <a:p>
                      <a:r>
                        <a:rPr sz="1725" b="0">
                          <a:solidFill>
                            <a:srgbClr val="182C3B"/>
                          </a:solidFill>
                          <a:latin typeface="DejaVu Sans"/>
                          <a:ea typeface="DejaVu Sans"/>
                          <a:cs typeface="DejaVu Sans"/>
                        </a:rPr>
                        <a:t>COMMIT</a:t>
                      </a:r>
                    </a:p>
                  </a:txBody>
                  <a:tcPr>
                    <a:solidFill>
                      <a:srgbClr val="EDF3F6"/>
                    </a:solidFill>
                  </a:tcPr>
                </a:tc>
                <a:tc>
                  <a:txBody>
                    <a:bodyPr/>
                    <a:lstStyle/>
                    <a:p>
                      <a:r>
                        <a:rPr sz="1725" b="0">
                          <a:solidFill>
                            <a:srgbClr val="182C3B"/>
                          </a:solidFill>
                          <a:latin typeface="DejaVu Sans"/>
                          <a:ea typeface="DejaVu Sans"/>
                          <a:cs typeface="DejaVu Sans"/>
                        </a:rPr>
                        <a:t>DELETE może naruszyć FK</a:t>
                      </a:r>
                    </a:p>
                  </a:txBody>
                  <a:tcPr>
                    <a:solidFill>
                      <a:srgbClr val="EDF3F6"/>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00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rostokąt 6">
            <a:extLst>
              <a:ext uri="{FF2B5EF4-FFF2-40B4-BE49-F238E27FC236}">
                <a16:creationId xmlns:a16="http://schemas.microsoft.com/office/drawing/2014/main" id="{00000011-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17</a:t>
            </a:r>
          </a:p>
        </p:txBody>
      </p:sp>
      <p:sp>
        <p:nvSpPr>
          <p:cNvPr id="2" name="Prostokąt 1">
            <a:extLst>
              <a:ext uri="{FF2B5EF4-FFF2-40B4-BE49-F238E27FC236}">
                <a16:creationId xmlns:a16="http://schemas.microsoft.com/office/drawing/2014/main" id="{00000011-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FOR SHARE</a:t>
            </a:r>
          </a:p>
        </p:txBody>
      </p:sp>
      <p:sp>
        <p:nvSpPr>
          <p:cNvPr id="3" name="Prostokąt 2">
            <a:extLst>
              <a:ext uri="{FF2B5EF4-FFF2-40B4-BE49-F238E27FC236}">
                <a16:creationId xmlns:a16="http://schemas.microsoft.com/office/drawing/2014/main" id="{00000011-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Jeśli planujesz modyfikację, dobierz od razu odpowiedni tryb aktualizacji. Zakończ ćwiczenie przez COMMIT w A.</a:t>
            </a:r>
          </a:p>
        </p:txBody>
      </p:sp>
      <p:sp>
        <p:nvSpPr>
          <p:cNvPr id="4" name="Prostokąt 3">
            <a:extLst>
              <a:ext uri="{FF2B5EF4-FFF2-40B4-BE49-F238E27FC236}">
                <a16:creationId xmlns:a16="http://schemas.microsoft.com/office/drawing/2014/main" id="{00000011-0004-4000-8000-000000000000}"/>
              </a:ext>
            </a:extLst>
          </p:cNvPr>
          <p:cNvSpPr>
            <a:spLocks noGrp="1"/>
          </p:cNvSpPr>
          <p:nvPr/>
        </p:nvSpPr>
        <p:spPr>
          <a:xfrm>
            <a:off x="609600" y="1724025"/>
            <a:ext cx="4191000" cy="733425"/>
          </a:xfrm>
          <a:prstGeom prst="rect">
            <a:avLst/>
          </a:prstGeom>
          <a:noFill/>
          <a:ln w="0">
            <a:noFill/>
          </a:ln>
        </p:spPr>
        <p:txBody>
          <a:bodyPr>
            <a:noAutofit/>
          </a:bodyPr>
          <a:lstStyle/>
          <a:p>
            <a:pPr>
              <a:defRPr sz="2325" b="1">
                <a:solidFill>
                  <a:srgbClr val="176A88"/>
                </a:solidFill>
                <a:latin typeface="DejaVu Sans"/>
                <a:ea typeface="DejaVu Sans"/>
                <a:cs typeface="DejaVu Sans"/>
              </a:defRPr>
            </a:pPr>
            <a:r>
              <a:rPr sz="2325" b="1">
                <a:solidFill>
                  <a:srgbClr val="176A88"/>
                </a:solidFill>
                <a:latin typeface="DejaVu Sans"/>
                <a:ea typeface="DejaVu Sans"/>
                <a:cs typeface="DejaVu Sans"/>
              </a:rPr>
              <a:t>Wspólny odczyt ze stabilną wartością</a:t>
            </a:r>
          </a:p>
        </p:txBody>
      </p:sp>
      <p:sp>
        <p:nvSpPr>
          <p:cNvPr id="5" name="Prostokąt 4">
            <a:extLst>
              <a:ext uri="{FF2B5EF4-FFF2-40B4-BE49-F238E27FC236}">
                <a16:creationId xmlns:a16="http://schemas.microsoft.com/office/drawing/2014/main" id="{00000011-0005-4000-8000-000000000000}"/>
              </a:ext>
            </a:extLst>
          </p:cNvPr>
          <p:cNvSpPr>
            <a:spLocks noGrp="1"/>
          </p:cNvSpPr>
          <p:nvPr/>
        </p:nvSpPr>
        <p:spPr>
          <a:xfrm>
            <a:off x="609600" y="2590800"/>
            <a:ext cx="4191000" cy="2724150"/>
          </a:xfrm>
          <a:prstGeom prst="rect">
            <a:avLst/>
          </a:prstGeom>
          <a:noFill/>
          <a:ln w="0">
            <a:noFill/>
          </a:ln>
        </p:spPr>
        <p:txBody>
          <a:bodyPr>
            <a:noAutofit/>
          </a:bodyPr>
          <a:lstStyle/>
          <a:p>
            <a:pPr>
              <a:defRPr sz="1950" b="0">
                <a:solidFill>
                  <a:srgbClr val="182C3B"/>
                </a:solidFill>
                <a:latin typeface="DejaVu Sans"/>
                <a:ea typeface="DejaVu Sans"/>
                <a:cs typeface="DejaVu Sans"/>
              </a:defRPr>
            </a:pPr>
            <a:r>
              <a:rPr sz="1950" b="0">
                <a:solidFill>
                  <a:srgbClr val="182C3B"/>
                </a:solidFill>
                <a:latin typeface="DejaVu Sans"/>
                <a:ea typeface="DejaVu Sans"/>
                <a:cs typeface="DejaVu Sans"/>
              </a:rPr>
              <a:t>Kilka sesji może współdzielić tę blokadę wiersza.</a:t>
            </a:r>
          </a:p>
          <a:p>
            <a:endParaRPr sz="1950" b="0">
              <a:solidFill>
                <a:srgbClr val="182C3B"/>
              </a:solidFill>
              <a:latin typeface="DejaVu Sans"/>
              <a:ea typeface="DejaVu Sans"/>
              <a:cs typeface="DejaVu Sans"/>
            </a:endParaRPr>
          </a:p>
          <a:p>
            <a:pPr>
              <a:defRPr sz="1950" b="0">
                <a:solidFill>
                  <a:srgbClr val="182C3B"/>
                </a:solidFill>
                <a:latin typeface="DejaVu Sans"/>
                <a:ea typeface="DejaVu Sans"/>
                <a:cs typeface="DejaVu Sans"/>
              </a:defRPr>
            </a:pPr>
            <a:r>
              <a:rPr sz="1950" b="0">
                <a:solidFill>
                  <a:srgbClr val="182C3B"/>
                </a:solidFill>
                <a:latin typeface="DejaVu Sans"/>
                <a:ea typeface="DejaVu Sans"/>
                <a:cs typeface="DejaVu Sans"/>
              </a:rPr>
              <a:t>FOR SHARE blokuje oba tryby aktualizacji.</a:t>
            </a:r>
          </a:p>
          <a:p>
            <a:endParaRPr sz="1950" b="0">
              <a:solidFill>
                <a:srgbClr val="182C3B"/>
              </a:solidFill>
              <a:latin typeface="DejaVu Sans"/>
              <a:ea typeface="DejaVu Sans"/>
              <a:cs typeface="DejaVu Sans"/>
            </a:endParaRPr>
          </a:p>
          <a:p>
            <a:pPr>
              <a:defRPr sz="1950" b="0">
                <a:solidFill>
                  <a:srgbClr val="182C3B"/>
                </a:solidFill>
                <a:latin typeface="DejaVu Sans"/>
                <a:ea typeface="DejaVu Sans"/>
                <a:cs typeface="DejaVu Sans"/>
              </a:defRPr>
            </a:pPr>
            <a:r>
              <a:rPr sz="1950" b="0">
                <a:solidFill>
                  <a:srgbClr val="182C3B"/>
                </a:solidFill>
                <a:latin typeface="DejaVu Sans"/>
                <a:ea typeface="DejaVu Sans"/>
                <a:cs typeface="DejaVu Sans"/>
              </a:rPr>
              <a:t>Jednoczesne przejście dwóch sesji z odczytu do zapisu może wywołać deadlock.</a:t>
            </a:r>
          </a:p>
        </p:txBody>
      </p:sp>
      <p:sp>
        <p:nvSpPr>
          <p:cNvPr id="6" name="Prostokąt 5">
            <a:extLst>
              <a:ext uri="{FF2B5EF4-FFF2-40B4-BE49-F238E27FC236}">
                <a16:creationId xmlns:a16="http://schemas.microsoft.com/office/drawing/2014/main" id="{00000011-0006-4000-8000-000000000000}"/>
              </a:ext>
            </a:extLst>
          </p:cNvPr>
          <p:cNvSpPr>
            <a:spLocks noGrp="1"/>
          </p:cNvSpPr>
          <p:nvPr/>
        </p:nvSpPr>
        <p:spPr>
          <a:xfrm>
            <a:off x="5391150" y="1695450"/>
            <a:ext cx="6191250" cy="3705225"/>
          </a:xfrm>
          <a:prstGeom prst="rect">
            <a:avLst/>
          </a:prstGeom>
          <a:noFill/>
          <a:ln w="0">
            <a:noFill/>
          </a:ln>
        </p:spPr>
        <p:txBody>
          <a:bodyPr>
            <a:noAutofit/>
          </a:bodyPr>
          <a:lstStyle/>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Sesja A</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BEGIN;</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SELECT price FROM products</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WHERE product_id = 7</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FOR SHARE;</a:t>
            </a:r>
          </a:p>
          <a:p>
            <a:endParaRPr sz="1725" b="0">
              <a:solidFill>
                <a:srgbClr val="182C3B"/>
              </a:solidFill>
              <a:latin typeface="DejaVu Sans Mono"/>
              <a:ea typeface="DejaVu Sans Mono"/>
              <a:cs typeface="DejaVu Sans Mono"/>
            </a:endParaRP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Sesja B: czeka</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UPDATE products</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SET price = price * 1.1</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WHERE product_id = 7;</a:t>
            </a:r>
          </a:p>
        </p:txBody>
      </p:sp>
    </p:spTree>
    <p:extLst>
      <p:ext uri="{BB962C8B-B14F-4D97-AF65-F5344CB8AC3E}">
        <p14:creationId xmlns:p14="http://schemas.microsoft.com/office/powerpoint/2010/main" val="1700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rostokąt 9">
            <a:extLst>
              <a:ext uri="{FF2B5EF4-FFF2-40B4-BE49-F238E27FC236}">
                <a16:creationId xmlns:a16="http://schemas.microsoft.com/office/drawing/2014/main" id="{00000012-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18</a:t>
            </a:r>
          </a:p>
        </p:txBody>
      </p:sp>
      <p:sp>
        <p:nvSpPr>
          <p:cNvPr id="2" name="Prostokąt 1">
            <a:extLst>
              <a:ext uri="{FF2B5EF4-FFF2-40B4-BE49-F238E27FC236}">
                <a16:creationId xmlns:a16="http://schemas.microsoft.com/office/drawing/2014/main" id="{00000012-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FOR NO KEY UPDATE</a:t>
            </a:r>
          </a:p>
        </p:txBody>
      </p:sp>
      <p:sp>
        <p:nvSpPr>
          <p:cNvPr id="3" name="Prostokąt 2">
            <a:extLst>
              <a:ext uri="{FF2B5EF4-FFF2-40B4-BE49-F238E27FC236}">
                <a16:creationId xmlns:a16="http://schemas.microsoft.com/office/drawing/2014/main" id="{00000012-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W REPEATABLE READ i SERIALIZABLE konflikt współbieżnej aktualizacji może wymagać ponowienia transakcji.</a:t>
            </a:r>
          </a:p>
        </p:txBody>
      </p:sp>
      <p:sp>
        <p:nvSpPr>
          <p:cNvPr id="4" name="Prostokąt 3">
            <a:extLst>
              <a:ext uri="{FF2B5EF4-FFF2-40B4-BE49-F238E27FC236}">
                <a16:creationId xmlns:a16="http://schemas.microsoft.com/office/drawing/2014/main" id="{00000012-0004-4000-8000-000000000000}"/>
              </a:ext>
            </a:extLst>
          </p:cNvPr>
          <p:cNvSpPr>
            <a:spLocks noGrp="1"/>
          </p:cNvSpPr>
          <p:nvPr/>
        </p:nvSpPr>
        <p:spPr>
          <a:xfrm>
            <a:off x="609600" y="1752600"/>
            <a:ext cx="5191125" cy="666750"/>
          </a:xfrm>
          <a:prstGeom prst="rect">
            <a:avLst/>
          </a:prstGeom>
          <a:noFill/>
          <a:ln w="0">
            <a:noFill/>
          </a:ln>
        </p:spPr>
        <p:txBody>
          <a:bodyPr>
            <a:noAutofit/>
          </a:bodyPr>
          <a:lstStyle/>
          <a:p>
            <a:pPr>
              <a:defRPr sz="2400" b="1">
                <a:solidFill>
                  <a:srgbClr val="176A88"/>
                </a:solidFill>
                <a:latin typeface="DejaVu Sans"/>
                <a:ea typeface="DejaVu Sans"/>
                <a:cs typeface="DejaVu Sans"/>
              </a:defRPr>
            </a:pPr>
            <a:r>
              <a:rPr sz="2400" b="1">
                <a:solidFill>
                  <a:srgbClr val="176A88"/>
                </a:solidFill>
                <a:latin typeface="DejaVu Sans"/>
                <a:ea typeface="DejaVu Sans"/>
                <a:cs typeface="DejaVu Sans"/>
              </a:rPr>
              <a:t>Typowa aktualizacja</a:t>
            </a:r>
          </a:p>
        </p:txBody>
      </p:sp>
      <p:sp>
        <p:nvSpPr>
          <p:cNvPr id="5" name="Prostokąt 4">
            <a:extLst>
              <a:ext uri="{FF2B5EF4-FFF2-40B4-BE49-F238E27FC236}">
                <a16:creationId xmlns:a16="http://schemas.microsoft.com/office/drawing/2014/main" id="{00000012-0005-4000-8000-000000000000}"/>
              </a:ext>
            </a:extLst>
          </p:cNvPr>
          <p:cNvSpPr>
            <a:spLocks noGrp="1"/>
          </p:cNvSpPr>
          <p:nvPr/>
        </p:nvSpPr>
        <p:spPr>
          <a:xfrm>
            <a:off x="609600" y="2562225"/>
            <a:ext cx="5191125" cy="1400175"/>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UPDATE zmienia cenę lub stan, ale nie kolumny klucza.</a:t>
            </a:r>
          </a:p>
        </p:txBody>
      </p:sp>
      <p:sp>
        <p:nvSpPr>
          <p:cNvPr id="6" name="Prostokąt 5">
            <a:extLst>
              <a:ext uri="{FF2B5EF4-FFF2-40B4-BE49-F238E27FC236}">
                <a16:creationId xmlns:a16="http://schemas.microsoft.com/office/drawing/2014/main" id="{00000012-0006-4000-8000-000000000000}"/>
              </a:ext>
            </a:extLst>
          </p:cNvPr>
          <p:cNvSpPr>
            <a:spLocks noGrp="1"/>
          </p:cNvSpPr>
          <p:nvPr/>
        </p:nvSpPr>
        <p:spPr>
          <a:xfrm>
            <a:off x="609600" y="4105275"/>
            <a:ext cx="5191125" cy="1276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Nie koliduje z FOR KEY SHARE. Drugi zapis tego samego wiersza musi poczekać.</a:t>
            </a:r>
          </a:p>
        </p:txBody>
      </p:sp>
      <p:sp>
        <p:nvSpPr>
          <p:cNvPr id="7" name="Prostokąt 6">
            <a:extLst>
              <a:ext uri="{FF2B5EF4-FFF2-40B4-BE49-F238E27FC236}">
                <a16:creationId xmlns:a16="http://schemas.microsoft.com/office/drawing/2014/main" id="{00000012-0007-4000-8000-000000000000}"/>
              </a:ext>
            </a:extLst>
          </p:cNvPr>
          <p:cNvSpPr>
            <a:spLocks noGrp="1"/>
          </p:cNvSpPr>
          <p:nvPr/>
        </p:nvSpPr>
        <p:spPr>
          <a:xfrm>
            <a:off x="6324600" y="1752600"/>
            <a:ext cx="5191125" cy="666750"/>
          </a:xfrm>
          <a:prstGeom prst="rect">
            <a:avLst/>
          </a:prstGeom>
          <a:noFill/>
          <a:ln w="0">
            <a:noFill/>
          </a:ln>
        </p:spPr>
        <p:txBody>
          <a:bodyPr>
            <a:noAutofit/>
          </a:bodyPr>
          <a:lstStyle/>
          <a:p>
            <a:pPr>
              <a:defRPr sz="2400" b="1">
                <a:solidFill>
                  <a:srgbClr val="176A88"/>
                </a:solidFill>
                <a:latin typeface="DejaVu Sans"/>
                <a:ea typeface="DejaVu Sans"/>
                <a:cs typeface="DejaVu Sans"/>
              </a:defRPr>
            </a:pPr>
            <a:r>
              <a:rPr sz="2400" b="1">
                <a:solidFill>
                  <a:srgbClr val="176A88"/>
                </a:solidFill>
                <a:latin typeface="DejaVu Sans"/>
                <a:ea typeface="DejaVu Sans"/>
                <a:cs typeface="DejaVu Sans"/>
              </a:rPr>
              <a:t>Dwa zmniejszenia stanu</a:t>
            </a:r>
          </a:p>
        </p:txBody>
      </p:sp>
      <p:sp>
        <p:nvSpPr>
          <p:cNvPr id="8" name="Prostokąt 7">
            <a:extLst>
              <a:ext uri="{FF2B5EF4-FFF2-40B4-BE49-F238E27FC236}">
                <a16:creationId xmlns:a16="http://schemas.microsoft.com/office/drawing/2014/main" id="{00000012-0008-4000-8000-000000000000}"/>
              </a:ext>
            </a:extLst>
          </p:cNvPr>
          <p:cNvSpPr>
            <a:spLocks noGrp="1"/>
          </p:cNvSpPr>
          <p:nvPr/>
        </p:nvSpPr>
        <p:spPr>
          <a:xfrm>
            <a:off x="6324600" y="2562225"/>
            <a:ext cx="5191125" cy="1400175"/>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Początkowo stock = 100.</a:t>
            </a:r>
          </a:p>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A wykonuje stock = stock - 1.</a:t>
            </a:r>
          </a:p>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B wykonuje stock = stock - 1.</a:t>
            </a:r>
          </a:p>
        </p:txBody>
      </p:sp>
      <p:sp>
        <p:nvSpPr>
          <p:cNvPr id="9" name="Prostokąt 8">
            <a:extLst>
              <a:ext uri="{FF2B5EF4-FFF2-40B4-BE49-F238E27FC236}">
                <a16:creationId xmlns:a16="http://schemas.microsoft.com/office/drawing/2014/main" id="{00000012-0009-4000-8000-000000000000}"/>
              </a:ext>
            </a:extLst>
          </p:cNvPr>
          <p:cNvSpPr>
            <a:spLocks noGrp="1"/>
          </p:cNvSpPr>
          <p:nvPr/>
        </p:nvSpPr>
        <p:spPr>
          <a:xfrm>
            <a:off x="6324600" y="4105275"/>
            <a:ext cx="5191125" cy="1276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Po obu zatwierdzeniach: stock = 98 w przykładzie READ COMMITTED.</a:t>
            </a:r>
          </a:p>
        </p:txBody>
      </p:sp>
    </p:spTree>
    <p:extLst>
      <p:ext uri="{BB962C8B-B14F-4D97-AF65-F5344CB8AC3E}">
        <p14:creationId xmlns:p14="http://schemas.microsoft.com/office/powerpoint/2010/main" val="1800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rostokąt 6">
            <a:extLst>
              <a:ext uri="{FF2B5EF4-FFF2-40B4-BE49-F238E27FC236}">
                <a16:creationId xmlns:a16="http://schemas.microsoft.com/office/drawing/2014/main" id="{00000013-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19</a:t>
            </a:r>
          </a:p>
        </p:txBody>
      </p:sp>
      <p:sp>
        <p:nvSpPr>
          <p:cNvPr id="2" name="Prostokąt 1">
            <a:extLst>
              <a:ext uri="{FF2B5EF4-FFF2-40B4-BE49-F238E27FC236}">
                <a16:creationId xmlns:a16="http://schemas.microsoft.com/office/drawing/2014/main" id="{00000013-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FOR UPDATE</a:t>
            </a:r>
          </a:p>
        </p:txBody>
      </p:sp>
      <p:sp>
        <p:nvSpPr>
          <p:cNvPr id="3" name="Prostokąt 2">
            <a:extLst>
              <a:ext uri="{FF2B5EF4-FFF2-40B4-BE49-F238E27FC236}">
                <a16:creationId xmlns:a16="http://schemas.microsoft.com/office/drawing/2014/main" id="{00000013-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Sama blokada nie zastępuje reguł biznesowych, np. kontroli dostępnego stanu.</a:t>
            </a:r>
          </a:p>
        </p:txBody>
      </p:sp>
      <p:sp>
        <p:nvSpPr>
          <p:cNvPr id="4" name="Prostokąt 3">
            <a:extLst>
              <a:ext uri="{FF2B5EF4-FFF2-40B4-BE49-F238E27FC236}">
                <a16:creationId xmlns:a16="http://schemas.microsoft.com/office/drawing/2014/main" id="{00000013-0004-4000-8000-000000000000}"/>
              </a:ext>
            </a:extLst>
          </p:cNvPr>
          <p:cNvSpPr>
            <a:spLocks noGrp="1"/>
          </p:cNvSpPr>
          <p:nvPr/>
        </p:nvSpPr>
        <p:spPr>
          <a:xfrm>
            <a:off x="609600" y="1724025"/>
            <a:ext cx="4191000" cy="733425"/>
          </a:xfrm>
          <a:prstGeom prst="rect">
            <a:avLst/>
          </a:prstGeom>
          <a:noFill/>
          <a:ln w="0">
            <a:noFill/>
          </a:ln>
        </p:spPr>
        <p:txBody>
          <a:bodyPr>
            <a:noAutofit/>
          </a:bodyPr>
          <a:lstStyle/>
          <a:p>
            <a:pPr>
              <a:defRPr sz="2325" b="1">
                <a:solidFill>
                  <a:srgbClr val="176A88"/>
                </a:solidFill>
                <a:latin typeface="DejaVu Sans"/>
                <a:ea typeface="DejaVu Sans"/>
                <a:cs typeface="DejaVu Sans"/>
              </a:defRPr>
            </a:pPr>
            <a:r>
              <a:rPr sz="2325" b="1">
                <a:solidFill>
                  <a:srgbClr val="176A88"/>
                </a:solidFill>
                <a:latin typeface="DejaVu Sans"/>
                <a:ea typeface="DejaVu Sans"/>
                <a:cs typeface="DejaVu Sans"/>
              </a:rPr>
              <a:t>Najsilniejsza blokada wiersza</a:t>
            </a:r>
          </a:p>
        </p:txBody>
      </p:sp>
      <p:sp>
        <p:nvSpPr>
          <p:cNvPr id="5" name="Prostokąt 4">
            <a:extLst>
              <a:ext uri="{FF2B5EF4-FFF2-40B4-BE49-F238E27FC236}">
                <a16:creationId xmlns:a16="http://schemas.microsoft.com/office/drawing/2014/main" id="{00000013-0005-4000-8000-000000000000}"/>
              </a:ext>
            </a:extLst>
          </p:cNvPr>
          <p:cNvSpPr>
            <a:spLocks noGrp="1"/>
          </p:cNvSpPr>
          <p:nvPr/>
        </p:nvSpPr>
        <p:spPr>
          <a:xfrm>
            <a:off x="609600" y="2590800"/>
            <a:ext cx="4191000" cy="2724150"/>
          </a:xfrm>
          <a:prstGeom prst="rect">
            <a:avLst/>
          </a:prstGeom>
          <a:noFill/>
          <a:ln w="0">
            <a:noFill/>
          </a:ln>
        </p:spPr>
        <p:txBody>
          <a:bodyPr>
            <a:noAutofit/>
          </a:bodyPr>
          <a:lstStyle/>
          <a:p>
            <a:pPr>
              <a:defRPr sz="1950" b="0">
                <a:solidFill>
                  <a:srgbClr val="182C3B"/>
                </a:solidFill>
                <a:latin typeface="DejaVu Sans"/>
                <a:ea typeface="DejaVu Sans"/>
                <a:cs typeface="DejaVu Sans"/>
              </a:defRPr>
            </a:pPr>
            <a:r>
              <a:rPr sz="1950" b="0">
                <a:solidFill>
                  <a:srgbClr val="182C3B"/>
                </a:solidFill>
                <a:latin typeface="DejaVu Sans"/>
                <a:ea typeface="DejaVu Sans"/>
                <a:cs typeface="DejaVu Sans"/>
              </a:rPr>
              <a:t>Koliduje ze wszystkimi czterema trybami wiersza.</a:t>
            </a:r>
          </a:p>
          <a:p>
            <a:endParaRPr sz="1950" b="0">
              <a:solidFill>
                <a:srgbClr val="182C3B"/>
              </a:solidFill>
              <a:latin typeface="DejaVu Sans"/>
              <a:ea typeface="DejaVu Sans"/>
              <a:cs typeface="DejaVu Sans"/>
            </a:endParaRPr>
          </a:p>
          <a:p>
            <a:pPr>
              <a:defRPr sz="1950" b="0">
                <a:solidFill>
                  <a:srgbClr val="182C3B"/>
                </a:solidFill>
                <a:latin typeface="DejaVu Sans"/>
                <a:ea typeface="DejaVu Sans"/>
                <a:cs typeface="DejaVu Sans"/>
              </a:defRPr>
            </a:pPr>
            <a:r>
              <a:rPr sz="1950" b="0">
                <a:solidFill>
                  <a:srgbClr val="182C3B"/>
                </a:solidFill>
                <a:latin typeface="DejaVu Sans"/>
                <a:ea typeface="DejaVu Sans"/>
                <a:cs typeface="DejaVu Sans"/>
              </a:rPr>
              <a:t>DELETE i zmiana klucza pobierają ją niejawnie.</a:t>
            </a:r>
          </a:p>
          <a:p>
            <a:endParaRPr sz="1950" b="0">
              <a:solidFill>
                <a:srgbClr val="182C3B"/>
              </a:solidFill>
              <a:latin typeface="DejaVu Sans"/>
              <a:ea typeface="DejaVu Sans"/>
              <a:cs typeface="DejaVu Sans"/>
            </a:endParaRPr>
          </a:p>
          <a:p>
            <a:pPr>
              <a:defRPr sz="1950" b="0">
                <a:solidFill>
                  <a:srgbClr val="182C3B"/>
                </a:solidFill>
                <a:latin typeface="DejaVu Sans"/>
                <a:ea typeface="DejaVu Sans"/>
                <a:cs typeface="DejaVu Sans"/>
              </a:defRPr>
            </a:pPr>
            <a:r>
              <a:rPr sz="1950" b="0">
                <a:solidFill>
                  <a:srgbClr val="182C3B"/>
                </a:solidFill>
                <a:latin typeface="DejaVu Sans"/>
                <a:ea typeface="DejaVu Sans"/>
                <a:cs typeface="DejaVu Sans"/>
              </a:rPr>
              <a:t>Przy rezerwacji aplikacja musi sprawdzić stan po uzyskaniu blokady.</a:t>
            </a:r>
          </a:p>
        </p:txBody>
      </p:sp>
      <p:sp>
        <p:nvSpPr>
          <p:cNvPr id="6" name="Prostokąt 5">
            <a:extLst>
              <a:ext uri="{FF2B5EF4-FFF2-40B4-BE49-F238E27FC236}">
                <a16:creationId xmlns:a16="http://schemas.microsoft.com/office/drawing/2014/main" id="{00000013-0006-4000-8000-000000000000}"/>
              </a:ext>
            </a:extLst>
          </p:cNvPr>
          <p:cNvSpPr>
            <a:spLocks noGrp="1"/>
          </p:cNvSpPr>
          <p:nvPr/>
        </p:nvSpPr>
        <p:spPr>
          <a:xfrm>
            <a:off x="5391150" y="1695450"/>
            <a:ext cx="6191250" cy="3705225"/>
          </a:xfrm>
          <a:prstGeom prst="rect">
            <a:avLst/>
          </a:prstGeom>
          <a:noFill/>
          <a:ln w="0">
            <a:noFill/>
          </a:ln>
        </p:spPr>
        <p:txBody>
          <a:bodyPr>
            <a:noAutofit/>
          </a:bodyPr>
          <a:lstStyle/>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BEGIN;</a:t>
            </a:r>
          </a:p>
          <a:p>
            <a:endParaRPr sz="1725" b="0">
              <a:solidFill>
                <a:srgbClr val="182C3B"/>
              </a:solidFill>
              <a:latin typeface="DejaVu Sans Mono"/>
              <a:ea typeface="DejaVu Sans Mono"/>
              <a:cs typeface="DejaVu Sans Mono"/>
            </a:endParaRP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SELECT stock FROM products</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WHERE product_id = 9</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FOR UPDATE;</a:t>
            </a:r>
          </a:p>
          <a:p>
            <a:endParaRPr sz="1725" b="0">
              <a:solidFill>
                <a:srgbClr val="182C3B"/>
              </a:solidFill>
              <a:latin typeface="DejaVu Sans Mono"/>
              <a:ea typeface="DejaVu Sans Mono"/>
              <a:cs typeface="DejaVu Sans Mono"/>
            </a:endParaRP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Sprawdź dostępność</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i wykonaj zapis w tej</a:t>
            </a: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 samej transakcji.</a:t>
            </a:r>
          </a:p>
          <a:p>
            <a:endParaRPr sz="1725" b="0">
              <a:solidFill>
                <a:srgbClr val="182C3B"/>
              </a:solidFill>
              <a:latin typeface="DejaVu Sans Mono"/>
              <a:ea typeface="DejaVu Sans Mono"/>
              <a:cs typeface="DejaVu Sans Mono"/>
            </a:endParaRPr>
          </a:p>
          <a:p>
            <a:pPr>
              <a:defRPr sz="1725" b="0">
                <a:solidFill>
                  <a:srgbClr val="182C3B"/>
                </a:solidFill>
                <a:latin typeface="DejaVu Sans Mono"/>
                <a:ea typeface="DejaVu Sans Mono"/>
                <a:cs typeface="DejaVu Sans Mono"/>
              </a:defRPr>
            </a:pPr>
            <a:r>
              <a:rPr sz="1725" b="0">
                <a:solidFill>
                  <a:srgbClr val="182C3B"/>
                </a:solidFill>
                <a:latin typeface="DejaVu Sans Mono"/>
                <a:ea typeface="DejaVu Sans Mono"/>
                <a:cs typeface="DejaVu Sans Mono"/>
              </a:rPr>
              <a:t>COMMIT;</a:t>
            </a:r>
          </a:p>
        </p:txBody>
      </p:sp>
    </p:spTree>
    <p:extLst>
      <p:ext uri="{BB962C8B-B14F-4D97-AF65-F5344CB8AC3E}">
        <p14:creationId xmlns:p14="http://schemas.microsoft.com/office/powerpoint/2010/main" val="19000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rostokąt 9">
            <a:extLst>
              <a:ext uri="{FF2B5EF4-FFF2-40B4-BE49-F238E27FC236}">
                <a16:creationId xmlns:a16="http://schemas.microsoft.com/office/drawing/2014/main" id="{00000014-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20</a:t>
            </a:r>
          </a:p>
        </p:txBody>
      </p:sp>
      <p:sp>
        <p:nvSpPr>
          <p:cNvPr id="2" name="Prostokąt 1">
            <a:extLst>
              <a:ext uri="{FF2B5EF4-FFF2-40B4-BE49-F238E27FC236}">
                <a16:creationId xmlns:a16="http://schemas.microsoft.com/office/drawing/2014/main" id="{00000014-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NOWAIT i SKIP LOCKED</a:t>
            </a:r>
          </a:p>
        </p:txBody>
      </p:sp>
      <p:sp>
        <p:nvSpPr>
          <p:cNvPr id="3" name="Prostokąt 2">
            <a:extLst>
              <a:ext uri="{FF2B5EF4-FFF2-40B4-BE49-F238E27FC236}">
                <a16:creationId xmlns:a16="http://schemas.microsoft.com/office/drawing/2014/main" id="{00000014-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Ćwiczenie: A blokuje produkt 9. B z SKIP LOCKED dla zakresu 9–11 otrzymuje produkty 10 i 11.</a:t>
            </a:r>
          </a:p>
        </p:txBody>
      </p:sp>
      <p:sp>
        <p:nvSpPr>
          <p:cNvPr id="4" name="Prostokąt 3">
            <a:extLst>
              <a:ext uri="{FF2B5EF4-FFF2-40B4-BE49-F238E27FC236}">
                <a16:creationId xmlns:a16="http://schemas.microsoft.com/office/drawing/2014/main" id="{00000014-0004-4000-8000-000000000000}"/>
              </a:ext>
            </a:extLst>
          </p:cNvPr>
          <p:cNvSpPr>
            <a:spLocks noGrp="1"/>
          </p:cNvSpPr>
          <p:nvPr/>
        </p:nvSpPr>
        <p:spPr>
          <a:xfrm>
            <a:off x="609600" y="1752600"/>
            <a:ext cx="5191125" cy="666750"/>
          </a:xfrm>
          <a:prstGeom prst="rect">
            <a:avLst/>
          </a:prstGeom>
          <a:noFill/>
          <a:ln w="0">
            <a:noFill/>
          </a:ln>
        </p:spPr>
        <p:txBody>
          <a:bodyPr>
            <a:noAutofit/>
          </a:bodyPr>
          <a:lstStyle/>
          <a:p>
            <a:pPr>
              <a:defRPr sz="2400" b="1">
                <a:solidFill>
                  <a:srgbClr val="176A88"/>
                </a:solidFill>
                <a:latin typeface="DejaVu Sans"/>
                <a:ea typeface="DejaVu Sans"/>
                <a:cs typeface="DejaVu Sans"/>
              </a:defRPr>
            </a:pPr>
            <a:r>
              <a:rPr sz="2400" b="1">
                <a:solidFill>
                  <a:srgbClr val="176A88"/>
                </a:solidFill>
                <a:latin typeface="DejaVu Sans"/>
                <a:ea typeface="DejaVu Sans"/>
                <a:cs typeface="DejaVu Sans"/>
              </a:rPr>
              <a:t>NOWAIT</a:t>
            </a:r>
          </a:p>
        </p:txBody>
      </p:sp>
      <p:sp>
        <p:nvSpPr>
          <p:cNvPr id="5" name="Prostokąt 4">
            <a:extLst>
              <a:ext uri="{FF2B5EF4-FFF2-40B4-BE49-F238E27FC236}">
                <a16:creationId xmlns:a16="http://schemas.microsoft.com/office/drawing/2014/main" id="{00000014-0005-4000-8000-000000000000}"/>
              </a:ext>
            </a:extLst>
          </p:cNvPr>
          <p:cNvSpPr>
            <a:spLocks noGrp="1"/>
          </p:cNvSpPr>
          <p:nvPr/>
        </p:nvSpPr>
        <p:spPr>
          <a:xfrm>
            <a:off x="609600" y="2562225"/>
            <a:ext cx="5191125" cy="1400175"/>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Zamiast czekać: natychmiastowy błąd przy konflikcie blokady wiersza.</a:t>
            </a:r>
          </a:p>
        </p:txBody>
      </p:sp>
      <p:sp>
        <p:nvSpPr>
          <p:cNvPr id="6" name="Prostokąt 5">
            <a:extLst>
              <a:ext uri="{FF2B5EF4-FFF2-40B4-BE49-F238E27FC236}">
                <a16:creationId xmlns:a16="http://schemas.microsoft.com/office/drawing/2014/main" id="{00000014-0006-4000-8000-000000000000}"/>
              </a:ext>
            </a:extLst>
          </p:cNvPr>
          <p:cNvSpPr>
            <a:spLocks noGrp="1"/>
          </p:cNvSpPr>
          <p:nvPr/>
        </p:nvSpPr>
        <p:spPr>
          <a:xfrm>
            <a:off x="609600" y="4105275"/>
            <a:ext cx="5191125" cy="1276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Dobre dopasowanie, gdy aplikacja ma od razu poinformować o zajętym zasobie.</a:t>
            </a:r>
          </a:p>
        </p:txBody>
      </p:sp>
      <p:sp>
        <p:nvSpPr>
          <p:cNvPr id="7" name="Prostokąt 6">
            <a:extLst>
              <a:ext uri="{FF2B5EF4-FFF2-40B4-BE49-F238E27FC236}">
                <a16:creationId xmlns:a16="http://schemas.microsoft.com/office/drawing/2014/main" id="{00000014-0007-4000-8000-000000000000}"/>
              </a:ext>
            </a:extLst>
          </p:cNvPr>
          <p:cNvSpPr>
            <a:spLocks noGrp="1"/>
          </p:cNvSpPr>
          <p:nvPr/>
        </p:nvSpPr>
        <p:spPr>
          <a:xfrm>
            <a:off x="6324600" y="1752600"/>
            <a:ext cx="5191125" cy="666750"/>
          </a:xfrm>
          <a:prstGeom prst="rect">
            <a:avLst/>
          </a:prstGeom>
          <a:noFill/>
          <a:ln w="0">
            <a:noFill/>
          </a:ln>
        </p:spPr>
        <p:txBody>
          <a:bodyPr>
            <a:noAutofit/>
          </a:bodyPr>
          <a:lstStyle/>
          <a:p>
            <a:pPr>
              <a:defRPr sz="2400" b="1">
                <a:solidFill>
                  <a:srgbClr val="176A88"/>
                </a:solidFill>
                <a:latin typeface="DejaVu Sans"/>
                <a:ea typeface="DejaVu Sans"/>
                <a:cs typeface="DejaVu Sans"/>
              </a:defRPr>
            </a:pPr>
            <a:r>
              <a:rPr sz="2400" b="1">
                <a:solidFill>
                  <a:srgbClr val="176A88"/>
                </a:solidFill>
                <a:latin typeface="DejaVu Sans"/>
                <a:ea typeface="DejaVu Sans"/>
                <a:cs typeface="DejaVu Sans"/>
              </a:rPr>
              <a:t>SKIP LOCKED</a:t>
            </a:r>
          </a:p>
        </p:txBody>
      </p:sp>
      <p:sp>
        <p:nvSpPr>
          <p:cNvPr id="8" name="Prostokąt 7">
            <a:extLst>
              <a:ext uri="{FF2B5EF4-FFF2-40B4-BE49-F238E27FC236}">
                <a16:creationId xmlns:a16="http://schemas.microsoft.com/office/drawing/2014/main" id="{00000014-0008-4000-8000-000000000000}"/>
              </a:ext>
            </a:extLst>
          </p:cNvPr>
          <p:cNvSpPr>
            <a:spLocks noGrp="1"/>
          </p:cNvSpPr>
          <p:nvPr/>
        </p:nvSpPr>
        <p:spPr>
          <a:xfrm>
            <a:off x="6324600" y="2562225"/>
            <a:ext cx="5191125" cy="1400175"/>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Pomija zajęte wiersze i zwraca dostępne.</a:t>
            </a:r>
          </a:p>
        </p:txBody>
      </p:sp>
      <p:sp>
        <p:nvSpPr>
          <p:cNvPr id="9" name="Prostokąt 8">
            <a:extLst>
              <a:ext uri="{FF2B5EF4-FFF2-40B4-BE49-F238E27FC236}">
                <a16:creationId xmlns:a16="http://schemas.microsoft.com/office/drawing/2014/main" id="{00000014-0009-4000-8000-000000000000}"/>
              </a:ext>
            </a:extLst>
          </p:cNvPr>
          <p:cNvSpPr>
            <a:spLocks noGrp="1"/>
          </p:cNvSpPr>
          <p:nvPr/>
        </p:nvSpPr>
        <p:spPr>
          <a:xfrm>
            <a:off x="6324600" y="4105275"/>
            <a:ext cx="5191125" cy="1276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Dobre dopasowanie do równoległych konsumentów kolejki. Nie nadaje się do pełnego raportowania.</a:t>
            </a:r>
          </a:p>
        </p:txBody>
      </p:sp>
    </p:spTree>
    <p:extLst>
      <p:ext uri="{BB962C8B-B14F-4D97-AF65-F5344CB8AC3E}">
        <p14:creationId xmlns:p14="http://schemas.microsoft.com/office/powerpoint/2010/main" val="2000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rostokąt 9">
            <a:extLst>
              <a:ext uri="{FF2B5EF4-FFF2-40B4-BE49-F238E27FC236}">
                <a16:creationId xmlns:a16="http://schemas.microsoft.com/office/drawing/2014/main" id="{00000015-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21</a:t>
            </a:r>
          </a:p>
        </p:txBody>
      </p:sp>
      <p:sp>
        <p:nvSpPr>
          <p:cNvPr id="2" name="Prostokąt 1">
            <a:extLst>
              <a:ext uri="{FF2B5EF4-FFF2-40B4-BE49-F238E27FC236}">
                <a16:creationId xmlns:a16="http://schemas.microsoft.com/office/drawing/2014/main" id="{00000015-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Blokady doradcze</a:t>
            </a:r>
          </a:p>
        </p:txBody>
      </p:sp>
      <p:sp>
        <p:nvSpPr>
          <p:cNvPr id="3" name="Prostokąt 2">
            <a:extLst>
              <a:ext uri="{FF2B5EF4-FFF2-40B4-BE49-F238E27FC236}">
                <a16:creationId xmlns:a16="http://schemas.microsoft.com/office/drawing/2014/main" id="{00000015-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Aplikacja uzgadnia klucz liczbowy. Funkcje pg_try_... zwracają true albo false bez czekania.</a:t>
            </a:r>
          </a:p>
        </p:txBody>
      </p:sp>
      <p:sp>
        <p:nvSpPr>
          <p:cNvPr id="4" name="Prostokąt 3">
            <a:extLst>
              <a:ext uri="{FF2B5EF4-FFF2-40B4-BE49-F238E27FC236}">
                <a16:creationId xmlns:a16="http://schemas.microsoft.com/office/drawing/2014/main" id="{00000015-0004-4000-8000-000000000000}"/>
              </a:ext>
            </a:extLst>
          </p:cNvPr>
          <p:cNvSpPr>
            <a:spLocks noGrp="1"/>
          </p:cNvSpPr>
          <p:nvPr/>
        </p:nvSpPr>
        <p:spPr>
          <a:xfrm>
            <a:off x="609600" y="1752600"/>
            <a:ext cx="5191125" cy="666750"/>
          </a:xfrm>
          <a:prstGeom prst="rect">
            <a:avLst/>
          </a:prstGeom>
          <a:noFill/>
          <a:ln w="0">
            <a:noFill/>
          </a:ln>
        </p:spPr>
        <p:txBody>
          <a:bodyPr>
            <a:noAutofit/>
          </a:bodyPr>
          <a:lstStyle/>
          <a:p>
            <a:pPr>
              <a:defRPr sz="2400" b="1">
                <a:solidFill>
                  <a:srgbClr val="176A88"/>
                </a:solidFill>
                <a:latin typeface="DejaVu Sans"/>
                <a:ea typeface="DejaVu Sans"/>
                <a:cs typeface="DejaVu Sans"/>
              </a:defRPr>
            </a:pPr>
            <a:r>
              <a:rPr sz="2400" b="1">
                <a:solidFill>
                  <a:srgbClr val="176A88"/>
                </a:solidFill>
                <a:latin typeface="DejaVu Sans"/>
                <a:ea typeface="DejaVu Sans"/>
                <a:cs typeface="DejaVu Sans"/>
              </a:rPr>
              <a:t>Sesyjne</a:t>
            </a:r>
          </a:p>
        </p:txBody>
      </p:sp>
      <p:sp>
        <p:nvSpPr>
          <p:cNvPr id="5" name="Prostokąt 4">
            <a:extLst>
              <a:ext uri="{FF2B5EF4-FFF2-40B4-BE49-F238E27FC236}">
                <a16:creationId xmlns:a16="http://schemas.microsoft.com/office/drawing/2014/main" id="{00000015-0005-4000-8000-000000000000}"/>
              </a:ext>
            </a:extLst>
          </p:cNvPr>
          <p:cNvSpPr>
            <a:spLocks noGrp="1"/>
          </p:cNvSpPr>
          <p:nvPr/>
        </p:nvSpPr>
        <p:spPr>
          <a:xfrm>
            <a:off x="609600" y="2562225"/>
            <a:ext cx="5191125" cy="1400175"/>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pg_advisory_lock</a:t>
            </a:r>
          </a:p>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pg_try_advisory_lock</a:t>
            </a:r>
          </a:p>
        </p:txBody>
      </p:sp>
      <p:sp>
        <p:nvSpPr>
          <p:cNvPr id="6" name="Prostokąt 5">
            <a:extLst>
              <a:ext uri="{FF2B5EF4-FFF2-40B4-BE49-F238E27FC236}">
                <a16:creationId xmlns:a16="http://schemas.microsoft.com/office/drawing/2014/main" id="{00000015-0006-4000-8000-000000000000}"/>
              </a:ext>
            </a:extLst>
          </p:cNvPr>
          <p:cNvSpPr>
            <a:spLocks noGrp="1"/>
          </p:cNvSpPr>
          <p:nvPr/>
        </p:nvSpPr>
        <p:spPr>
          <a:xfrm>
            <a:off x="609600" y="4105275"/>
            <a:ext cx="5191125" cy="1276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Trwają do jawnego zwolnienia lub rozłączenia. COMMIT i ROLLBACK ich nie zwalniają.</a:t>
            </a:r>
          </a:p>
        </p:txBody>
      </p:sp>
      <p:sp>
        <p:nvSpPr>
          <p:cNvPr id="7" name="Prostokąt 6">
            <a:extLst>
              <a:ext uri="{FF2B5EF4-FFF2-40B4-BE49-F238E27FC236}">
                <a16:creationId xmlns:a16="http://schemas.microsoft.com/office/drawing/2014/main" id="{00000015-0007-4000-8000-000000000000}"/>
              </a:ext>
            </a:extLst>
          </p:cNvPr>
          <p:cNvSpPr>
            <a:spLocks noGrp="1"/>
          </p:cNvSpPr>
          <p:nvPr/>
        </p:nvSpPr>
        <p:spPr>
          <a:xfrm>
            <a:off x="6324600" y="1752600"/>
            <a:ext cx="5191125" cy="666750"/>
          </a:xfrm>
          <a:prstGeom prst="rect">
            <a:avLst/>
          </a:prstGeom>
          <a:noFill/>
          <a:ln w="0">
            <a:noFill/>
          </a:ln>
        </p:spPr>
        <p:txBody>
          <a:bodyPr>
            <a:noAutofit/>
          </a:bodyPr>
          <a:lstStyle/>
          <a:p>
            <a:pPr>
              <a:defRPr sz="2400" b="1">
                <a:solidFill>
                  <a:srgbClr val="176A88"/>
                </a:solidFill>
                <a:latin typeface="DejaVu Sans"/>
                <a:ea typeface="DejaVu Sans"/>
                <a:cs typeface="DejaVu Sans"/>
              </a:defRPr>
            </a:pPr>
            <a:r>
              <a:rPr sz="2400" b="1">
                <a:solidFill>
                  <a:srgbClr val="176A88"/>
                </a:solidFill>
                <a:latin typeface="DejaVu Sans"/>
                <a:ea typeface="DejaVu Sans"/>
                <a:cs typeface="DejaVu Sans"/>
              </a:rPr>
              <a:t>Transakcyjne</a:t>
            </a:r>
          </a:p>
        </p:txBody>
      </p:sp>
      <p:sp>
        <p:nvSpPr>
          <p:cNvPr id="8" name="Prostokąt 7">
            <a:extLst>
              <a:ext uri="{FF2B5EF4-FFF2-40B4-BE49-F238E27FC236}">
                <a16:creationId xmlns:a16="http://schemas.microsoft.com/office/drawing/2014/main" id="{00000015-0008-4000-8000-000000000000}"/>
              </a:ext>
            </a:extLst>
          </p:cNvPr>
          <p:cNvSpPr>
            <a:spLocks noGrp="1"/>
          </p:cNvSpPr>
          <p:nvPr/>
        </p:nvSpPr>
        <p:spPr>
          <a:xfrm>
            <a:off x="6324600" y="2562225"/>
            <a:ext cx="5191125" cy="1400175"/>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pg_advisory_xact_lock</a:t>
            </a:r>
          </a:p>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pg_try_advisory_xact_lock</a:t>
            </a:r>
          </a:p>
        </p:txBody>
      </p:sp>
      <p:sp>
        <p:nvSpPr>
          <p:cNvPr id="9" name="Prostokąt 8">
            <a:extLst>
              <a:ext uri="{FF2B5EF4-FFF2-40B4-BE49-F238E27FC236}">
                <a16:creationId xmlns:a16="http://schemas.microsoft.com/office/drawing/2014/main" id="{00000015-0009-4000-8000-000000000000}"/>
              </a:ext>
            </a:extLst>
          </p:cNvPr>
          <p:cNvSpPr>
            <a:spLocks noGrp="1"/>
          </p:cNvSpPr>
          <p:nvPr/>
        </p:nvSpPr>
        <p:spPr>
          <a:xfrm>
            <a:off x="6324600" y="4105275"/>
            <a:ext cx="5191125" cy="1276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Zwalniają się z końcem transakcji. Pasują do poolingu transakcyjnego.</a:t>
            </a:r>
          </a:p>
        </p:txBody>
      </p:sp>
    </p:spTree>
    <p:extLst>
      <p:ext uri="{BB962C8B-B14F-4D97-AF65-F5344CB8AC3E}">
        <p14:creationId xmlns:p14="http://schemas.microsoft.com/office/powerpoint/2010/main" val="21000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rostokąt 5">
            <a:extLst>
              <a:ext uri="{FF2B5EF4-FFF2-40B4-BE49-F238E27FC236}">
                <a16:creationId xmlns:a16="http://schemas.microsoft.com/office/drawing/2014/main" id="{00000016-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22</a:t>
            </a:r>
          </a:p>
        </p:txBody>
      </p:sp>
      <p:sp>
        <p:nvSpPr>
          <p:cNvPr id="2" name="Prostokąt 1">
            <a:extLst>
              <a:ext uri="{FF2B5EF4-FFF2-40B4-BE49-F238E27FC236}">
                <a16:creationId xmlns:a16="http://schemas.microsoft.com/office/drawing/2014/main" id="{00000016-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Kolejka: raport, migracja, nowy odczyt</a:t>
            </a:r>
          </a:p>
        </p:txBody>
      </p:sp>
      <p:sp>
        <p:nvSpPr>
          <p:cNvPr id="3" name="Prostokąt 2">
            <a:extLst>
              <a:ext uri="{FF2B5EF4-FFF2-40B4-BE49-F238E27FC236}">
                <a16:creationId xmlns:a16="http://schemas.microsoft.com/office/drawing/2014/main" id="{00000016-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Przykład ochrony migracji: SET lock_timeout = '2s'. Po przekroczeniu limitu: kontrolowane ponowienie.</a:t>
            </a:r>
          </a:p>
        </p:txBody>
      </p:sp>
      <p:sp>
        <p:nvSpPr>
          <p:cNvPr id="4" name="Prostokąt 3">
            <a:extLst>
              <a:ext uri="{FF2B5EF4-FFF2-40B4-BE49-F238E27FC236}">
                <a16:creationId xmlns:a16="http://schemas.microsoft.com/office/drawing/2014/main" id="{00000016-0004-4000-8000-000000000000}"/>
              </a:ext>
            </a:extLst>
          </p:cNvPr>
          <p:cNvSpPr>
            <a:spLocks noGrp="1"/>
          </p:cNvSpPr>
          <p:nvPr/>
        </p:nvSpPr>
        <p:spPr>
          <a:xfrm>
            <a:off x="609600" y="1533525"/>
            <a:ext cx="10972800" cy="685800"/>
          </a:xfrm>
          <a:prstGeom prst="rect">
            <a:avLst/>
          </a:prstGeom>
          <a:noFill/>
          <a:ln w="0">
            <a:noFill/>
          </a:ln>
        </p:spPr>
        <p:txBody>
          <a:bodyPr>
            <a:noAutofit/>
          </a:bodyPr>
          <a:lstStyle/>
          <a:p>
            <a:pPr>
              <a:defRPr sz="2025" b="0">
                <a:solidFill>
                  <a:srgbClr val="526675"/>
                </a:solidFill>
                <a:latin typeface="DejaVu Sans"/>
                <a:ea typeface="DejaVu Sans"/>
                <a:cs typeface="DejaVu Sans"/>
              </a:defRPr>
            </a:pPr>
            <a:r>
              <a:rPr sz="2025" b="0">
                <a:solidFill>
                  <a:srgbClr val="526675"/>
                </a:solidFill>
                <a:latin typeface="DejaVu Sans"/>
                <a:ea typeface="DejaVu Sans"/>
                <a:cs typeface="DejaVu Sans"/>
              </a:rPr>
              <a:t>Sprzeczne żądanie oczekujące może blokować nowe żądania, zanim samo otrzyma blokadę.</a:t>
            </a:r>
          </a:p>
        </p:txBody>
      </p:sp>
      <p:graphicFrame>
        <p:nvGraphicFramePr>
          <p:cNvPr id="5" name="Tabela 4"/>
          <p:cNvGraphicFramePr/>
          <p:nvPr/>
        </p:nvGraphicFramePr>
        <p:xfrm>
          <a:off x="609600" y="2447925"/>
          <a:ext cx="10972800" cy="2809875"/>
        </p:xfrm>
        <a:graphic>
          <a:graphicData uri="http://schemas.openxmlformats.org/drawingml/2006/table">
            <a:tbl>
              <a:tblPr/>
              <a:tblGrid>
                <a:gridCol w="857250">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5619750">
                  <a:extLst>
                    <a:ext uri="{9D8B030D-6E8A-4147-A177-3AD203B41FA5}">
                      <a16:colId xmlns:a16="http://schemas.microsoft.com/office/drawing/2014/main" val="20002"/>
                    </a:ext>
                  </a:extLst>
                </a:gridCol>
                <a:gridCol w="3590925">
                  <a:extLst>
                    <a:ext uri="{9D8B030D-6E8A-4147-A177-3AD203B41FA5}">
                      <a16:colId xmlns:a16="http://schemas.microsoft.com/office/drawing/2014/main" val="20003"/>
                    </a:ext>
                  </a:extLst>
                </a:gridCol>
              </a:tblGrid>
              <a:tr h="561975">
                <a:tc>
                  <a:txBody>
                    <a:bodyPr/>
                    <a:lstStyle/>
                    <a:p>
                      <a:r>
                        <a:rPr sz="1725" b="1">
                          <a:solidFill>
                            <a:srgbClr val="FFFFFF"/>
                          </a:solidFill>
                          <a:latin typeface="DejaVu Sans"/>
                          <a:ea typeface="DejaVu Sans"/>
                          <a:cs typeface="DejaVu Sans"/>
                        </a:rPr>
                        <a:t>Krok</a:t>
                      </a:r>
                    </a:p>
                  </a:txBody>
                  <a:tcPr>
                    <a:solidFill>
                      <a:srgbClr val="182C3B"/>
                    </a:solidFill>
                  </a:tcPr>
                </a:tc>
                <a:tc>
                  <a:txBody>
                    <a:bodyPr/>
                    <a:lstStyle/>
                    <a:p>
                      <a:r>
                        <a:rPr sz="1725" b="1">
                          <a:solidFill>
                            <a:srgbClr val="FFFFFF"/>
                          </a:solidFill>
                          <a:latin typeface="DejaVu Sans"/>
                          <a:ea typeface="DejaVu Sans"/>
                          <a:cs typeface="DejaVu Sans"/>
                        </a:rPr>
                        <a:t>Sesja</a:t>
                      </a:r>
                    </a:p>
                  </a:txBody>
                  <a:tcPr>
                    <a:solidFill>
                      <a:srgbClr val="182C3B"/>
                    </a:solidFill>
                  </a:tcPr>
                </a:tc>
                <a:tc>
                  <a:txBody>
                    <a:bodyPr/>
                    <a:lstStyle/>
                    <a:p>
                      <a:r>
                        <a:rPr sz="1725" b="1">
                          <a:solidFill>
                            <a:srgbClr val="FFFFFF"/>
                          </a:solidFill>
                          <a:latin typeface="DejaVu Sans"/>
                          <a:ea typeface="DejaVu Sans"/>
                          <a:cs typeface="DejaVu Sans"/>
                        </a:rPr>
                        <a:t>Polecenie / działanie</a:t>
                      </a:r>
                    </a:p>
                  </a:txBody>
                  <a:tcPr>
                    <a:solidFill>
                      <a:srgbClr val="182C3B"/>
                    </a:solidFill>
                  </a:tcPr>
                </a:tc>
                <a:tc>
                  <a:txBody>
                    <a:bodyPr/>
                    <a:lstStyle/>
                    <a:p>
                      <a:r>
                        <a:rPr sz="1725" b="1">
                          <a:solidFill>
                            <a:srgbClr val="FFFFFF"/>
                          </a:solidFill>
                          <a:latin typeface="DejaVu Sans"/>
                          <a:ea typeface="DejaVu Sans"/>
                          <a:cs typeface="DejaVu Sans"/>
                        </a:rPr>
                        <a:t>Efekt</a:t>
                      </a:r>
                    </a:p>
                  </a:txBody>
                  <a:tcPr>
                    <a:solidFill>
                      <a:srgbClr val="182C3B"/>
                    </a:solidFill>
                  </a:tcPr>
                </a:tc>
                <a:extLst>
                  <a:ext uri="{0D108BD9-81ED-4DB2-BD59-A6C34878D82A}">
                    <a16:rowId xmlns:a16="http://schemas.microsoft.com/office/drawing/2014/main" val="10000"/>
                  </a:ext>
                </a:extLst>
              </a:tr>
              <a:tr h="561975">
                <a:tc>
                  <a:txBody>
                    <a:bodyPr/>
                    <a:lstStyle/>
                    <a:p>
                      <a:r>
                        <a:rPr sz="1725" b="0">
                          <a:solidFill>
                            <a:srgbClr val="182C3B"/>
                          </a:solidFill>
                          <a:latin typeface="DejaVu Sans"/>
                          <a:ea typeface="DejaVu Sans"/>
                          <a:cs typeface="DejaVu Sans"/>
                        </a:rPr>
                        <a:t>1</a:t>
                      </a:r>
                    </a:p>
                  </a:txBody>
                  <a:tcPr>
                    <a:solidFill>
                      <a:srgbClr val="FFFFFF"/>
                    </a:solidFill>
                  </a:tcPr>
                </a:tc>
                <a:tc>
                  <a:txBody>
                    <a:bodyPr/>
                    <a:lstStyle/>
                    <a:p>
                      <a:r>
                        <a:rPr sz="1725" b="0">
                          <a:solidFill>
                            <a:srgbClr val="182C3B"/>
                          </a:solidFill>
                          <a:latin typeface="DejaVu Sans"/>
                          <a:ea typeface="DejaVu Sans"/>
                          <a:cs typeface="DejaVu Sans"/>
                        </a:rPr>
                        <a:t>A</a:t>
                      </a:r>
                    </a:p>
                  </a:txBody>
                  <a:tcPr>
                    <a:solidFill>
                      <a:srgbClr val="FFFFFF"/>
                    </a:solidFill>
                  </a:tcPr>
                </a:tc>
                <a:tc>
                  <a:txBody>
                    <a:bodyPr/>
                    <a:lstStyle/>
                    <a:p>
                      <a:r>
                        <a:rPr sz="1725" b="0">
                          <a:solidFill>
                            <a:srgbClr val="182C3B"/>
                          </a:solidFill>
                          <a:latin typeface="DejaVu Sans"/>
                          <a:ea typeface="DejaVu Sans"/>
                          <a:cs typeface="DejaVu Sans"/>
                        </a:rPr>
                        <a:t>BEGIN; SELECT count(*) FROM orders</a:t>
                      </a:r>
                    </a:p>
                  </a:txBody>
                  <a:tcPr>
                    <a:solidFill>
                      <a:srgbClr val="FFFFFF"/>
                    </a:solidFill>
                  </a:tcPr>
                </a:tc>
                <a:tc>
                  <a:txBody>
                    <a:bodyPr/>
                    <a:lstStyle/>
                    <a:p>
                      <a:r>
                        <a:rPr sz="1725" b="0">
                          <a:solidFill>
                            <a:srgbClr val="182C3B"/>
                          </a:solidFill>
                          <a:latin typeface="DejaVu Sans"/>
                          <a:ea typeface="DejaVu Sans"/>
                          <a:cs typeface="DejaVu Sans"/>
                        </a:rPr>
                        <a:t>Trzyma ACCESS SHARE</a:t>
                      </a:r>
                    </a:p>
                  </a:txBody>
                  <a:tcPr>
                    <a:solidFill>
                      <a:srgbClr val="FFFFFF"/>
                    </a:solidFill>
                  </a:tcPr>
                </a:tc>
                <a:extLst>
                  <a:ext uri="{0D108BD9-81ED-4DB2-BD59-A6C34878D82A}">
                    <a16:rowId xmlns:a16="http://schemas.microsoft.com/office/drawing/2014/main" val="10001"/>
                  </a:ext>
                </a:extLst>
              </a:tr>
              <a:tr h="561975">
                <a:tc>
                  <a:txBody>
                    <a:bodyPr/>
                    <a:lstStyle/>
                    <a:p>
                      <a:r>
                        <a:rPr sz="1725" b="0">
                          <a:solidFill>
                            <a:srgbClr val="182C3B"/>
                          </a:solidFill>
                          <a:latin typeface="DejaVu Sans"/>
                          <a:ea typeface="DejaVu Sans"/>
                          <a:cs typeface="DejaVu Sans"/>
                        </a:rPr>
                        <a:t>2</a:t>
                      </a:r>
                    </a:p>
                  </a:txBody>
                  <a:tcPr>
                    <a:solidFill>
                      <a:srgbClr val="EDF3F6"/>
                    </a:solidFill>
                  </a:tcPr>
                </a:tc>
                <a:tc>
                  <a:txBody>
                    <a:bodyPr/>
                    <a:lstStyle/>
                    <a:p>
                      <a:r>
                        <a:rPr sz="1725" b="0">
                          <a:solidFill>
                            <a:srgbClr val="182C3B"/>
                          </a:solidFill>
                          <a:latin typeface="DejaVu Sans"/>
                          <a:ea typeface="DejaVu Sans"/>
                          <a:cs typeface="DejaVu Sans"/>
                        </a:rPr>
                        <a:t>B</a:t>
                      </a:r>
                    </a:p>
                  </a:txBody>
                  <a:tcPr>
                    <a:solidFill>
                      <a:srgbClr val="EDF3F6"/>
                    </a:solidFill>
                  </a:tcPr>
                </a:tc>
                <a:tc>
                  <a:txBody>
                    <a:bodyPr/>
                    <a:lstStyle/>
                    <a:p>
                      <a:r>
                        <a:rPr sz="1725" b="0">
                          <a:solidFill>
                            <a:srgbClr val="182C3B"/>
                          </a:solidFill>
                          <a:latin typeface="DejaVu Sans"/>
                          <a:ea typeface="DejaVu Sans"/>
                          <a:cs typeface="DejaVu Sans"/>
                        </a:rPr>
                        <a:t>ALTER TABLE orders ADD COLUMN kod text</a:t>
                      </a:r>
                    </a:p>
                  </a:txBody>
                  <a:tcPr>
                    <a:solidFill>
                      <a:srgbClr val="EDF3F6"/>
                    </a:solidFill>
                  </a:tcPr>
                </a:tc>
                <a:tc>
                  <a:txBody>
                    <a:bodyPr/>
                    <a:lstStyle/>
                    <a:p>
                      <a:r>
                        <a:rPr sz="1725" b="0">
                          <a:solidFill>
                            <a:srgbClr val="182C3B"/>
                          </a:solidFill>
                          <a:latin typeface="DejaVu Sans"/>
                          <a:ea typeface="DejaVu Sans"/>
                          <a:cs typeface="DejaVu Sans"/>
                        </a:rPr>
                        <a:t>Czeka na A</a:t>
                      </a:r>
                    </a:p>
                  </a:txBody>
                  <a:tcPr>
                    <a:solidFill>
                      <a:srgbClr val="EDF3F6"/>
                    </a:solidFill>
                  </a:tcPr>
                </a:tc>
                <a:extLst>
                  <a:ext uri="{0D108BD9-81ED-4DB2-BD59-A6C34878D82A}">
                    <a16:rowId xmlns:a16="http://schemas.microsoft.com/office/drawing/2014/main" val="10002"/>
                  </a:ext>
                </a:extLst>
              </a:tr>
              <a:tr h="561975">
                <a:tc>
                  <a:txBody>
                    <a:bodyPr/>
                    <a:lstStyle/>
                    <a:p>
                      <a:r>
                        <a:rPr sz="1725" b="0">
                          <a:solidFill>
                            <a:srgbClr val="182C3B"/>
                          </a:solidFill>
                          <a:latin typeface="DejaVu Sans"/>
                          <a:ea typeface="DejaVu Sans"/>
                          <a:cs typeface="DejaVu Sans"/>
                        </a:rPr>
                        <a:t>3</a:t>
                      </a:r>
                    </a:p>
                  </a:txBody>
                  <a:tcPr>
                    <a:solidFill>
                      <a:srgbClr val="FFFFFF"/>
                    </a:solidFill>
                  </a:tcPr>
                </a:tc>
                <a:tc>
                  <a:txBody>
                    <a:bodyPr/>
                    <a:lstStyle/>
                    <a:p>
                      <a:r>
                        <a:rPr sz="1725" b="0">
                          <a:solidFill>
                            <a:srgbClr val="182C3B"/>
                          </a:solidFill>
                          <a:latin typeface="DejaVu Sans"/>
                          <a:ea typeface="DejaVu Sans"/>
                          <a:cs typeface="DejaVu Sans"/>
                        </a:rPr>
                        <a:t>C</a:t>
                      </a:r>
                    </a:p>
                  </a:txBody>
                  <a:tcPr>
                    <a:solidFill>
                      <a:srgbClr val="FFFFFF"/>
                    </a:solidFill>
                  </a:tcPr>
                </a:tc>
                <a:tc>
                  <a:txBody>
                    <a:bodyPr/>
                    <a:lstStyle/>
                    <a:p>
                      <a:r>
                        <a:rPr sz="1725" b="0">
                          <a:solidFill>
                            <a:srgbClr val="182C3B"/>
                          </a:solidFill>
                          <a:latin typeface="DejaVu Sans"/>
                          <a:ea typeface="DejaVu Sans"/>
                          <a:cs typeface="DejaVu Sans"/>
                        </a:rPr>
                        <a:t>SELECT count(*) FROM orders</a:t>
                      </a:r>
                    </a:p>
                  </a:txBody>
                  <a:tcPr>
                    <a:solidFill>
                      <a:srgbClr val="FFFFFF"/>
                    </a:solidFill>
                  </a:tcPr>
                </a:tc>
                <a:tc>
                  <a:txBody>
                    <a:bodyPr/>
                    <a:lstStyle/>
                    <a:p>
                      <a:r>
                        <a:rPr sz="1725" b="0">
                          <a:solidFill>
                            <a:srgbClr val="182C3B"/>
                          </a:solidFill>
                          <a:latin typeface="DejaVu Sans"/>
                          <a:ea typeface="DejaVu Sans"/>
                          <a:cs typeface="DejaVu Sans"/>
                        </a:rPr>
                        <a:t>Czeka za B</a:t>
                      </a:r>
                    </a:p>
                  </a:txBody>
                  <a:tcPr>
                    <a:solidFill>
                      <a:srgbClr val="FFFFFF"/>
                    </a:solidFill>
                  </a:tcPr>
                </a:tc>
                <a:extLst>
                  <a:ext uri="{0D108BD9-81ED-4DB2-BD59-A6C34878D82A}">
                    <a16:rowId xmlns:a16="http://schemas.microsoft.com/office/drawing/2014/main" val="10003"/>
                  </a:ext>
                </a:extLst>
              </a:tr>
              <a:tr h="561975">
                <a:tc>
                  <a:txBody>
                    <a:bodyPr/>
                    <a:lstStyle/>
                    <a:p>
                      <a:r>
                        <a:rPr sz="1725" b="0">
                          <a:solidFill>
                            <a:srgbClr val="182C3B"/>
                          </a:solidFill>
                          <a:latin typeface="DejaVu Sans"/>
                          <a:ea typeface="DejaVu Sans"/>
                          <a:cs typeface="DejaVu Sans"/>
                        </a:rPr>
                        <a:t>4</a:t>
                      </a:r>
                    </a:p>
                  </a:txBody>
                  <a:tcPr>
                    <a:solidFill>
                      <a:srgbClr val="EDF3F6"/>
                    </a:solidFill>
                  </a:tcPr>
                </a:tc>
                <a:tc>
                  <a:txBody>
                    <a:bodyPr/>
                    <a:lstStyle/>
                    <a:p>
                      <a:r>
                        <a:rPr sz="1725" b="0">
                          <a:solidFill>
                            <a:srgbClr val="182C3B"/>
                          </a:solidFill>
                          <a:latin typeface="DejaVu Sans"/>
                          <a:ea typeface="DejaVu Sans"/>
                          <a:cs typeface="DejaVu Sans"/>
                        </a:rPr>
                        <a:t>A</a:t>
                      </a:r>
                    </a:p>
                  </a:txBody>
                  <a:tcPr>
                    <a:solidFill>
                      <a:srgbClr val="EDF3F6"/>
                    </a:solidFill>
                  </a:tcPr>
                </a:tc>
                <a:tc>
                  <a:txBody>
                    <a:bodyPr/>
                    <a:lstStyle/>
                    <a:p>
                      <a:r>
                        <a:rPr sz="1725" b="0">
                          <a:solidFill>
                            <a:srgbClr val="182C3B"/>
                          </a:solidFill>
                          <a:latin typeface="DejaVu Sans"/>
                          <a:ea typeface="DejaVu Sans"/>
                          <a:cs typeface="DejaVu Sans"/>
                        </a:rPr>
                        <a:t>COMMIT</a:t>
                      </a:r>
                    </a:p>
                  </a:txBody>
                  <a:tcPr>
                    <a:solidFill>
                      <a:srgbClr val="EDF3F6"/>
                    </a:solidFill>
                  </a:tcPr>
                </a:tc>
                <a:tc>
                  <a:txBody>
                    <a:bodyPr/>
                    <a:lstStyle/>
                    <a:p>
                      <a:r>
                        <a:rPr sz="1725" b="0">
                          <a:solidFill>
                            <a:srgbClr val="182C3B"/>
                          </a:solidFill>
                          <a:latin typeface="DejaVu Sans"/>
                          <a:ea typeface="DejaVu Sans"/>
                          <a:cs typeface="DejaVu Sans"/>
                        </a:rPr>
                        <a:t>Najpierw B, potem C</a:t>
                      </a:r>
                    </a:p>
                  </a:txBody>
                  <a:tcPr>
                    <a:solidFill>
                      <a:srgbClr val="EDF3F6"/>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00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rostokąt 5">
            <a:extLst>
              <a:ext uri="{FF2B5EF4-FFF2-40B4-BE49-F238E27FC236}">
                <a16:creationId xmlns:a16="http://schemas.microsoft.com/office/drawing/2014/main" id="{00000017-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23</a:t>
            </a:r>
          </a:p>
        </p:txBody>
      </p:sp>
      <p:sp>
        <p:nvSpPr>
          <p:cNvPr id="2" name="Prostokąt 1">
            <a:extLst>
              <a:ext uri="{FF2B5EF4-FFF2-40B4-BE49-F238E27FC236}">
                <a16:creationId xmlns:a16="http://schemas.microsoft.com/office/drawing/2014/main" id="{00000017-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Zakleszczenie: cykl oczekiwania</a:t>
            </a:r>
          </a:p>
        </p:txBody>
      </p:sp>
      <p:sp>
        <p:nvSpPr>
          <p:cNvPr id="3" name="Prostokąt 2">
            <a:extLst>
              <a:ext uri="{FF2B5EF4-FFF2-40B4-BE49-F238E27FC236}">
                <a16:creationId xmlns:a16="http://schemas.microsoft.com/office/drawing/2014/main" id="{00000017-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PostgreSQL przerywa jedną z transakcji. Kod 40P01 wymaga ponowienia całej transakcji.</a:t>
            </a:r>
          </a:p>
        </p:txBody>
      </p:sp>
      <p:sp>
        <p:nvSpPr>
          <p:cNvPr id="4" name="Prostokąt 3">
            <a:extLst>
              <a:ext uri="{FF2B5EF4-FFF2-40B4-BE49-F238E27FC236}">
                <a16:creationId xmlns:a16="http://schemas.microsoft.com/office/drawing/2014/main" id="{00000017-0004-4000-8000-000000000000}"/>
              </a:ext>
            </a:extLst>
          </p:cNvPr>
          <p:cNvSpPr>
            <a:spLocks noGrp="1"/>
          </p:cNvSpPr>
          <p:nvPr/>
        </p:nvSpPr>
        <p:spPr>
          <a:xfrm>
            <a:off x="609600" y="1533525"/>
            <a:ext cx="10972800" cy="685800"/>
          </a:xfrm>
          <a:prstGeom prst="rect">
            <a:avLst/>
          </a:prstGeom>
          <a:noFill/>
          <a:ln w="0">
            <a:noFill/>
          </a:ln>
        </p:spPr>
        <p:txBody>
          <a:bodyPr>
            <a:noAutofit/>
          </a:bodyPr>
          <a:lstStyle/>
          <a:p>
            <a:pPr>
              <a:defRPr sz="2025" b="0">
                <a:solidFill>
                  <a:srgbClr val="526675"/>
                </a:solidFill>
                <a:latin typeface="DejaVu Sans"/>
                <a:ea typeface="DejaVu Sans"/>
                <a:cs typeface="DejaVu Sans"/>
              </a:defRPr>
            </a:pPr>
            <a:r>
              <a:rPr sz="2025" b="0">
                <a:solidFill>
                  <a:srgbClr val="526675"/>
                </a:solidFill>
                <a:latin typeface="DejaVu Sans"/>
                <a:ea typeface="DejaVu Sans"/>
                <a:cs typeface="DejaVu Sans"/>
              </a:rPr>
              <a:t>Dwie transakcje blokują te same produkty w odwrotnej kolejności.</a:t>
            </a:r>
          </a:p>
        </p:txBody>
      </p:sp>
      <p:graphicFrame>
        <p:nvGraphicFramePr>
          <p:cNvPr id="5" name="Tabela 4"/>
          <p:cNvGraphicFramePr/>
          <p:nvPr/>
        </p:nvGraphicFramePr>
        <p:xfrm>
          <a:off x="609600" y="2447925"/>
          <a:ext cx="10972800" cy="2809875"/>
        </p:xfrm>
        <a:graphic>
          <a:graphicData uri="http://schemas.openxmlformats.org/drawingml/2006/table">
            <a:tbl>
              <a:tblPr/>
              <a:tblGrid>
                <a:gridCol w="857250">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5619750">
                  <a:extLst>
                    <a:ext uri="{9D8B030D-6E8A-4147-A177-3AD203B41FA5}">
                      <a16:colId xmlns:a16="http://schemas.microsoft.com/office/drawing/2014/main" val="20002"/>
                    </a:ext>
                  </a:extLst>
                </a:gridCol>
                <a:gridCol w="3590925">
                  <a:extLst>
                    <a:ext uri="{9D8B030D-6E8A-4147-A177-3AD203B41FA5}">
                      <a16:colId xmlns:a16="http://schemas.microsoft.com/office/drawing/2014/main" val="20003"/>
                    </a:ext>
                  </a:extLst>
                </a:gridCol>
              </a:tblGrid>
              <a:tr h="561975">
                <a:tc>
                  <a:txBody>
                    <a:bodyPr/>
                    <a:lstStyle/>
                    <a:p>
                      <a:r>
                        <a:rPr sz="1725" b="1">
                          <a:solidFill>
                            <a:srgbClr val="FFFFFF"/>
                          </a:solidFill>
                          <a:latin typeface="DejaVu Sans"/>
                          <a:ea typeface="DejaVu Sans"/>
                          <a:cs typeface="DejaVu Sans"/>
                        </a:rPr>
                        <a:t>Krok</a:t>
                      </a:r>
                    </a:p>
                  </a:txBody>
                  <a:tcPr>
                    <a:solidFill>
                      <a:srgbClr val="182C3B"/>
                    </a:solidFill>
                  </a:tcPr>
                </a:tc>
                <a:tc>
                  <a:txBody>
                    <a:bodyPr/>
                    <a:lstStyle/>
                    <a:p>
                      <a:r>
                        <a:rPr sz="1725" b="1">
                          <a:solidFill>
                            <a:srgbClr val="FFFFFF"/>
                          </a:solidFill>
                          <a:latin typeface="DejaVu Sans"/>
                          <a:ea typeface="DejaVu Sans"/>
                          <a:cs typeface="DejaVu Sans"/>
                        </a:rPr>
                        <a:t>Sesja</a:t>
                      </a:r>
                    </a:p>
                  </a:txBody>
                  <a:tcPr>
                    <a:solidFill>
                      <a:srgbClr val="182C3B"/>
                    </a:solidFill>
                  </a:tcPr>
                </a:tc>
                <a:tc>
                  <a:txBody>
                    <a:bodyPr/>
                    <a:lstStyle/>
                    <a:p>
                      <a:r>
                        <a:rPr sz="1725" b="1">
                          <a:solidFill>
                            <a:srgbClr val="FFFFFF"/>
                          </a:solidFill>
                          <a:latin typeface="DejaVu Sans"/>
                          <a:ea typeface="DejaVu Sans"/>
                          <a:cs typeface="DejaVu Sans"/>
                        </a:rPr>
                        <a:t>Polecenie / działanie</a:t>
                      </a:r>
                    </a:p>
                  </a:txBody>
                  <a:tcPr>
                    <a:solidFill>
                      <a:srgbClr val="182C3B"/>
                    </a:solidFill>
                  </a:tcPr>
                </a:tc>
                <a:tc>
                  <a:txBody>
                    <a:bodyPr/>
                    <a:lstStyle/>
                    <a:p>
                      <a:r>
                        <a:rPr sz="1725" b="1">
                          <a:solidFill>
                            <a:srgbClr val="FFFFFF"/>
                          </a:solidFill>
                          <a:latin typeface="DejaVu Sans"/>
                          <a:ea typeface="DejaVu Sans"/>
                          <a:cs typeface="DejaVu Sans"/>
                        </a:rPr>
                        <a:t>Efekt</a:t>
                      </a:r>
                    </a:p>
                  </a:txBody>
                  <a:tcPr>
                    <a:solidFill>
                      <a:srgbClr val="182C3B"/>
                    </a:solidFill>
                  </a:tcPr>
                </a:tc>
                <a:extLst>
                  <a:ext uri="{0D108BD9-81ED-4DB2-BD59-A6C34878D82A}">
                    <a16:rowId xmlns:a16="http://schemas.microsoft.com/office/drawing/2014/main" val="10000"/>
                  </a:ext>
                </a:extLst>
              </a:tr>
              <a:tr h="561975">
                <a:tc>
                  <a:txBody>
                    <a:bodyPr/>
                    <a:lstStyle/>
                    <a:p>
                      <a:r>
                        <a:rPr sz="1725" b="0">
                          <a:solidFill>
                            <a:srgbClr val="182C3B"/>
                          </a:solidFill>
                          <a:latin typeface="DejaVu Sans"/>
                          <a:ea typeface="DejaVu Sans"/>
                          <a:cs typeface="DejaVu Sans"/>
                        </a:rPr>
                        <a:t>1</a:t>
                      </a:r>
                    </a:p>
                  </a:txBody>
                  <a:tcPr>
                    <a:solidFill>
                      <a:srgbClr val="FFFFFF"/>
                    </a:solidFill>
                  </a:tcPr>
                </a:tc>
                <a:tc>
                  <a:txBody>
                    <a:bodyPr/>
                    <a:lstStyle/>
                    <a:p>
                      <a:r>
                        <a:rPr sz="1725" b="0">
                          <a:solidFill>
                            <a:srgbClr val="182C3B"/>
                          </a:solidFill>
                          <a:latin typeface="DejaVu Sans"/>
                          <a:ea typeface="DejaVu Sans"/>
                          <a:cs typeface="DejaVu Sans"/>
                        </a:rPr>
                        <a:t>A</a:t>
                      </a:r>
                    </a:p>
                  </a:txBody>
                  <a:tcPr>
                    <a:solidFill>
                      <a:srgbClr val="FFFFFF"/>
                    </a:solidFill>
                  </a:tcPr>
                </a:tc>
                <a:tc>
                  <a:txBody>
                    <a:bodyPr/>
                    <a:lstStyle/>
                    <a:p>
                      <a:r>
                        <a:rPr sz="1725" b="0">
                          <a:solidFill>
                            <a:srgbClr val="182C3B"/>
                          </a:solidFill>
                          <a:latin typeface="DejaVu Sans"/>
                          <a:ea typeface="DejaVu Sans"/>
                          <a:cs typeface="DejaVu Sans"/>
                        </a:rPr>
                        <a:t>UPDATE produktu 1</a:t>
                      </a:r>
                    </a:p>
                  </a:txBody>
                  <a:tcPr>
                    <a:solidFill>
                      <a:srgbClr val="FFFFFF"/>
                    </a:solidFill>
                  </a:tcPr>
                </a:tc>
                <a:tc>
                  <a:txBody>
                    <a:bodyPr/>
                    <a:lstStyle/>
                    <a:p>
                      <a:r>
                        <a:rPr sz="1725" b="0">
                          <a:solidFill>
                            <a:srgbClr val="182C3B"/>
                          </a:solidFill>
                          <a:latin typeface="DejaVu Sans"/>
                          <a:ea typeface="DejaVu Sans"/>
                          <a:cs typeface="DejaVu Sans"/>
                        </a:rPr>
                        <a:t>A trzyma wiersz 1</a:t>
                      </a:r>
                    </a:p>
                  </a:txBody>
                  <a:tcPr>
                    <a:solidFill>
                      <a:srgbClr val="FFFFFF"/>
                    </a:solidFill>
                  </a:tcPr>
                </a:tc>
                <a:extLst>
                  <a:ext uri="{0D108BD9-81ED-4DB2-BD59-A6C34878D82A}">
                    <a16:rowId xmlns:a16="http://schemas.microsoft.com/office/drawing/2014/main" val="10001"/>
                  </a:ext>
                </a:extLst>
              </a:tr>
              <a:tr h="561975">
                <a:tc>
                  <a:txBody>
                    <a:bodyPr/>
                    <a:lstStyle/>
                    <a:p>
                      <a:r>
                        <a:rPr sz="1725" b="0">
                          <a:solidFill>
                            <a:srgbClr val="182C3B"/>
                          </a:solidFill>
                          <a:latin typeface="DejaVu Sans"/>
                          <a:ea typeface="DejaVu Sans"/>
                          <a:cs typeface="DejaVu Sans"/>
                        </a:rPr>
                        <a:t>2</a:t>
                      </a:r>
                    </a:p>
                  </a:txBody>
                  <a:tcPr>
                    <a:solidFill>
                      <a:srgbClr val="EDF3F6"/>
                    </a:solidFill>
                  </a:tcPr>
                </a:tc>
                <a:tc>
                  <a:txBody>
                    <a:bodyPr/>
                    <a:lstStyle/>
                    <a:p>
                      <a:r>
                        <a:rPr sz="1725" b="0">
                          <a:solidFill>
                            <a:srgbClr val="182C3B"/>
                          </a:solidFill>
                          <a:latin typeface="DejaVu Sans"/>
                          <a:ea typeface="DejaVu Sans"/>
                          <a:cs typeface="DejaVu Sans"/>
                        </a:rPr>
                        <a:t>B</a:t>
                      </a:r>
                    </a:p>
                  </a:txBody>
                  <a:tcPr>
                    <a:solidFill>
                      <a:srgbClr val="EDF3F6"/>
                    </a:solidFill>
                  </a:tcPr>
                </a:tc>
                <a:tc>
                  <a:txBody>
                    <a:bodyPr/>
                    <a:lstStyle/>
                    <a:p>
                      <a:r>
                        <a:rPr sz="1725" b="0">
                          <a:solidFill>
                            <a:srgbClr val="182C3B"/>
                          </a:solidFill>
                          <a:latin typeface="DejaVu Sans"/>
                          <a:ea typeface="DejaVu Sans"/>
                          <a:cs typeface="DejaVu Sans"/>
                        </a:rPr>
                        <a:t>UPDATE produktu 2</a:t>
                      </a:r>
                    </a:p>
                  </a:txBody>
                  <a:tcPr>
                    <a:solidFill>
                      <a:srgbClr val="EDF3F6"/>
                    </a:solidFill>
                  </a:tcPr>
                </a:tc>
                <a:tc>
                  <a:txBody>
                    <a:bodyPr/>
                    <a:lstStyle/>
                    <a:p>
                      <a:r>
                        <a:rPr sz="1725" b="0">
                          <a:solidFill>
                            <a:srgbClr val="182C3B"/>
                          </a:solidFill>
                          <a:latin typeface="DejaVu Sans"/>
                          <a:ea typeface="DejaVu Sans"/>
                          <a:cs typeface="DejaVu Sans"/>
                        </a:rPr>
                        <a:t>B trzyma wiersz 2</a:t>
                      </a:r>
                    </a:p>
                  </a:txBody>
                  <a:tcPr>
                    <a:solidFill>
                      <a:srgbClr val="EDF3F6"/>
                    </a:solidFill>
                  </a:tcPr>
                </a:tc>
                <a:extLst>
                  <a:ext uri="{0D108BD9-81ED-4DB2-BD59-A6C34878D82A}">
                    <a16:rowId xmlns:a16="http://schemas.microsoft.com/office/drawing/2014/main" val="10002"/>
                  </a:ext>
                </a:extLst>
              </a:tr>
              <a:tr h="561975">
                <a:tc>
                  <a:txBody>
                    <a:bodyPr/>
                    <a:lstStyle/>
                    <a:p>
                      <a:r>
                        <a:rPr sz="1725" b="0">
                          <a:solidFill>
                            <a:srgbClr val="182C3B"/>
                          </a:solidFill>
                          <a:latin typeface="DejaVu Sans"/>
                          <a:ea typeface="DejaVu Sans"/>
                          <a:cs typeface="DejaVu Sans"/>
                        </a:rPr>
                        <a:t>3</a:t>
                      </a:r>
                    </a:p>
                  </a:txBody>
                  <a:tcPr>
                    <a:solidFill>
                      <a:srgbClr val="FFFFFF"/>
                    </a:solidFill>
                  </a:tcPr>
                </a:tc>
                <a:tc>
                  <a:txBody>
                    <a:bodyPr/>
                    <a:lstStyle/>
                    <a:p>
                      <a:r>
                        <a:rPr sz="1725" b="0">
                          <a:solidFill>
                            <a:srgbClr val="182C3B"/>
                          </a:solidFill>
                          <a:latin typeface="DejaVu Sans"/>
                          <a:ea typeface="DejaVu Sans"/>
                          <a:cs typeface="DejaVu Sans"/>
                        </a:rPr>
                        <a:t>A</a:t>
                      </a:r>
                    </a:p>
                  </a:txBody>
                  <a:tcPr>
                    <a:solidFill>
                      <a:srgbClr val="FFFFFF"/>
                    </a:solidFill>
                  </a:tcPr>
                </a:tc>
                <a:tc>
                  <a:txBody>
                    <a:bodyPr/>
                    <a:lstStyle/>
                    <a:p>
                      <a:r>
                        <a:rPr sz="1725" b="0">
                          <a:solidFill>
                            <a:srgbClr val="182C3B"/>
                          </a:solidFill>
                          <a:latin typeface="DejaVu Sans"/>
                          <a:ea typeface="DejaVu Sans"/>
                          <a:cs typeface="DejaVu Sans"/>
                        </a:rPr>
                        <a:t>UPDATE produktu 2</a:t>
                      </a:r>
                    </a:p>
                  </a:txBody>
                  <a:tcPr>
                    <a:solidFill>
                      <a:srgbClr val="FFFFFF"/>
                    </a:solidFill>
                  </a:tcPr>
                </a:tc>
                <a:tc>
                  <a:txBody>
                    <a:bodyPr/>
                    <a:lstStyle/>
                    <a:p>
                      <a:r>
                        <a:rPr sz="1725" b="0">
                          <a:solidFill>
                            <a:srgbClr val="182C3B"/>
                          </a:solidFill>
                          <a:latin typeface="DejaVu Sans"/>
                          <a:ea typeface="DejaVu Sans"/>
                          <a:cs typeface="DejaVu Sans"/>
                        </a:rPr>
                        <a:t>A czeka na B</a:t>
                      </a:r>
                    </a:p>
                  </a:txBody>
                  <a:tcPr>
                    <a:solidFill>
                      <a:srgbClr val="FFFFFF"/>
                    </a:solidFill>
                  </a:tcPr>
                </a:tc>
                <a:extLst>
                  <a:ext uri="{0D108BD9-81ED-4DB2-BD59-A6C34878D82A}">
                    <a16:rowId xmlns:a16="http://schemas.microsoft.com/office/drawing/2014/main" val="10003"/>
                  </a:ext>
                </a:extLst>
              </a:tr>
              <a:tr h="561975">
                <a:tc>
                  <a:txBody>
                    <a:bodyPr/>
                    <a:lstStyle/>
                    <a:p>
                      <a:r>
                        <a:rPr sz="1725" b="0">
                          <a:solidFill>
                            <a:srgbClr val="182C3B"/>
                          </a:solidFill>
                          <a:latin typeface="DejaVu Sans"/>
                          <a:ea typeface="DejaVu Sans"/>
                          <a:cs typeface="DejaVu Sans"/>
                        </a:rPr>
                        <a:t>4</a:t>
                      </a:r>
                    </a:p>
                  </a:txBody>
                  <a:tcPr>
                    <a:solidFill>
                      <a:srgbClr val="EDF3F6"/>
                    </a:solidFill>
                  </a:tcPr>
                </a:tc>
                <a:tc>
                  <a:txBody>
                    <a:bodyPr/>
                    <a:lstStyle/>
                    <a:p>
                      <a:r>
                        <a:rPr sz="1725" b="0">
                          <a:solidFill>
                            <a:srgbClr val="182C3B"/>
                          </a:solidFill>
                          <a:latin typeface="DejaVu Sans"/>
                          <a:ea typeface="DejaVu Sans"/>
                          <a:cs typeface="DejaVu Sans"/>
                        </a:rPr>
                        <a:t>B</a:t>
                      </a:r>
                    </a:p>
                  </a:txBody>
                  <a:tcPr>
                    <a:solidFill>
                      <a:srgbClr val="EDF3F6"/>
                    </a:solidFill>
                  </a:tcPr>
                </a:tc>
                <a:tc>
                  <a:txBody>
                    <a:bodyPr/>
                    <a:lstStyle/>
                    <a:p>
                      <a:r>
                        <a:rPr sz="1725" b="0">
                          <a:solidFill>
                            <a:srgbClr val="182C3B"/>
                          </a:solidFill>
                          <a:latin typeface="DejaVu Sans"/>
                          <a:ea typeface="DejaVu Sans"/>
                          <a:cs typeface="DejaVu Sans"/>
                        </a:rPr>
                        <a:t>UPDATE produktu 1</a:t>
                      </a:r>
                    </a:p>
                  </a:txBody>
                  <a:tcPr>
                    <a:solidFill>
                      <a:srgbClr val="EDF3F6"/>
                    </a:solidFill>
                  </a:tcPr>
                </a:tc>
                <a:tc>
                  <a:txBody>
                    <a:bodyPr/>
                    <a:lstStyle/>
                    <a:p>
                      <a:r>
                        <a:rPr sz="1725" b="0">
                          <a:solidFill>
                            <a:srgbClr val="182C3B"/>
                          </a:solidFill>
                          <a:latin typeface="DejaVu Sans"/>
                          <a:ea typeface="DejaVu Sans"/>
                          <a:cs typeface="DejaVu Sans"/>
                        </a:rPr>
                        <a:t>B czeka na A</a:t>
                      </a:r>
                    </a:p>
                  </a:txBody>
                  <a:tcPr>
                    <a:solidFill>
                      <a:srgbClr val="EDF3F6"/>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000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00000018-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24</a:t>
            </a:r>
          </a:p>
        </p:txBody>
      </p:sp>
      <p:sp>
        <p:nvSpPr>
          <p:cNvPr id="2" name="Prostokąt 1">
            <a:extLst>
              <a:ext uri="{FF2B5EF4-FFF2-40B4-BE49-F238E27FC236}">
                <a16:creationId xmlns:a16="http://schemas.microsoft.com/office/drawing/2014/main" id="{00000018-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Diagnostyka: kto kogo blokuje</a:t>
            </a:r>
          </a:p>
        </p:txBody>
      </p:sp>
      <p:sp>
        <p:nvSpPr>
          <p:cNvPr id="3" name="Prostokąt 2">
            <a:extLst>
              <a:ext uri="{FF2B5EF4-FFF2-40B4-BE49-F238E27FC236}">
                <a16:creationId xmlns:a16="http://schemas.microsoft.com/office/drawing/2014/main" id="{00000018-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pg_blocking_pids() uwzględnia także sesje blokujące przez kolejkę. W idle in transaction pole query pokazuje ostatnie zapytanie.</a:t>
            </a:r>
          </a:p>
        </p:txBody>
      </p:sp>
      <p:sp>
        <p:nvSpPr>
          <p:cNvPr id="4" name="Prostokąt 3">
            <a:extLst>
              <a:ext uri="{FF2B5EF4-FFF2-40B4-BE49-F238E27FC236}">
                <a16:creationId xmlns:a16="http://schemas.microsoft.com/office/drawing/2014/main" id="{00000018-0004-4000-8000-000000000000}"/>
              </a:ext>
            </a:extLst>
          </p:cNvPr>
          <p:cNvSpPr>
            <a:spLocks noGrp="1"/>
          </p:cNvSpPr>
          <p:nvPr/>
        </p:nvSpPr>
        <p:spPr>
          <a:xfrm>
            <a:off x="609600" y="2000250"/>
            <a:ext cx="10972800" cy="2952750"/>
          </a:xfrm>
          <a:prstGeom prst="rect">
            <a:avLst/>
          </a:prstGeom>
          <a:noFill/>
          <a:ln w="0">
            <a:noFill/>
          </a:ln>
        </p:spPr>
        <p:txBody>
          <a:bodyPr>
            <a:noAutofit/>
          </a:bodyPr>
          <a:lstStyle/>
          <a:p>
            <a:pPr>
              <a:defRPr sz="2025" b="0">
                <a:solidFill>
                  <a:srgbClr val="182C3B"/>
                </a:solidFill>
                <a:latin typeface="DejaVu Sans Mono"/>
                <a:ea typeface="DejaVu Sans Mono"/>
                <a:cs typeface="DejaVu Sans Mono"/>
              </a:defRPr>
            </a:pPr>
            <a:r>
              <a:rPr sz="2025" b="0">
                <a:solidFill>
                  <a:srgbClr val="182C3B"/>
                </a:solidFill>
                <a:latin typeface="DejaVu Sans Mono"/>
                <a:ea typeface="DejaVu Sans Mono"/>
                <a:cs typeface="DejaVu Sans Mono"/>
              </a:rPr>
              <a:t>SELECT a.pid, pg_blocking_pids(a.pid) AS blokowany_przez,</a:t>
            </a:r>
          </a:p>
          <a:p>
            <a:pPr>
              <a:defRPr sz="2025" b="0">
                <a:solidFill>
                  <a:srgbClr val="182C3B"/>
                </a:solidFill>
                <a:latin typeface="DejaVu Sans Mono"/>
                <a:ea typeface="DejaVu Sans Mono"/>
                <a:cs typeface="DejaVu Sans Mono"/>
              </a:defRPr>
            </a:pPr>
            <a:r>
              <a:rPr sz="2025" b="0">
                <a:solidFill>
                  <a:srgbClr val="182C3B"/>
                </a:solidFill>
                <a:latin typeface="DejaVu Sans Mono"/>
                <a:ea typeface="DejaVu Sans Mono"/>
                <a:cs typeface="DejaVu Sans Mono"/>
              </a:rPr>
              <a:t>       a.wait_event_type, a.wait_event, a.state,</a:t>
            </a:r>
          </a:p>
          <a:p>
            <a:pPr>
              <a:defRPr sz="2025" b="0">
                <a:solidFill>
                  <a:srgbClr val="182C3B"/>
                </a:solidFill>
                <a:latin typeface="DejaVu Sans Mono"/>
                <a:ea typeface="DejaVu Sans Mono"/>
                <a:cs typeface="DejaVu Sans Mono"/>
              </a:defRPr>
            </a:pPr>
            <a:r>
              <a:rPr sz="2025" b="0">
                <a:solidFill>
                  <a:srgbClr val="182C3B"/>
                </a:solidFill>
                <a:latin typeface="DejaVu Sans Mono"/>
                <a:ea typeface="DejaVu Sans Mono"/>
                <a:cs typeface="DejaVu Sans Mono"/>
              </a:rPr>
              <a:t>       now() - a.xact_start AS czas_transakcji,</a:t>
            </a:r>
          </a:p>
          <a:p>
            <a:pPr>
              <a:defRPr sz="2025" b="0">
                <a:solidFill>
                  <a:srgbClr val="182C3B"/>
                </a:solidFill>
                <a:latin typeface="DejaVu Sans Mono"/>
                <a:ea typeface="DejaVu Sans Mono"/>
                <a:cs typeface="DejaVu Sans Mono"/>
              </a:defRPr>
            </a:pPr>
            <a:r>
              <a:rPr sz="2025" b="0">
                <a:solidFill>
                  <a:srgbClr val="182C3B"/>
                </a:solidFill>
                <a:latin typeface="DejaVu Sans Mono"/>
                <a:ea typeface="DejaVu Sans Mono"/>
                <a:cs typeface="DejaVu Sans Mono"/>
              </a:rPr>
              <a:t>       left(a.query, 60) AS zapytanie</a:t>
            </a:r>
          </a:p>
          <a:p>
            <a:pPr>
              <a:defRPr sz="2025" b="0">
                <a:solidFill>
                  <a:srgbClr val="182C3B"/>
                </a:solidFill>
                <a:latin typeface="DejaVu Sans Mono"/>
                <a:ea typeface="DejaVu Sans Mono"/>
                <a:cs typeface="DejaVu Sans Mono"/>
              </a:defRPr>
            </a:pPr>
            <a:r>
              <a:rPr sz="2025" b="0">
                <a:solidFill>
                  <a:srgbClr val="182C3B"/>
                </a:solidFill>
                <a:latin typeface="DejaVu Sans Mono"/>
                <a:ea typeface="DejaVu Sans Mono"/>
                <a:cs typeface="DejaVu Sans Mono"/>
              </a:rPr>
              <a:t>FROM pg_stat_activity a</a:t>
            </a:r>
          </a:p>
          <a:p>
            <a:pPr>
              <a:defRPr sz="2025" b="0">
                <a:solidFill>
                  <a:srgbClr val="182C3B"/>
                </a:solidFill>
                <a:latin typeface="DejaVu Sans Mono"/>
                <a:ea typeface="DejaVu Sans Mono"/>
                <a:cs typeface="DejaVu Sans Mono"/>
              </a:defRPr>
            </a:pPr>
            <a:r>
              <a:rPr sz="2025" b="0">
                <a:solidFill>
                  <a:srgbClr val="182C3B"/>
                </a:solidFill>
                <a:latin typeface="DejaVu Sans Mono"/>
                <a:ea typeface="DejaVu Sans Mono"/>
                <a:cs typeface="DejaVu Sans Mono"/>
              </a:rPr>
              <a:t>WHERE cardinality(pg_blocking_pids(a.pid)) &gt; 0;</a:t>
            </a:r>
          </a:p>
        </p:txBody>
      </p:sp>
    </p:spTree>
    <p:extLst>
      <p:ext uri="{BB962C8B-B14F-4D97-AF65-F5344CB8AC3E}">
        <p14:creationId xmlns:p14="http://schemas.microsoft.com/office/powerpoint/2010/main" val="24000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rostokąt 9">
            <a:extLst>
              <a:ext uri="{FF2B5EF4-FFF2-40B4-BE49-F238E27FC236}">
                <a16:creationId xmlns:a16="http://schemas.microsoft.com/office/drawing/2014/main" id="{00000019-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25</a:t>
            </a:r>
          </a:p>
        </p:txBody>
      </p:sp>
      <p:sp>
        <p:nvSpPr>
          <p:cNvPr id="2" name="Prostokąt 1">
            <a:extLst>
              <a:ext uri="{FF2B5EF4-FFF2-40B4-BE49-F238E27FC236}">
                <a16:creationId xmlns:a16="http://schemas.microsoft.com/office/drawing/2014/main" id="{00000019-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Reakcja na blokującą sesję</a:t>
            </a:r>
          </a:p>
        </p:txBody>
      </p:sp>
      <p:sp>
        <p:nvSpPr>
          <p:cNvPr id="3" name="Prostokąt 2">
            <a:extLst>
              <a:ext uri="{FF2B5EF4-FFF2-40B4-BE49-F238E27FC236}">
                <a16:creationId xmlns:a16="http://schemas.microsoft.com/office/drawing/2014/main" id="{00000019-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Najpierw ustal źródło łańcucha i właściciela sesji. Oceń skutki biznesowe przed przerwaniem pracy.</a:t>
            </a:r>
          </a:p>
        </p:txBody>
      </p:sp>
      <p:sp>
        <p:nvSpPr>
          <p:cNvPr id="4" name="Prostokąt 3">
            <a:extLst>
              <a:ext uri="{FF2B5EF4-FFF2-40B4-BE49-F238E27FC236}">
                <a16:creationId xmlns:a16="http://schemas.microsoft.com/office/drawing/2014/main" id="{00000019-0004-4000-8000-000000000000}"/>
              </a:ext>
            </a:extLst>
          </p:cNvPr>
          <p:cNvSpPr>
            <a:spLocks noGrp="1"/>
          </p:cNvSpPr>
          <p:nvPr/>
        </p:nvSpPr>
        <p:spPr>
          <a:xfrm>
            <a:off x="609600" y="1752600"/>
            <a:ext cx="5191125" cy="666750"/>
          </a:xfrm>
          <a:prstGeom prst="rect">
            <a:avLst/>
          </a:prstGeom>
          <a:noFill/>
          <a:ln w="0">
            <a:noFill/>
          </a:ln>
        </p:spPr>
        <p:txBody>
          <a:bodyPr>
            <a:noAutofit/>
          </a:bodyPr>
          <a:lstStyle/>
          <a:p>
            <a:pPr>
              <a:defRPr sz="2400" b="1">
                <a:solidFill>
                  <a:srgbClr val="176A88"/>
                </a:solidFill>
                <a:latin typeface="DejaVu Sans"/>
                <a:ea typeface="DejaVu Sans"/>
                <a:cs typeface="DejaVu Sans"/>
              </a:defRPr>
            </a:pPr>
            <a:r>
              <a:rPr sz="2400" b="1">
                <a:solidFill>
                  <a:srgbClr val="176A88"/>
                </a:solidFill>
                <a:latin typeface="DejaVu Sans"/>
                <a:ea typeface="DejaVu Sans"/>
                <a:cs typeface="DejaVu Sans"/>
              </a:rPr>
              <a:t>pg_cancel_backend(pid)</a:t>
            </a:r>
          </a:p>
        </p:txBody>
      </p:sp>
      <p:sp>
        <p:nvSpPr>
          <p:cNvPr id="5" name="Prostokąt 4">
            <a:extLst>
              <a:ext uri="{FF2B5EF4-FFF2-40B4-BE49-F238E27FC236}">
                <a16:creationId xmlns:a16="http://schemas.microsoft.com/office/drawing/2014/main" id="{00000019-0005-4000-8000-000000000000}"/>
              </a:ext>
            </a:extLst>
          </p:cNvPr>
          <p:cNvSpPr>
            <a:spLocks noGrp="1"/>
          </p:cNvSpPr>
          <p:nvPr/>
        </p:nvSpPr>
        <p:spPr>
          <a:xfrm>
            <a:off x="609600" y="2562225"/>
            <a:ext cx="5191125" cy="1400175"/>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Przerywa bieżące zapytanie.</a:t>
            </a:r>
          </a:p>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Połączenie pozostaje otwarte.</a:t>
            </a:r>
          </a:p>
        </p:txBody>
      </p:sp>
      <p:sp>
        <p:nvSpPr>
          <p:cNvPr id="6" name="Prostokąt 5">
            <a:extLst>
              <a:ext uri="{FF2B5EF4-FFF2-40B4-BE49-F238E27FC236}">
                <a16:creationId xmlns:a16="http://schemas.microsoft.com/office/drawing/2014/main" id="{00000019-0006-4000-8000-000000000000}"/>
              </a:ext>
            </a:extLst>
          </p:cNvPr>
          <p:cNvSpPr>
            <a:spLocks noGrp="1"/>
          </p:cNvSpPr>
          <p:nvPr/>
        </p:nvSpPr>
        <p:spPr>
          <a:xfrm>
            <a:off x="609600" y="4105275"/>
            <a:ext cx="5191125" cy="1276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Przydatne dla aktywnego, długiego polecenia. Potem sprawdź stan transakcji i blokad.</a:t>
            </a:r>
          </a:p>
        </p:txBody>
      </p:sp>
      <p:sp>
        <p:nvSpPr>
          <p:cNvPr id="7" name="Prostokąt 6">
            <a:extLst>
              <a:ext uri="{FF2B5EF4-FFF2-40B4-BE49-F238E27FC236}">
                <a16:creationId xmlns:a16="http://schemas.microsoft.com/office/drawing/2014/main" id="{00000019-0007-4000-8000-000000000000}"/>
              </a:ext>
            </a:extLst>
          </p:cNvPr>
          <p:cNvSpPr>
            <a:spLocks noGrp="1"/>
          </p:cNvSpPr>
          <p:nvPr/>
        </p:nvSpPr>
        <p:spPr>
          <a:xfrm>
            <a:off x="6324600" y="1752600"/>
            <a:ext cx="5191125" cy="666750"/>
          </a:xfrm>
          <a:prstGeom prst="rect">
            <a:avLst/>
          </a:prstGeom>
          <a:noFill/>
          <a:ln w="0">
            <a:noFill/>
          </a:ln>
        </p:spPr>
        <p:txBody>
          <a:bodyPr>
            <a:noAutofit/>
          </a:bodyPr>
          <a:lstStyle/>
          <a:p>
            <a:pPr>
              <a:defRPr sz="2400" b="1">
                <a:solidFill>
                  <a:srgbClr val="176A88"/>
                </a:solidFill>
                <a:latin typeface="DejaVu Sans"/>
                <a:ea typeface="DejaVu Sans"/>
                <a:cs typeface="DejaVu Sans"/>
              </a:defRPr>
            </a:pPr>
            <a:r>
              <a:rPr sz="2400" b="1">
                <a:solidFill>
                  <a:srgbClr val="176A88"/>
                </a:solidFill>
                <a:latin typeface="DejaVu Sans"/>
                <a:ea typeface="DejaVu Sans"/>
                <a:cs typeface="DejaVu Sans"/>
              </a:rPr>
              <a:t>pg_terminate_backend(pid)</a:t>
            </a:r>
          </a:p>
        </p:txBody>
      </p:sp>
      <p:sp>
        <p:nvSpPr>
          <p:cNvPr id="8" name="Prostokąt 7">
            <a:extLst>
              <a:ext uri="{FF2B5EF4-FFF2-40B4-BE49-F238E27FC236}">
                <a16:creationId xmlns:a16="http://schemas.microsoft.com/office/drawing/2014/main" id="{00000019-0008-4000-8000-000000000000}"/>
              </a:ext>
            </a:extLst>
          </p:cNvPr>
          <p:cNvSpPr>
            <a:spLocks noGrp="1"/>
          </p:cNvSpPr>
          <p:nvPr/>
        </p:nvSpPr>
        <p:spPr>
          <a:xfrm>
            <a:off x="6324600" y="2562225"/>
            <a:ext cx="5191125" cy="1400175"/>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Zamyka sesję i wycofuje jej transakcję.</a:t>
            </a:r>
          </a:p>
        </p:txBody>
      </p:sp>
      <p:sp>
        <p:nvSpPr>
          <p:cNvPr id="9" name="Prostokąt 8">
            <a:extLst>
              <a:ext uri="{FF2B5EF4-FFF2-40B4-BE49-F238E27FC236}">
                <a16:creationId xmlns:a16="http://schemas.microsoft.com/office/drawing/2014/main" id="{00000019-0009-4000-8000-000000000000}"/>
              </a:ext>
            </a:extLst>
          </p:cNvPr>
          <p:cNvSpPr>
            <a:spLocks noGrp="1"/>
          </p:cNvSpPr>
          <p:nvPr/>
        </p:nvSpPr>
        <p:spPr>
          <a:xfrm>
            <a:off x="6324600" y="4105275"/>
            <a:ext cx="5191125" cy="1276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Przydatne dla blokującej sesji idle in transaction, w której nie ma aktywnego zapytania do anulowania.</a:t>
            </a:r>
          </a:p>
        </p:txBody>
      </p:sp>
    </p:spTree>
    <p:extLst>
      <p:ext uri="{BB962C8B-B14F-4D97-AF65-F5344CB8AC3E}">
        <p14:creationId xmlns:p14="http://schemas.microsoft.com/office/powerpoint/2010/main" val="2500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0000001A-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26</a:t>
            </a:r>
          </a:p>
        </p:txBody>
      </p:sp>
      <p:sp>
        <p:nvSpPr>
          <p:cNvPr id="2" name="Prostokąt 1">
            <a:extLst>
              <a:ext uri="{FF2B5EF4-FFF2-40B4-BE49-F238E27FC236}">
                <a16:creationId xmlns:a16="http://schemas.microsoft.com/office/drawing/2014/main" id="{0000001A-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Parametry i limity oczekiwania</a:t>
            </a:r>
          </a:p>
        </p:txBody>
      </p:sp>
      <p:graphicFrame>
        <p:nvGraphicFramePr>
          <p:cNvPr id="3" name="Tabela 2"/>
          <p:cNvGraphicFramePr/>
          <p:nvPr/>
        </p:nvGraphicFramePr>
        <p:xfrm>
          <a:off x="609600" y="1552575"/>
          <a:ext cx="10972800" cy="3817620"/>
        </p:xfrm>
        <a:graphic>
          <a:graphicData uri="http://schemas.openxmlformats.org/drawingml/2006/table">
            <a:tbl>
              <a:tblPr/>
              <a:tblGrid>
                <a:gridCol w="5143500">
                  <a:extLst>
                    <a:ext uri="{9D8B030D-6E8A-4147-A177-3AD203B41FA5}">
                      <a16:colId xmlns:a16="http://schemas.microsoft.com/office/drawing/2014/main" val="20000"/>
                    </a:ext>
                  </a:extLst>
                </a:gridCol>
                <a:gridCol w="5829300">
                  <a:extLst>
                    <a:ext uri="{9D8B030D-6E8A-4147-A177-3AD203B41FA5}">
                      <a16:colId xmlns:a16="http://schemas.microsoft.com/office/drawing/2014/main" val="20001"/>
                    </a:ext>
                  </a:extLst>
                </a:gridCol>
              </a:tblGrid>
              <a:tr h="533400">
                <a:tc>
                  <a:txBody>
                    <a:bodyPr/>
                    <a:lstStyle/>
                    <a:p>
                      <a:r>
                        <a:rPr sz="1725" b="1">
                          <a:solidFill>
                            <a:srgbClr val="FFFFFF"/>
                          </a:solidFill>
                          <a:latin typeface="DejaVu Sans"/>
                          <a:ea typeface="DejaVu Sans"/>
                          <a:cs typeface="DejaVu Sans"/>
                        </a:rPr>
                        <a:t>Parametr</a:t>
                      </a:r>
                    </a:p>
                  </a:txBody>
                  <a:tcPr>
                    <a:solidFill>
                      <a:srgbClr val="182C3B"/>
                    </a:solidFill>
                  </a:tcPr>
                </a:tc>
                <a:tc>
                  <a:txBody>
                    <a:bodyPr/>
                    <a:lstStyle/>
                    <a:p>
                      <a:r>
                        <a:rPr sz="1725" b="1">
                          <a:solidFill>
                            <a:srgbClr val="FFFFFF"/>
                          </a:solidFill>
                          <a:latin typeface="DejaVu Sans"/>
                          <a:ea typeface="DejaVu Sans"/>
                          <a:cs typeface="DejaVu Sans"/>
                        </a:rPr>
                        <a:t>Znaczenie</a:t>
                      </a:r>
                    </a:p>
                  </a:txBody>
                  <a:tcPr>
                    <a:solidFill>
                      <a:srgbClr val="182C3B"/>
                    </a:solidFill>
                  </a:tcPr>
                </a:tc>
                <a:extLst>
                  <a:ext uri="{0D108BD9-81ED-4DB2-BD59-A6C34878D82A}">
                    <a16:rowId xmlns:a16="http://schemas.microsoft.com/office/drawing/2014/main" val="10000"/>
                  </a:ext>
                </a:extLst>
              </a:tr>
              <a:tr h="533400">
                <a:tc>
                  <a:txBody>
                    <a:bodyPr/>
                    <a:lstStyle/>
                    <a:p>
                      <a:r>
                        <a:rPr sz="1725" b="0">
                          <a:solidFill>
                            <a:srgbClr val="182C3B"/>
                          </a:solidFill>
                          <a:latin typeface="DejaVu Sans"/>
                          <a:ea typeface="DejaVu Sans"/>
                          <a:cs typeface="DejaVu Sans"/>
                        </a:rPr>
                        <a:t>lock_timeout</a:t>
                      </a:r>
                    </a:p>
                  </a:txBody>
                  <a:tcPr>
                    <a:solidFill>
                      <a:srgbClr val="FFFFFF"/>
                    </a:solidFill>
                  </a:tcPr>
                </a:tc>
                <a:tc>
                  <a:txBody>
                    <a:bodyPr/>
                    <a:lstStyle/>
                    <a:p>
                      <a:r>
                        <a:rPr sz="1725" b="0">
                          <a:solidFill>
                            <a:srgbClr val="182C3B"/>
                          </a:solidFill>
                          <a:latin typeface="DejaVu Sans"/>
                          <a:ea typeface="DejaVu Sans"/>
                          <a:cs typeface="DejaVu Sans"/>
                        </a:rPr>
                        <a:t>Limit pojedynczego oczekiwania na blokadę</a:t>
                      </a:r>
                    </a:p>
                  </a:txBody>
                  <a:tcPr>
                    <a:solidFill>
                      <a:srgbClr val="FFFFFF"/>
                    </a:solidFill>
                  </a:tcPr>
                </a:tc>
                <a:extLst>
                  <a:ext uri="{0D108BD9-81ED-4DB2-BD59-A6C34878D82A}">
                    <a16:rowId xmlns:a16="http://schemas.microsoft.com/office/drawing/2014/main" val="10001"/>
                  </a:ext>
                </a:extLst>
              </a:tr>
              <a:tr h="533400">
                <a:tc>
                  <a:txBody>
                    <a:bodyPr/>
                    <a:lstStyle/>
                    <a:p>
                      <a:r>
                        <a:rPr sz="1725" b="0">
                          <a:solidFill>
                            <a:srgbClr val="182C3B"/>
                          </a:solidFill>
                          <a:latin typeface="DejaVu Sans"/>
                          <a:ea typeface="DejaVu Sans"/>
                          <a:cs typeface="DejaVu Sans"/>
                        </a:rPr>
                        <a:t>statement_timeout</a:t>
                      </a:r>
                    </a:p>
                  </a:txBody>
                  <a:tcPr>
                    <a:solidFill>
                      <a:srgbClr val="EDF3F6"/>
                    </a:solidFill>
                  </a:tcPr>
                </a:tc>
                <a:tc>
                  <a:txBody>
                    <a:bodyPr/>
                    <a:lstStyle/>
                    <a:p>
                      <a:r>
                        <a:rPr sz="1725" b="0">
                          <a:solidFill>
                            <a:srgbClr val="182C3B"/>
                          </a:solidFill>
                          <a:latin typeface="DejaVu Sans"/>
                          <a:ea typeface="DejaVu Sans"/>
                          <a:cs typeface="DejaVu Sans"/>
                        </a:rPr>
                        <a:t>Limit całego polecenia, także oczekiwania</a:t>
                      </a:r>
                    </a:p>
                  </a:txBody>
                  <a:tcPr>
                    <a:solidFill>
                      <a:srgbClr val="EDF3F6"/>
                    </a:solidFill>
                  </a:tcPr>
                </a:tc>
                <a:extLst>
                  <a:ext uri="{0D108BD9-81ED-4DB2-BD59-A6C34878D82A}">
                    <a16:rowId xmlns:a16="http://schemas.microsoft.com/office/drawing/2014/main" val="10002"/>
                  </a:ext>
                </a:extLst>
              </a:tr>
              <a:tr h="533400">
                <a:tc>
                  <a:txBody>
                    <a:bodyPr/>
                    <a:lstStyle/>
                    <a:p>
                      <a:r>
                        <a:rPr sz="1725" b="0">
                          <a:solidFill>
                            <a:srgbClr val="182C3B"/>
                          </a:solidFill>
                          <a:latin typeface="DejaVu Sans"/>
                          <a:ea typeface="DejaVu Sans"/>
                          <a:cs typeface="DejaVu Sans"/>
                        </a:rPr>
                        <a:t>deadlock_timeout</a:t>
                      </a:r>
                    </a:p>
                  </a:txBody>
                  <a:tcPr>
                    <a:solidFill>
                      <a:srgbClr val="FFFFFF"/>
                    </a:solidFill>
                  </a:tcPr>
                </a:tc>
                <a:tc>
                  <a:txBody>
                    <a:bodyPr/>
                    <a:lstStyle/>
                    <a:p>
                      <a:r>
                        <a:rPr sz="1725" b="0">
                          <a:solidFill>
                            <a:srgbClr val="182C3B"/>
                          </a:solidFill>
                          <a:latin typeface="DejaVu Sans"/>
                          <a:ea typeface="DejaVu Sans"/>
                          <a:cs typeface="DejaVu Sans"/>
                        </a:rPr>
                        <a:t>Próg uruchomienia detektora, domyślnie 1 s</a:t>
                      </a:r>
                    </a:p>
                  </a:txBody>
                  <a:tcPr>
                    <a:solidFill>
                      <a:srgbClr val="FFFFFF"/>
                    </a:solidFill>
                  </a:tcPr>
                </a:tc>
                <a:extLst>
                  <a:ext uri="{0D108BD9-81ED-4DB2-BD59-A6C34878D82A}">
                    <a16:rowId xmlns:a16="http://schemas.microsoft.com/office/drawing/2014/main" val="10003"/>
                  </a:ext>
                </a:extLst>
              </a:tr>
              <a:tr h="533400">
                <a:tc>
                  <a:txBody>
                    <a:bodyPr/>
                    <a:lstStyle/>
                    <a:p>
                      <a:r>
                        <a:rPr sz="1725" b="0">
                          <a:solidFill>
                            <a:srgbClr val="182C3B"/>
                          </a:solidFill>
                          <a:latin typeface="DejaVu Sans"/>
                          <a:ea typeface="DejaVu Sans"/>
                          <a:cs typeface="DejaVu Sans"/>
                        </a:rPr>
                        <a:t>log_lock_waits</a:t>
                      </a:r>
                    </a:p>
                  </a:txBody>
                  <a:tcPr>
                    <a:solidFill>
                      <a:srgbClr val="EDF3F6"/>
                    </a:solidFill>
                  </a:tcPr>
                </a:tc>
                <a:tc>
                  <a:txBody>
                    <a:bodyPr/>
                    <a:lstStyle/>
                    <a:p>
                      <a:r>
                        <a:rPr sz="1725" b="0">
                          <a:solidFill>
                            <a:srgbClr val="182C3B"/>
                          </a:solidFill>
                          <a:latin typeface="DejaVu Sans"/>
                          <a:ea typeface="DejaVu Sans"/>
                          <a:cs typeface="DejaVu Sans"/>
                        </a:rPr>
                        <a:t>Logowanie długiego oczekiwania na blokady</a:t>
                      </a:r>
                    </a:p>
                  </a:txBody>
                  <a:tcPr>
                    <a:solidFill>
                      <a:srgbClr val="EDF3F6"/>
                    </a:solidFill>
                  </a:tcPr>
                </a:tc>
                <a:extLst>
                  <a:ext uri="{0D108BD9-81ED-4DB2-BD59-A6C34878D82A}">
                    <a16:rowId xmlns:a16="http://schemas.microsoft.com/office/drawing/2014/main" val="10004"/>
                  </a:ext>
                </a:extLst>
              </a:tr>
              <a:tr h="533400">
                <a:tc>
                  <a:txBody>
                    <a:bodyPr/>
                    <a:lstStyle/>
                    <a:p>
                      <a:r>
                        <a:rPr sz="1725" b="0">
                          <a:solidFill>
                            <a:srgbClr val="182C3B"/>
                          </a:solidFill>
                          <a:latin typeface="DejaVu Sans"/>
                          <a:ea typeface="DejaVu Sans"/>
                          <a:cs typeface="DejaVu Sans"/>
                        </a:rPr>
                        <a:t>idle_in_transaction_</a:t>
                      </a:r>
                    </a:p>
                    <a:p>
                      <a:r>
                        <a:rPr sz="1725" b="0">
                          <a:solidFill>
                            <a:srgbClr val="182C3B"/>
                          </a:solidFill>
                          <a:latin typeface="DejaVu Sans"/>
                          <a:ea typeface="DejaVu Sans"/>
                          <a:cs typeface="DejaVu Sans"/>
                        </a:rPr>
                        <a:t>session_timeout</a:t>
                      </a:r>
                    </a:p>
                  </a:txBody>
                  <a:tcPr>
                    <a:solidFill>
                      <a:srgbClr val="FFFFFF"/>
                    </a:solidFill>
                  </a:tcPr>
                </a:tc>
                <a:tc>
                  <a:txBody>
                    <a:bodyPr/>
                    <a:lstStyle/>
                    <a:p>
                      <a:r>
                        <a:rPr sz="1725" b="0">
                          <a:solidFill>
                            <a:srgbClr val="182C3B"/>
                          </a:solidFill>
                          <a:latin typeface="DejaVu Sans"/>
                          <a:ea typeface="DejaVu Sans"/>
                          <a:cs typeface="DejaVu Sans"/>
                        </a:rPr>
                        <a:t>Zakończenie bezczynnej sesji w transakcji</a:t>
                      </a:r>
                    </a:p>
                  </a:txBody>
                  <a:tcPr>
                    <a:solidFill>
                      <a:srgbClr val="FFFFFF"/>
                    </a:solidFill>
                  </a:tcPr>
                </a:tc>
                <a:extLst>
                  <a:ext uri="{0D108BD9-81ED-4DB2-BD59-A6C34878D82A}">
                    <a16:rowId xmlns:a16="http://schemas.microsoft.com/office/drawing/2014/main" val="10005"/>
                  </a:ext>
                </a:extLst>
              </a:tr>
              <a:tr h="533400">
                <a:tc>
                  <a:txBody>
                    <a:bodyPr/>
                    <a:lstStyle/>
                    <a:p>
                      <a:r>
                        <a:rPr sz="1725" b="0">
                          <a:solidFill>
                            <a:srgbClr val="182C3B"/>
                          </a:solidFill>
                          <a:latin typeface="DejaVu Sans"/>
                          <a:ea typeface="DejaVu Sans"/>
                          <a:cs typeface="DejaVu Sans"/>
                        </a:rPr>
                        <a:t>max_locks_per_transaction</a:t>
                      </a:r>
                    </a:p>
                  </a:txBody>
                  <a:tcPr>
                    <a:solidFill>
                      <a:srgbClr val="EDF3F6"/>
                    </a:solidFill>
                  </a:tcPr>
                </a:tc>
                <a:tc>
                  <a:txBody>
                    <a:bodyPr/>
                    <a:lstStyle/>
                    <a:p>
                      <a:r>
                        <a:rPr sz="1725" b="0">
                          <a:solidFill>
                            <a:srgbClr val="182C3B"/>
                          </a:solidFill>
                          <a:latin typeface="DejaVu Sans"/>
                          <a:ea typeface="DejaVu Sans"/>
                          <a:cs typeface="DejaVu Sans"/>
                        </a:rPr>
                        <a:t>Pojemność tablicy blokad, nie limit wierszy</a:t>
                      </a:r>
                    </a:p>
                  </a:txBody>
                  <a:tcPr>
                    <a:solidFill>
                      <a:srgbClr val="EDF3F6"/>
                    </a:solidFill>
                  </a:tcPr>
                </a:tc>
                <a:extLst>
                  <a:ext uri="{0D108BD9-81ED-4DB2-BD59-A6C34878D82A}">
                    <a16:rowId xmlns:a16="http://schemas.microsoft.com/office/drawing/2014/main" val="10006"/>
                  </a:ext>
                </a:extLst>
              </a:tr>
            </a:tbl>
          </a:graphicData>
        </a:graphic>
      </p:graphicFrame>
      <p:sp>
        <p:nvSpPr>
          <p:cNvPr id="4" name="Prostokąt 3">
            <a:extLst>
              <a:ext uri="{FF2B5EF4-FFF2-40B4-BE49-F238E27FC236}">
                <a16:creationId xmlns:a16="http://schemas.microsoft.com/office/drawing/2014/main" id="{0000001A-0003-4000-8000-000000000000}"/>
              </a:ext>
            </a:extLst>
          </p:cNvPr>
          <p:cNvSpPr>
            <a:spLocks noGrp="1"/>
          </p:cNvSpPr>
          <p:nvPr/>
        </p:nvSpPr>
        <p:spPr>
          <a:xfrm>
            <a:off x="609600" y="5591175"/>
            <a:ext cx="10972800" cy="6953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Wartości sprawdzaj przez SHOW na używanej wersji. lock_timeout ustawiaj dla sesji migracji.</a:t>
            </a:r>
          </a:p>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Materiał źródłowy nie potwierdza zmiany domyślnego log_lock_waits w PostgreSQL 18.</a:t>
            </a:r>
          </a:p>
        </p:txBody>
      </p:sp>
    </p:spTree>
    <p:extLst>
      <p:ext uri="{BB962C8B-B14F-4D97-AF65-F5344CB8AC3E}">
        <p14:creationId xmlns:p14="http://schemas.microsoft.com/office/powerpoint/2010/main" val="26000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Prostokąt 14">
            <a:extLst>
              <a:ext uri="{FF2B5EF4-FFF2-40B4-BE49-F238E27FC236}">
                <a16:creationId xmlns:a16="http://schemas.microsoft.com/office/drawing/2014/main" id="{0000001B-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27</a:t>
            </a:r>
          </a:p>
        </p:txBody>
      </p:sp>
      <p:sp>
        <p:nvSpPr>
          <p:cNvPr id="2" name="Prostokąt 1">
            <a:extLst>
              <a:ext uri="{FF2B5EF4-FFF2-40B4-BE49-F238E27FC236}">
                <a16:creationId xmlns:a16="http://schemas.microsoft.com/office/drawing/2014/main" id="{0000001B-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Praktyka ograniczania blokad</a:t>
            </a:r>
          </a:p>
        </p:txBody>
      </p:sp>
      <p:sp>
        <p:nvSpPr>
          <p:cNvPr id="3" name="Prostokąt 2">
            <a:extLst>
              <a:ext uri="{FF2B5EF4-FFF2-40B4-BE49-F238E27FC236}">
                <a16:creationId xmlns:a16="http://schemas.microsoft.com/office/drawing/2014/main" id="{0000001B-0003-4000-8000-000000000000}"/>
              </a:ext>
            </a:extLst>
          </p:cNvPr>
          <p:cNvSpPr>
            <a:spLocks noGrp="1"/>
          </p:cNvSpPr>
          <p:nvPr/>
        </p:nvSpPr>
        <p:spPr>
          <a:xfrm>
            <a:off x="609600" y="1685925"/>
            <a:ext cx="790575" cy="619125"/>
          </a:xfrm>
          <a:prstGeom prst="rect">
            <a:avLst/>
          </a:prstGeom>
          <a:noFill/>
          <a:ln w="0">
            <a:noFill/>
          </a:ln>
        </p:spPr>
        <p:txBody>
          <a:bodyPr>
            <a:noAutofit/>
          </a:bodyPr>
          <a:lstStyle/>
          <a:p>
            <a:pPr>
              <a:defRPr sz="3225" b="0">
                <a:solidFill>
                  <a:srgbClr val="176A88"/>
                </a:solidFill>
                <a:latin typeface="DejaVu Sans"/>
                <a:ea typeface="DejaVu Sans"/>
                <a:cs typeface="DejaVu Sans"/>
              </a:defRPr>
            </a:pPr>
            <a:r>
              <a:rPr sz="3225" b="0">
                <a:solidFill>
                  <a:srgbClr val="176A88"/>
                </a:solidFill>
                <a:latin typeface="DejaVu Sans"/>
                <a:ea typeface="DejaVu Sans"/>
                <a:cs typeface="DejaVu Sans"/>
              </a:rPr>
              <a:t>01</a:t>
            </a:r>
          </a:p>
        </p:txBody>
      </p:sp>
      <p:sp>
        <p:nvSpPr>
          <p:cNvPr id="4" name="Prostokąt 3">
            <a:extLst>
              <a:ext uri="{FF2B5EF4-FFF2-40B4-BE49-F238E27FC236}">
                <a16:creationId xmlns:a16="http://schemas.microsoft.com/office/drawing/2014/main" id="{0000001B-0004-4000-8000-000000000000}"/>
              </a:ext>
            </a:extLst>
          </p:cNvPr>
          <p:cNvSpPr>
            <a:spLocks noGrp="1"/>
          </p:cNvSpPr>
          <p:nvPr/>
        </p:nvSpPr>
        <p:spPr>
          <a:xfrm>
            <a:off x="1647825" y="1685925"/>
            <a:ext cx="9525000" cy="381000"/>
          </a:xfrm>
          <a:prstGeom prst="rect">
            <a:avLst/>
          </a:prstGeom>
          <a:noFill/>
          <a:ln w="0">
            <a:noFill/>
          </a:ln>
        </p:spPr>
        <p:txBody>
          <a:bodyPr>
            <a:noAutofit/>
          </a:bodyPr>
          <a:lstStyle/>
          <a:p>
            <a:pPr>
              <a:defRPr sz="2175" b="1">
                <a:solidFill>
                  <a:srgbClr val="182C3B"/>
                </a:solidFill>
                <a:latin typeface="DejaVu Sans"/>
                <a:ea typeface="DejaVu Sans"/>
                <a:cs typeface="DejaVu Sans"/>
              </a:defRPr>
            </a:pPr>
            <a:r>
              <a:rPr sz="2175" b="1">
                <a:solidFill>
                  <a:srgbClr val="182C3B"/>
                </a:solidFill>
                <a:latin typeface="DejaVu Sans"/>
                <a:ea typeface="DejaVu Sans"/>
                <a:cs typeface="DejaVu Sans"/>
              </a:rPr>
              <a:t>Krótkie transakcje</a:t>
            </a:r>
          </a:p>
        </p:txBody>
      </p:sp>
      <p:sp>
        <p:nvSpPr>
          <p:cNvPr id="5" name="Prostokąt 4">
            <a:extLst>
              <a:ext uri="{FF2B5EF4-FFF2-40B4-BE49-F238E27FC236}">
                <a16:creationId xmlns:a16="http://schemas.microsoft.com/office/drawing/2014/main" id="{0000001B-0005-4000-8000-000000000000}"/>
              </a:ext>
            </a:extLst>
          </p:cNvPr>
          <p:cNvSpPr>
            <a:spLocks noGrp="1"/>
          </p:cNvSpPr>
          <p:nvPr/>
        </p:nvSpPr>
        <p:spPr>
          <a:xfrm>
            <a:off x="1647825" y="2095500"/>
            <a:ext cx="9715500" cy="514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Bez oczekiwania na użytkownika między BEGIN a COMMIT.</a:t>
            </a:r>
          </a:p>
        </p:txBody>
      </p:sp>
      <p:sp>
        <p:nvSpPr>
          <p:cNvPr id="6" name="Prostokąt 5">
            <a:extLst>
              <a:ext uri="{FF2B5EF4-FFF2-40B4-BE49-F238E27FC236}">
                <a16:creationId xmlns:a16="http://schemas.microsoft.com/office/drawing/2014/main" id="{0000001B-0006-4000-8000-000000000000}"/>
              </a:ext>
            </a:extLst>
          </p:cNvPr>
          <p:cNvSpPr>
            <a:spLocks noGrp="1"/>
          </p:cNvSpPr>
          <p:nvPr/>
        </p:nvSpPr>
        <p:spPr>
          <a:xfrm>
            <a:off x="609600" y="2686050"/>
            <a:ext cx="790575" cy="619125"/>
          </a:xfrm>
          <a:prstGeom prst="rect">
            <a:avLst/>
          </a:prstGeom>
          <a:noFill/>
          <a:ln w="0">
            <a:noFill/>
          </a:ln>
        </p:spPr>
        <p:txBody>
          <a:bodyPr>
            <a:noAutofit/>
          </a:bodyPr>
          <a:lstStyle/>
          <a:p>
            <a:pPr>
              <a:defRPr sz="3225" b="0">
                <a:solidFill>
                  <a:srgbClr val="176A88"/>
                </a:solidFill>
                <a:latin typeface="DejaVu Sans"/>
                <a:ea typeface="DejaVu Sans"/>
                <a:cs typeface="DejaVu Sans"/>
              </a:defRPr>
            </a:pPr>
            <a:r>
              <a:rPr sz="3225" b="0">
                <a:solidFill>
                  <a:srgbClr val="176A88"/>
                </a:solidFill>
                <a:latin typeface="DejaVu Sans"/>
                <a:ea typeface="DejaVu Sans"/>
                <a:cs typeface="DejaVu Sans"/>
              </a:rPr>
              <a:t>02</a:t>
            </a:r>
          </a:p>
        </p:txBody>
      </p:sp>
      <p:sp>
        <p:nvSpPr>
          <p:cNvPr id="7" name="Prostokąt 6">
            <a:extLst>
              <a:ext uri="{FF2B5EF4-FFF2-40B4-BE49-F238E27FC236}">
                <a16:creationId xmlns:a16="http://schemas.microsoft.com/office/drawing/2014/main" id="{0000001B-0007-4000-8000-000000000000}"/>
              </a:ext>
            </a:extLst>
          </p:cNvPr>
          <p:cNvSpPr>
            <a:spLocks noGrp="1"/>
          </p:cNvSpPr>
          <p:nvPr/>
        </p:nvSpPr>
        <p:spPr>
          <a:xfrm>
            <a:off x="1647825" y="2686050"/>
            <a:ext cx="9525000" cy="381000"/>
          </a:xfrm>
          <a:prstGeom prst="rect">
            <a:avLst/>
          </a:prstGeom>
          <a:noFill/>
          <a:ln w="0">
            <a:noFill/>
          </a:ln>
        </p:spPr>
        <p:txBody>
          <a:bodyPr>
            <a:noAutofit/>
          </a:bodyPr>
          <a:lstStyle/>
          <a:p>
            <a:pPr>
              <a:defRPr sz="2175" b="1">
                <a:solidFill>
                  <a:srgbClr val="182C3B"/>
                </a:solidFill>
                <a:latin typeface="DejaVu Sans"/>
                <a:ea typeface="DejaVu Sans"/>
                <a:cs typeface="DejaVu Sans"/>
              </a:defRPr>
            </a:pPr>
            <a:r>
              <a:rPr sz="2175" b="1">
                <a:solidFill>
                  <a:srgbClr val="182C3B"/>
                </a:solidFill>
                <a:latin typeface="DejaVu Sans"/>
                <a:ea typeface="DejaVu Sans"/>
                <a:cs typeface="DejaVu Sans"/>
              </a:rPr>
              <a:t>Stała kolejność zasobów</a:t>
            </a:r>
          </a:p>
        </p:txBody>
      </p:sp>
      <p:sp>
        <p:nvSpPr>
          <p:cNvPr id="8" name="Prostokąt 7">
            <a:extLst>
              <a:ext uri="{FF2B5EF4-FFF2-40B4-BE49-F238E27FC236}">
                <a16:creationId xmlns:a16="http://schemas.microsoft.com/office/drawing/2014/main" id="{0000001B-0008-4000-8000-000000000000}"/>
              </a:ext>
            </a:extLst>
          </p:cNvPr>
          <p:cNvSpPr>
            <a:spLocks noGrp="1"/>
          </p:cNvSpPr>
          <p:nvPr/>
        </p:nvSpPr>
        <p:spPr>
          <a:xfrm>
            <a:off x="1647825" y="3095625"/>
            <a:ext cx="9715500" cy="514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Ten sam porządek blokowania, np. rosnący product_id.</a:t>
            </a:r>
          </a:p>
        </p:txBody>
      </p:sp>
      <p:sp>
        <p:nvSpPr>
          <p:cNvPr id="9" name="Prostokąt 8">
            <a:extLst>
              <a:ext uri="{FF2B5EF4-FFF2-40B4-BE49-F238E27FC236}">
                <a16:creationId xmlns:a16="http://schemas.microsoft.com/office/drawing/2014/main" id="{0000001B-0009-4000-8000-000000000000}"/>
              </a:ext>
            </a:extLst>
          </p:cNvPr>
          <p:cNvSpPr>
            <a:spLocks noGrp="1"/>
          </p:cNvSpPr>
          <p:nvPr/>
        </p:nvSpPr>
        <p:spPr>
          <a:xfrm>
            <a:off x="609600" y="3686175"/>
            <a:ext cx="790575" cy="619125"/>
          </a:xfrm>
          <a:prstGeom prst="rect">
            <a:avLst/>
          </a:prstGeom>
          <a:noFill/>
          <a:ln w="0">
            <a:noFill/>
          </a:ln>
        </p:spPr>
        <p:txBody>
          <a:bodyPr>
            <a:noAutofit/>
          </a:bodyPr>
          <a:lstStyle/>
          <a:p>
            <a:pPr>
              <a:defRPr sz="3225" b="0">
                <a:solidFill>
                  <a:srgbClr val="176A88"/>
                </a:solidFill>
                <a:latin typeface="DejaVu Sans"/>
                <a:ea typeface="DejaVu Sans"/>
                <a:cs typeface="DejaVu Sans"/>
              </a:defRPr>
            </a:pPr>
            <a:r>
              <a:rPr sz="3225" b="0">
                <a:solidFill>
                  <a:srgbClr val="176A88"/>
                </a:solidFill>
                <a:latin typeface="DejaVu Sans"/>
                <a:ea typeface="DejaVu Sans"/>
                <a:cs typeface="DejaVu Sans"/>
              </a:rPr>
              <a:t>03</a:t>
            </a:r>
          </a:p>
        </p:txBody>
      </p:sp>
      <p:sp>
        <p:nvSpPr>
          <p:cNvPr id="10" name="Prostokąt 9">
            <a:extLst>
              <a:ext uri="{FF2B5EF4-FFF2-40B4-BE49-F238E27FC236}">
                <a16:creationId xmlns:a16="http://schemas.microsoft.com/office/drawing/2014/main" id="{0000001B-000A-4000-8000-000000000000}"/>
              </a:ext>
            </a:extLst>
          </p:cNvPr>
          <p:cNvSpPr>
            <a:spLocks noGrp="1"/>
          </p:cNvSpPr>
          <p:nvPr/>
        </p:nvSpPr>
        <p:spPr>
          <a:xfrm>
            <a:off x="1647825" y="3686175"/>
            <a:ext cx="9525000" cy="381000"/>
          </a:xfrm>
          <a:prstGeom prst="rect">
            <a:avLst/>
          </a:prstGeom>
          <a:noFill/>
          <a:ln w="0">
            <a:noFill/>
          </a:ln>
        </p:spPr>
        <p:txBody>
          <a:bodyPr>
            <a:noAutofit/>
          </a:bodyPr>
          <a:lstStyle/>
          <a:p>
            <a:pPr>
              <a:defRPr sz="2175" b="1">
                <a:solidFill>
                  <a:srgbClr val="182C3B"/>
                </a:solidFill>
                <a:latin typeface="DejaVu Sans"/>
                <a:ea typeface="DejaVu Sans"/>
                <a:cs typeface="DejaVu Sans"/>
              </a:defRPr>
            </a:pPr>
            <a:r>
              <a:rPr sz="2175" b="1">
                <a:solidFill>
                  <a:srgbClr val="182C3B"/>
                </a:solidFill>
                <a:latin typeface="DejaVu Sans"/>
                <a:ea typeface="DejaVu Sans"/>
                <a:cs typeface="DejaVu Sans"/>
              </a:rPr>
              <a:t>Kontrolowane migracje</a:t>
            </a:r>
          </a:p>
        </p:txBody>
      </p:sp>
      <p:sp>
        <p:nvSpPr>
          <p:cNvPr id="11" name="Prostokąt 10">
            <a:extLst>
              <a:ext uri="{FF2B5EF4-FFF2-40B4-BE49-F238E27FC236}">
                <a16:creationId xmlns:a16="http://schemas.microsoft.com/office/drawing/2014/main" id="{0000001B-000B-4000-8000-000000000000}"/>
              </a:ext>
            </a:extLst>
          </p:cNvPr>
          <p:cNvSpPr>
            <a:spLocks noGrp="1"/>
          </p:cNvSpPr>
          <p:nvPr/>
        </p:nvSpPr>
        <p:spPr>
          <a:xfrm>
            <a:off x="1647825" y="4095750"/>
            <a:ext cx="9715500" cy="514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Dobór trybu, lock_timeout i świadome użycie CONCURRENTLY.</a:t>
            </a:r>
          </a:p>
        </p:txBody>
      </p:sp>
      <p:sp>
        <p:nvSpPr>
          <p:cNvPr id="12" name="Prostokąt 11">
            <a:extLst>
              <a:ext uri="{FF2B5EF4-FFF2-40B4-BE49-F238E27FC236}">
                <a16:creationId xmlns:a16="http://schemas.microsoft.com/office/drawing/2014/main" id="{0000001B-000C-4000-8000-000000000000}"/>
              </a:ext>
            </a:extLst>
          </p:cNvPr>
          <p:cNvSpPr>
            <a:spLocks noGrp="1"/>
          </p:cNvSpPr>
          <p:nvPr/>
        </p:nvSpPr>
        <p:spPr>
          <a:xfrm>
            <a:off x="609600" y="4686300"/>
            <a:ext cx="790575" cy="619125"/>
          </a:xfrm>
          <a:prstGeom prst="rect">
            <a:avLst/>
          </a:prstGeom>
          <a:noFill/>
          <a:ln w="0">
            <a:noFill/>
          </a:ln>
        </p:spPr>
        <p:txBody>
          <a:bodyPr>
            <a:noAutofit/>
          </a:bodyPr>
          <a:lstStyle/>
          <a:p>
            <a:pPr>
              <a:defRPr sz="3225" b="0">
                <a:solidFill>
                  <a:srgbClr val="176A88"/>
                </a:solidFill>
                <a:latin typeface="DejaVu Sans"/>
                <a:ea typeface="DejaVu Sans"/>
                <a:cs typeface="DejaVu Sans"/>
              </a:defRPr>
            </a:pPr>
            <a:r>
              <a:rPr sz="3225" b="0">
                <a:solidFill>
                  <a:srgbClr val="176A88"/>
                </a:solidFill>
                <a:latin typeface="DejaVu Sans"/>
                <a:ea typeface="DejaVu Sans"/>
                <a:cs typeface="DejaVu Sans"/>
              </a:rPr>
              <a:t>04</a:t>
            </a:r>
          </a:p>
        </p:txBody>
      </p:sp>
      <p:sp>
        <p:nvSpPr>
          <p:cNvPr id="13" name="Prostokąt 12">
            <a:extLst>
              <a:ext uri="{FF2B5EF4-FFF2-40B4-BE49-F238E27FC236}">
                <a16:creationId xmlns:a16="http://schemas.microsoft.com/office/drawing/2014/main" id="{0000001B-000D-4000-8000-000000000000}"/>
              </a:ext>
            </a:extLst>
          </p:cNvPr>
          <p:cNvSpPr>
            <a:spLocks noGrp="1"/>
          </p:cNvSpPr>
          <p:nvPr/>
        </p:nvSpPr>
        <p:spPr>
          <a:xfrm>
            <a:off x="1647825" y="4686300"/>
            <a:ext cx="9525000" cy="381000"/>
          </a:xfrm>
          <a:prstGeom prst="rect">
            <a:avLst/>
          </a:prstGeom>
          <a:noFill/>
          <a:ln w="0">
            <a:noFill/>
          </a:ln>
        </p:spPr>
        <p:txBody>
          <a:bodyPr>
            <a:noAutofit/>
          </a:bodyPr>
          <a:lstStyle/>
          <a:p>
            <a:pPr>
              <a:defRPr sz="2175" b="1">
                <a:solidFill>
                  <a:srgbClr val="182C3B"/>
                </a:solidFill>
                <a:latin typeface="DejaVu Sans"/>
                <a:ea typeface="DejaVu Sans"/>
                <a:cs typeface="DejaVu Sans"/>
              </a:defRPr>
            </a:pPr>
            <a:r>
              <a:rPr sz="2175" b="1">
                <a:solidFill>
                  <a:srgbClr val="182C3B"/>
                </a:solidFill>
                <a:latin typeface="DejaVu Sans"/>
                <a:ea typeface="DejaVu Sans"/>
                <a:cs typeface="DejaVu Sans"/>
              </a:rPr>
              <a:t>Obsługa ponowień</a:t>
            </a:r>
          </a:p>
        </p:txBody>
      </p:sp>
      <p:sp>
        <p:nvSpPr>
          <p:cNvPr id="14" name="Prostokąt 13">
            <a:extLst>
              <a:ext uri="{FF2B5EF4-FFF2-40B4-BE49-F238E27FC236}">
                <a16:creationId xmlns:a16="http://schemas.microsoft.com/office/drawing/2014/main" id="{0000001B-000E-4000-8000-000000000000}"/>
              </a:ext>
            </a:extLst>
          </p:cNvPr>
          <p:cNvSpPr>
            <a:spLocks noGrp="1"/>
          </p:cNvSpPr>
          <p:nvPr/>
        </p:nvSpPr>
        <p:spPr>
          <a:xfrm>
            <a:off x="1647825" y="5095875"/>
            <a:ext cx="9715500" cy="514350"/>
          </a:xfrm>
          <a:prstGeom prst="rect">
            <a:avLst/>
          </a:prstGeom>
          <a:noFill/>
          <a:ln w="0">
            <a:noFill/>
          </a:ln>
        </p:spPr>
        <p:txBody>
          <a:bodyPr>
            <a:noAutofit/>
          </a:bodyPr>
          <a:lstStyle/>
          <a:p>
            <a:pPr>
              <a:defRPr sz="1875" b="0">
                <a:solidFill>
                  <a:srgbClr val="526675"/>
                </a:solidFill>
                <a:latin typeface="DejaVu Sans"/>
                <a:ea typeface="DejaVu Sans"/>
                <a:cs typeface="DejaVu Sans"/>
              </a:defRPr>
            </a:pPr>
            <a:r>
              <a:rPr sz="1875" b="0">
                <a:solidFill>
                  <a:srgbClr val="526675"/>
                </a:solidFill>
                <a:latin typeface="DejaVu Sans"/>
                <a:ea typeface="DejaVu Sans"/>
                <a:cs typeface="DejaVu Sans"/>
              </a:rPr>
              <a:t>Deadlock i konflikt serializacji wymagają retry całej transakcji.</a:t>
            </a:r>
          </a:p>
        </p:txBody>
      </p:sp>
    </p:spTree>
    <p:extLst>
      <p:ext uri="{BB962C8B-B14F-4D97-AF65-F5344CB8AC3E}">
        <p14:creationId xmlns:p14="http://schemas.microsoft.com/office/powerpoint/2010/main" val="2700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Prostokąt 13">
            <a:extLst>
              <a:ext uri="{FF2B5EF4-FFF2-40B4-BE49-F238E27FC236}">
                <a16:creationId xmlns:a16="http://schemas.microsoft.com/office/drawing/2014/main" id="{0000001C-0001-4000-8000-000000000000}"/>
              </a:ext>
            </a:extLst>
          </p:cNvPr>
          <p:cNvSpPr>
            <a:spLocks noGrp="1"/>
          </p:cNvSpPr>
          <p:nvPr/>
        </p:nvSpPr>
        <p:spPr>
          <a:xfrm>
            <a:off x="11010900" y="6334125"/>
            <a:ext cx="571500" cy="238125"/>
          </a:xfrm>
          <a:prstGeom prst="rect">
            <a:avLst/>
          </a:prstGeom>
          <a:noFill/>
          <a:ln w="0">
            <a:noFill/>
          </a:ln>
        </p:spPr>
        <p:txBody>
          <a:bodyPr>
            <a:noAutofit/>
          </a:bodyPr>
          <a:lstStyle/>
          <a:p>
            <a:pPr>
              <a:defRPr sz="1275" b="0">
                <a:solidFill>
                  <a:srgbClr val="526675"/>
                </a:solidFill>
                <a:latin typeface="DejaVu Sans"/>
                <a:ea typeface="DejaVu Sans"/>
                <a:cs typeface="DejaVu Sans"/>
              </a:defRPr>
            </a:pPr>
            <a:r>
              <a:rPr sz="1275" b="0">
                <a:solidFill>
                  <a:srgbClr val="526675"/>
                </a:solidFill>
                <a:latin typeface="DejaVu Sans"/>
                <a:ea typeface="DejaVu Sans"/>
                <a:cs typeface="DejaVu Sans"/>
              </a:rPr>
              <a:t>28</a:t>
            </a:r>
          </a:p>
        </p:txBody>
      </p:sp>
      <p:sp>
        <p:nvSpPr>
          <p:cNvPr id="2" name="Prostokąt 1">
            <a:extLst>
              <a:ext uri="{FF2B5EF4-FFF2-40B4-BE49-F238E27FC236}">
                <a16:creationId xmlns:a16="http://schemas.microsoft.com/office/drawing/2014/main" id="{0000001C-0002-4000-8000-000000000000}"/>
              </a:ext>
            </a:extLst>
          </p:cNvPr>
          <p:cNvSpPr>
            <a:spLocks noGrp="1"/>
          </p:cNvSpPr>
          <p:nvPr/>
        </p:nvSpPr>
        <p:spPr>
          <a:xfrm>
            <a:off x="609600" y="457200"/>
            <a:ext cx="10972800" cy="952500"/>
          </a:xfrm>
          <a:prstGeom prst="rect">
            <a:avLst/>
          </a:prstGeom>
          <a:noFill/>
          <a:ln w="0">
            <a:noFill/>
          </a:ln>
        </p:spPr>
        <p:txBody>
          <a:bodyPr>
            <a:noAutofit/>
          </a:bodyPr>
          <a:lstStyle/>
          <a:p>
            <a:pPr>
              <a:defRPr sz="3450" b="1">
                <a:solidFill>
                  <a:srgbClr val="182C3B"/>
                </a:solidFill>
                <a:latin typeface="DejaVu Sans"/>
                <a:ea typeface="DejaVu Sans"/>
                <a:cs typeface="DejaVu Sans"/>
              </a:defRPr>
            </a:pPr>
            <a:r>
              <a:rPr sz="3450" b="1">
                <a:solidFill>
                  <a:srgbClr val="182C3B"/>
                </a:solidFill>
                <a:latin typeface="DejaVu Sans"/>
                <a:ea typeface="DejaVu Sans"/>
                <a:cs typeface="DejaVu Sans"/>
              </a:rPr>
              <a:t>Pytania kontrolne</a:t>
            </a:r>
          </a:p>
        </p:txBody>
      </p:sp>
      <p:sp>
        <p:nvSpPr>
          <p:cNvPr id="3" name="Prostokąt 2">
            <a:extLst>
              <a:ext uri="{FF2B5EF4-FFF2-40B4-BE49-F238E27FC236}">
                <a16:creationId xmlns:a16="http://schemas.microsoft.com/office/drawing/2014/main" id="{0000001C-0003-4000-8000-000000000000}"/>
              </a:ext>
            </a:extLst>
          </p:cNvPr>
          <p:cNvSpPr>
            <a:spLocks noGrp="1"/>
          </p:cNvSpPr>
          <p:nvPr/>
        </p:nvSpPr>
        <p:spPr>
          <a:xfrm>
            <a:off x="609600" y="5638800"/>
            <a:ext cx="10972800" cy="619125"/>
          </a:xfrm>
          <a:prstGeom prst="rect">
            <a:avLst/>
          </a:prstGeom>
          <a:noFill/>
          <a:ln w="0">
            <a:noFill/>
          </a:ln>
        </p:spPr>
        <p:txBody>
          <a:bodyPr>
            <a:noAutofit/>
          </a:bodyPr>
          <a:lstStyle/>
          <a:p>
            <a:pPr>
              <a:defRPr sz="1575" b="0">
                <a:solidFill>
                  <a:srgbClr val="526675"/>
                </a:solidFill>
                <a:latin typeface="DejaVu Sans"/>
                <a:ea typeface="DejaVu Sans"/>
                <a:cs typeface="DejaVu Sans"/>
              </a:defRPr>
            </a:pPr>
            <a:r>
              <a:rPr sz="1575" b="0">
                <a:solidFill>
                  <a:srgbClr val="526675"/>
                </a:solidFill>
                <a:latin typeface="DejaVu Sans"/>
                <a:ea typeface="DejaVu Sans"/>
                <a:cs typeface="DejaVu Sans"/>
              </a:rPr>
              <a:t>Odpowiedzi i odsyłacze do dokumentacji PostgreSQL 18 znajdują się w notatkach prelegenta.</a:t>
            </a:r>
          </a:p>
        </p:txBody>
      </p:sp>
      <p:sp>
        <p:nvSpPr>
          <p:cNvPr id="4" name="Prostokąt 3">
            <a:extLst>
              <a:ext uri="{FF2B5EF4-FFF2-40B4-BE49-F238E27FC236}">
                <a16:creationId xmlns:a16="http://schemas.microsoft.com/office/drawing/2014/main" id="{0000001C-0004-4000-8000-000000000000}"/>
              </a:ext>
            </a:extLst>
          </p:cNvPr>
          <p:cNvSpPr>
            <a:spLocks noGrp="1"/>
          </p:cNvSpPr>
          <p:nvPr/>
        </p:nvSpPr>
        <p:spPr>
          <a:xfrm>
            <a:off x="609600" y="1695450"/>
            <a:ext cx="666750" cy="495300"/>
          </a:xfrm>
          <a:prstGeom prst="rect">
            <a:avLst/>
          </a:prstGeom>
          <a:noFill/>
          <a:ln w="0">
            <a:noFill/>
          </a:ln>
        </p:spPr>
        <p:txBody>
          <a:bodyPr>
            <a:noAutofit/>
          </a:bodyPr>
          <a:lstStyle/>
          <a:p>
            <a:pPr>
              <a:defRPr sz="2250" b="0">
                <a:solidFill>
                  <a:srgbClr val="176A88"/>
                </a:solidFill>
                <a:latin typeface="DejaVu Sans"/>
                <a:ea typeface="DejaVu Sans"/>
                <a:cs typeface="DejaVu Sans"/>
              </a:defRPr>
            </a:pPr>
            <a:r>
              <a:rPr sz="2250" b="0">
                <a:solidFill>
                  <a:srgbClr val="176A88"/>
                </a:solidFill>
                <a:latin typeface="DejaVu Sans"/>
                <a:ea typeface="DejaVu Sans"/>
                <a:cs typeface="DejaVu Sans"/>
              </a:rPr>
              <a:t>01</a:t>
            </a:r>
          </a:p>
        </p:txBody>
      </p:sp>
      <p:sp>
        <p:nvSpPr>
          <p:cNvPr id="5" name="Prostokąt 4">
            <a:extLst>
              <a:ext uri="{FF2B5EF4-FFF2-40B4-BE49-F238E27FC236}">
                <a16:creationId xmlns:a16="http://schemas.microsoft.com/office/drawing/2014/main" id="{0000001C-0005-4000-8000-000000000000}"/>
              </a:ext>
            </a:extLst>
          </p:cNvPr>
          <p:cNvSpPr>
            <a:spLocks noGrp="1"/>
          </p:cNvSpPr>
          <p:nvPr/>
        </p:nvSpPr>
        <p:spPr>
          <a:xfrm>
            <a:off x="1447800" y="1704975"/>
            <a:ext cx="10096500" cy="590550"/>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Dlaczego CREATE INDEX może zatrzymać INSERT?</a:t>
            </a:r>
          </a:p>
        </p:txBody>
      </p:sp>
      <p:sp>
        <p:nvSpPr>
          <p:cNvPr id="6" name="Prostokąt 5">
            <a:extLst>
              <a:ext uri="{FF2B5EF4-FFF2-40B4-BE49-F238E27FC236}">
                <a16:creationId xmlns:a16="http://schemas.microsoft.com/office/drawing/2014/main" id="{0000001C-0006-4000-8000-000000000000}"/>
              </a:ext>
            </a:extLst>
          </p:cNvPr>
          <p:cNvSpPr>
            <a:spLocks noGrp="1"/>
          </p:cNvSpPr>
          <p:nvPr/>
        </p:nvSpPr>
        <p:spPr>
          <a:xfrm>
            <a:off x="609600" y="2419350"/>
            <a:ext cx="666750" cy="495300"/>
          </a:xfrm>
          <a:prstGeom prst="rect">
            <a:avLst/>
          </a:prstGeom>
          <a:noFill/>
          <a:ln w="0">
            <a:noFill/>
          </a:ln>
        </p:spPr>
        <p:txBody>
          <a:bodyPr>
            <a:noAutofit/>
          </a:bodyPr>
          <a:lstStyle/>
          <a:p>
            <a:pPr>
              <a:defRPr sz="2250" b="0">
                <a:solidFill>
                  <a:srgbClr val="176A88"/>
                </a:solidFill>
                <a:latin typeface="DejaVu Sans"/>
                <a:ea typeface="DejaVu Sans"/>
                <a:cs typeface="DejaVu Sans"/>
              </a:defRPr>
            </a:pPr>
            <a:r>
              <a:rPr sz="2250" b="0">
                <a:solidFill>
                  <a:srgbClr val="176A88"/>
                </a:solidFill>
                <a:latin typeface="DejaVu Sans"/>
                <a:ea typeface="DejaVu Sans"/>
                <a:cs typeface="DejaVu Sans"/>
              </a:rPr>
              <a:t>02</a:t>
            </a:r>
          </a:p>
        </p:txBody>
      </p:sp>
      <p:sp>
        <p:nvSpPr>
          <p:cNvPr id="7" name="Prostokąt 6">
            <a:extLst>
              <a:ext uri="{FF2B5EF4-FFF2-40B4-BE49-F238E27FC236}">
                <a16:creationId xmlns:a16="http://schemas.microsoft.com/office/drawing/2014/main" id="{0000001C-0007-4000-8000-000000000000}"/>
              </a:ext>
            </a:extLst>
          </p:cNvPr>
          <p:cNvSpPr>
            <a:spLocks noGrp="1"/>
          </p:cNvSpPr>
          <p:nvPr/>
        </p:nvSpPr>
        <p:spPr>
          <a:xfrm>
            <a:off x="1447800" y="2428875"/>
            <a:ext cx="10096500" cy="590550"/>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Jak SELECT może pośrednio zatrzymać kolejne odczyty?</a:t>
            </a:r>
          </a:p>
        </p:txBody>
      </p:sp>
      <p:sp>
        <p:nvSpPr>
          <p:cNvPr id="8" name="Prostokąt 7">
            <a:extLst>
              <a:ext uri="{FF2B5EF4-FFF2-40B4-BE49-F238E27FC236}">
                <a16:creationId xmlns:a16="http://schemas.microsoft.com/office/drawing/2014/main" id="{0000001C-0008-4000-8000-000000000000}"/>
              </a:ext>
            </a:extLst>
          </p:cNvPr>
          <p:cNvSpPr>
            <a:spLocks noGrp="1"/>
          </p:cNvSpPr>
          <p:nvPr/>
        </p:nvSpPr>
        <p:spPr>
          <a:xfrm>
            <a:off x="609600" y="3143250"/>
            <a:ext cx="666750" cy="495300"/>
          </a:xfrm>
          <a:prstGeom prst="rect">
            <a:avLst/>
          </a:prstGeom>
          <a:noFill/>
          <a:ln w="0">
            <a:noFill/>
          </a:ln>
        </p:spPr>
        <p:txBody>
          <a:bodyPr>
            <a:noAutofit/>
          </a:bodyPr>
          <a:lstStyle/>
          <a:p>
            <a:pPr>
              <a:defRPr sz="2250" b="0">
                <a:solidFill>
                  <a:srgbClr val="176A88"/>
                </a:solidFill>
                <a:latin typeface="DejaVu Sans"/>
                <a:ea typeface="DejaVu Sans"/>
                <a:cs typeface="DejaVu Sans"/>
              </a:defRPr>
            </a:pPr>
            <a:r>
              <a:rPr sz="2250" b="0">
                <a:solidFill>
                  <a:srgbClr val="176A88"/>
                </a:solidFill>
                <a:latin typeface="DejaVu Sans"/>
                <a:ea typeface="DejaVu Sans"/>
                <a:cs typeface="DejaVu Sans"/>
              </a:rPr>
              <a:t>03</a:t>
            </a:r>
          </a:p>
        </p:txBody>
      </p:sp>
      <p:sp>
        <p:nvSpPr>
          <p:cNvPr id="9" name="Prostokąt 8">
            <a:extLst>
              <a:ext uri="{FF2B5EF4-FFF2-40B4-BE49-F238E27FC236}">
                <a16:creationId xmlns:a16="http://schemas.microsoft.com/office/drawing/2014/main" id="{0000001C-0009-4000-8000-000000000000}"/>
              </a:ext>
            </a:extLst>
          </p:cNvPr>
          <p:cNvSpPr>
            <a:spLocks noGrp="1"/>
          </p:cNvSpPr>
          <p:nvPr/>
        </p:nvSpPr>
        <p:spPr>
          <a:xfrm>
            <a:off x="1447800" y="3152775"/>
            <a:ext cx="10096500" cy="590550"/>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Dlaczego zmiana ceny współistnieje ze sprawdzeniem FK?</a:t>
            </a:r>
          </a:p>
        </p:txBody>
      </p:sp>
      <p:sp>
        <p:nvSpPr>
          <p:cNvPr id="10" name="Prostokąt 9">
            <a:extLst>
              <a:ext uri="{FF2B5EF4-FFF2-40B4-BE49-F238E27FC236}">
                <a16:creationId xmlns:a16="http://schemas.microsoft.com/office/drawing/2014/main" id="{0000001C-000A-4000-8000-000000000000}"/>
              </a:ext>
            </a:extLst>
          </p:cNvPr>
          <p:cNvSpPr>
            <a:spLocks noGrp="1"/>
          </p:cNvSpPr>
          <p:nvPr/>
        </p:nvSpPr>
        <p:spPr>
          <a:xfrm>
            <a:off x="609600" y="3867150"/>
            <a:ext cx="666750" cy="495300"/>
          </a:xfrm>
          <a:prstGeom prst="rect">
            <a:avLst/>
          </a:prstGeom>
          <a:noFill/>
          <a:ln w="0">
            <a:noFill/>
          </a:ln>
        </p:spPr>
        <p:txBody>
          <a:bodyPr>
            <a:noAutofit/>
          </a:bodyPr>
          <a:lstStyle/>
          <a:p>
            <a:pPr>
              <a:defRPr sz="2250" b="0">
                <a:solidFill>
                  <a:srgbClr val="176A88"/>
                </a:solidFill>
                <a:latin typeface="DejaVu Sans"/>
                <a:ea typeface="DejaVu Sans"/>
                <a:cs typeface="DejaVu Sans"/>
              </a:defRPr>
            </a:pPr>
            <a:r>
              <a:rPr sz="2250" b="0">
                <a:solidFill>
                  <a:srgbClr val="176A88"/>
                </a:solidFill>
                <a:latin typeface="DejaVu Sans"/>
                <a:ea typeface="DejaVu Sans"/>
                <a:cs typeface="DejaVu Sans"/>
              </a:rPr>
              <a:t>04</a:t>
            </a:r>
          </a:p>
        </p:txBody>
      </p:sp>
      <p:sp>
        <p:nvSpPr>
          <p:cNvPr id="11" name="Prostokąt 10">
            <a:extLst>
              <a:ext uri="{FF2B5EF4-FFF2-40B4-BE49-F238E27FC236}">
                <a16:creationId xmlns:a16="http://schemas.microsoft.com/office/drawing/2014/main" id="{0000001C-000B-4000-8000-000000000000}"/>
              </a:ext>
            </a:extLst>
          </p:cNvPr>
          <p:cNvSpPr>
            <a:spLocks noGrp="1"/>
          </p:cNvSpPr>
          <p:nvPr/>
        </p:nvSpPr>
        <p:spPr>
          <a:xfrm>
            <a:off x="1447800" y="3876675"/>
            <a:ext cx="10096500" cy="590550"/>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Kiedy wybrać NOWAIT, a kiedy SKIP LOCKED?</a:t>
            </a:r>
          </a:p>
        </p:txBody>
      </p:sp>
      <p:sp>
        <p:nvSpPr>
          <p:cNvPr id="12" name="Prostokąt 11">
            <a:extLst>
              <a:ext uri="{FF2B5EF4-FFF2-40B4-BE49-F238E27FC236}">
                <a16:creationId xmlns:a16="http://schemas.microsoft.com/office/drawing/2014/main" id="{0000001C-000C-4000-8000-000000000000}"/>
              </a:ext>
            </a:extLst>
          </p:cNvPr>
          <p:cNvSpPr>
            <a:spLocks noGrp="1"/>
          </p:cNvSpPr>
          <p:nvPr/>
        </p:nvSpPr>
        <p:spPr>
          <a:xfrm>
            <a:off x="609600" y="4591050"/>
            <a:ext cx="666750" cy="495300"/>
          </a:xfrm>
          <a:prstGeom prst="rect">
            <a:avLst/>
          </a:prstGeom>
          <a:noFill/>
          <a:ln w="0">
            <a:noFill/>
          </a:ln>
        </p:spPr>
        <p:txBody>
          <a:bodyPr>
            <a:noAutofit/>
          </a:bodyPr>
          <a:lstStyle/>
          <a:p>
            <a:pPr>
              <a:defRPr sz="2250" b="0">
                <a:solidFill>
                  <a:srgbClr val="176A88"/>
                </a:solidFill>
                <a:latin typeface="DejaVu Sans"/>
                <a:ea typeface="DejaVu Sans"/>
                <a:cs typeface="DejaVu Sans"/>
              </a:defRPr>
            </a:pPr>
            <a:r>
              <a:rPr sz="2250" b="0">
                <a:solidFill>
                  <a:srgbClr val="176A88"/>
                </a:solidFill>
                <a:latin typeface="DejaVu Sans"/>
                <a:ea typeface="DejaVu Sans"/>
                <a:cs typeface="DejaVu Sans"/>
              </a:rPr>
              <a:t>05</a:t>
            </a:r>
          </a:p>
        </p:txBody>
      </p:sp>
      <p:sp>
        <p:nvSpPr>
          <p:cNvPr id="13" name="Prostokąt 12">
            <a:extLst>
              <a:ext uri="{FF2B5EF4-FFF2-40B4-BE49-F238E27FC236}">
                <a16:creationId xmlns:a16="http://schemas.microsoft.com/office/drawing/2014/main" id="{0000001C-000D-4000-8000-000000000000}"/>
              </a:ext>
            </a:extLst>
          </p:cNvPr>
          <p:cNvSpPr>
            <a:spLocks noGrp="1"/>
          </p:cNvSpPr>
          <p:nvPr/>
        </p:nvSpPr>
        <p:spPr>
          <a:xfrm>
            <a:off x="1447800" y="4600575"/>
            <a:ext cx="10096500" cy="590550"/>
          </a:xfrm>
          <a:prstGeom prst="rect">
            <a:avLst/>
          </a:prstGeom>
          <a:noFill/>
          <a:ln w="0">
            <a:noFill/>
          </a:ln>
        </p:spPr>
        <p:txBody>
          <a:bodyPr>
            <a:noAutofit/>
          </a:bodyPr>
          <a:lstStyle/>
          <a:p>
            <a:pPr>
              <a:defRPr sz="2025" b="0">
                <a:solidFill>
                  <a:srgbClr val="182C3B"/>
                </a:solidFill>
                <a:latin typeface="DejaVu Sans"/>
                <a:ea typeface="DejaVu Sans"/>
                <a:cs typeface="DejaVu Sans"/>
              </a:defRPr>
            </a:pPr>
            <a:r>
              <a:rPr sz="2025" b="0">
                <a:solidFill>
                  <a:srgbClr val="182C3B"/>
                </a:solidFill>
                <a:latin typeface="DejaVu Sans"/>
                <a:ea typeface="DejaVu Sans"/>
                <a:cs typeface="DejaVu Sans"/>
              </a:rPr>
              <a:t>Jakie ryzyko ma blokada sesyjna przy poolingu transakcyjnym?</a:t>
            </a:r>
          </a:p>
        </p:txBody>
      </p:sp>
    </p:spTree>
    <p:extLst>
      <p:ext uri="{BB962C8B-B14F-4D97-AF65-F5344CB8AC3E}">
        <p14:creationId xmlns:p14="http://schemas.microsoft.com/office/powerpoint/2010/main" val="28000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9184</Words>
  <Application>Microsoft Office PowerPoint</Application>
  <PresentationFormat>Panoramiczny</PresentationFormat>
  <Paragraphs>917</Paragraphs>
  <Slides>27</Slides>
  <Notes>27</Notes>
  <HiddenSlides>0</HiddenSlides>
  <MMClips>0</MMClips>
  <ScaleCrop>false</ScaleCrop>
  <HeadingPairs>
    <vt:vector size="6" baseType="variant">
      <vt:variant>
        <vt:lpstr>Używane czcionki</vt:lpstr>
      </vt:variant>
      <vt:variant>
        <vt:i4>2</vt:i4>
      </vt:variant>
      <vt:variant>
        <vt:lpstr>Motyw</vt:lpstr>
      </vt:variant>
      <vt:variant>
        <vt:i4>1</vt:i4>
      </vt:variant>
      <vt:variant>
        <vt:lpstr>Tytuły slajdów</vt:lpstr>
      </vt:variant>
      <vt:variant>
        <vt:i4>27</vt:i4>
      </vt:variant>
    </vt:vector>
  </HeadingPairs>
  <TitlesOfParts>
    <vt:vector size="30" baseType="lpstr">
      <vt:lpstr>DejaVu Sans</vt:lpstr>
      <vt:lpstr>DejaVu Sans Mono</vt:lpstr>
      <vt:lpstr>ChatGPT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Przemyslaw Starosta</dc:creator>
  <cp:lastModifiedBy>Przemyslaw Starosta</cp:lastModifiedBy>
  <cp:revision>1</cp:revision>
  <dcterms:created xsi:type="dcterms:W3CDTF">2026-10-07T05:49:10Z</dcterms:created>
  <dcterms:modified xsi:type="dcterms:W3CDTF">2026-10-07T06:32:11Z</dcterms:modified>
</cp:coreProperties>
</file>